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144000" cy="6858000" type="screen4x3"/>
  <p:notesSz cx="9144000" cy="6858000"/>
  <p:embeddedFontLst>
    <p:embeddedFont>
      <p:font typeface="DUIRPG+Arial Rounded MT Bold" panose="020B0604020202020204" charset="0"/>
      <p:regular r:id="rId37"/>
    </p:embeddedFont>
    <p:embeddedFont>
      <p:font typeface="FWHPRA+Vladimir Script" panose="020B0604020202020204" charset="0"/>
      <p:regular r:id="rId38"/>
    </p:embeddedFont>
  </p:embeddedFontLst>
  <p:custDataLst>
    <p:tags r:id="rId39"/>
  </p:custDataLst>
  <p:defaultTextStyle/>
  <p:extLst>
    <p:ext uri="{EFAFB233-063F-42B5-8137-9DF3F51BA10A}">
      <p15:sldGuideLst xmlns:p15="http://schemas.microsoft.com/office/powerpoint/2012/main"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53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gs" Target="tags/tag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"/>
          <p:cNvSpPr/>
          <p:nvPr/>
        </p:nvSpPr>
        <p:spPr>
          <a:xfrm>
            <a:off x="-76872" y="0"/>
            <a:ext cx="9144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312799" y="455744"/>
            <a:ext cx="6715215" cy="4043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83"/>
              </a:lnSpc>
              <a:spcBef>
                <a:spcPct val="0"/>
              </a:spcBef>
              <a:spcAft>
                <a:spcPct val="0"/>
              </a:spcAft>
            </a:pPr>
            <a:r>
              <a:rPr sz="2600" b="1">
                <a:solidFill>
                  <a:srgbClr val="FF0000"/>
                </a:solidFill>
                <a:latin typeface="Times New Roman"/>
                <a:cs typeface="Times New Roman"/>
              </a:rPr>
              <a:t>EAST</a:t>
            </a:r>
            <a:r>
              <a:rPr sz="2600" b="1" spc="-166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>
                <a:solidFill>
                  <a:srgbClr val="FF0000"/>
                </a:solidFill>
                <a:latin typeface="Times New Roman"/>
                <a:cs typeface="Times New Roman"/>
              </a:rPr>
              <a:t>WEST</a:t>
            </a:r>
            <a:r>
              <a:rPr sz="2600" b="1" spc="-84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>
                <a:solidFill>
                  <a:srgbClr val="FF0000"/>
                </a:solidFill>
                <a:latin typeface="Times New Roman"/>
                <a:cs typeface="Times New Roman"/>
              </a:rPr>
              <a:t>COLLEGE</a:t>
            </a:r>
            <a:r>
              <a:rPr sz="2600" b="1" spc="-78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600" b="1" spc="-168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>
                <a:solidFill>
                  <a:srgbClr val="FF0000"/>
                </a:solidFill>
                <a:latin typeface="Times New Roman"/>
                <a:cs typeface="Times New Roman"/>
              </a:rPr>
              <a:t>ENGINEERING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45971" y="843716"/>
            <a:ext cx="6203644" cy="554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75"/>
              </a:lnSpc>
              <a:spcBef>
                <a:spcPct val="0"/>
              </a:spcBef>
              <a:spcAft>
                <a:spcPct val="0"/>
              </a:spcAft>
            </a:pPr>
            <a:r>
              <a:rPr sz="1150" b="1" i="1">
                <a:solidFill>
                  <a:srgbClr val="000000"/>
                </a:solidFill>
                <a:latin typeface="Times New Roman"/>
                <a:cs typeface="Times New Roman"/>
              </a:rPr>
              <a:t>(Affiliated</a:t>
            </a:r>
            <a:r>
              <a:rPr sz="1150" b="1" i="1" spc="18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50" b="1" i="1">
                <a:solidFill>
                  <a:srgbClr val="000000"/>
                </a:solidFill>
                <a:latin typeface="Times New Roman"/>
                <a:cs typeface="Times New Roman"/>
              </a:rPr>
              <a:t>to</a:t>
            </a:r>
            <a:r>
              <a:rPr sz="1150" b="1" i="1" spc="9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50" b="1" i="1">
                <a:solidFill>
                  <a:srgbClr val="000000"/>
                </a:solidFill>
                <a:latin typeface="Times New Roman"/>
                <a:cs typeface="Times New Roman"/>
              </a:rPr>
              <a:t>Visvesvaraya</a:t>
            </a:r>
            <a:r>
              <a:rPr sz="1150" b="1" i="1" spc="10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50" b="1" i="1">
                <a:solidFill>
                  <a:srgbClr val="000000"/>
                </a:solidFill>
                <a:latin typeface="Times New Roman"/>
                <a:cs typeface="Times New Roman"/>
              </a:rPr>
              <a:t>Technological</a:t>
            </a:r>
            <a:r>
              <a:rPr sz="1150" b="1" i="1" spc="9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50" b="1" i="1">
                <a:solidFill>
                  <a:srgbClr val="000000"/>
                </a:solidFill>
                <a:latin typeface="Times New Roman"/>
                <a:cs typeface="Times New Roman"/>
              </a:rPr>
              <a:t>University,</a:t>
            </a:r>
            <a:r>
              <a:rPr sz="1150" b="1" i="1" spc="11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50" b="1" i="1">
                <a:solidFill>
                  <a:srgbClr val="000000"/>
                </a:solidFill>
                <a:latin typeface="Times New Roman"/>
                <a:cs typeface="Times New Roman"/>
              </a:rPr>
              <a:t>Belagavi</a:t>
            </a:r>
            <a:r>
              <a:rPr sz="1150" b="1" i="1" spc="5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50" b="1" i="1">
                <a:solidFill>
                  <a:srgbClr val="000000"/>
                </a:solidFill>
                <a:latin typeface="Times New Roman"/>
                <a:cs typeface="Times New Roman"/>
              </a:rPr>
              <a:t>&amp;</a:t>
            </a:r>
            <a:r>
              <a:rPr sz="1150" b="1" i="1" spc="5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50" b="1" i="1">
                <a:solidFill>
                  <a:srgbClr val="000000"/>
                </a:solidFill>
                <a:latin typeface="Times New Roman"/>
                <a:cs typeface="Times New Roman"/>
              </a:rPr>
              <a:t>Approved</a:t>
            </a:r>
            <a:r>
              <a:rPr sz="1150" b="1" i="1" spc="3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50" b="1" i="1">
                <a:solidFill>
                  <a:srgbClr val="000000"/>
                </a:solidFill>
                <a:latin typeface="Times New Roman"/>
                <a:cs typeface="Times New Roman"/>
              </a:rPr>
              <a:t>by AICTE,</a:t>
            </a:r>
            <a:r>
              <a:rPr sz="1150" b="1" i="1" spc="13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50" b="1" i="1">
                <a:solidFill>
                  <a:srgbClr val="000000"/>
                </a:solidFill>
                <a:latin typeface="Times New Roman"/>
                <a:cs typeface="Times New Roman"/>
              </a:rPr>
              <a:t>New</a:t>
            </a:r>
            <a:r>
              <a:rPr sz="1150" b="1" i="1" spc="15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50" b="1" i="1" spc="-10">
                <a:solidFill>
                  <a:srgbClr val="000000"/>
                </a:solidFill>
                <a:latin typeface="Times New Roman"/>
                <a:cs typeface="Times New Roman"/>
              </a:rPr>
              <a:t>Delhi)</a:t>
            </a:r>
          </a:p>
          <a:p>
            <a:pPr marL="82296" marR="0">
              <a:lnSpc>
                <a:spcPts val="2519"/>
              </a:lnSpc>
              <a:spcBef>
                <a:spcPts val="132"/>
              </a:spcBef>
              <a:spcAft>
                <a:spcPct val="0"/>
              </a:spcAft>
            </a:pPr>
            <a:r>
              <a:rPr sz="2400">
                <a:solidFill>
                  <a:srgbClr val="00AFEF"/>
                </a:solidFill>
                <a:latin typeface="Times New Roman"/>
                <a:cs typeface="Times New Roman"/>
              </a:rPr>
              <a:t>Department</a:t>
            </a:r>
            <a:r>
              <a:rPr sz="2400" spc="-71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>
                <a:solidFill>
                  <a:srgbClr val="00AFEF"/>
                </a:solidFill>
                <a:latin typeface="Times New Roman"/>
                <a:cs typeface="Times New Roman"/>
              </a:rPr>
              <a:t>of Computer</a:t>
            </a:r>
            <a:r>
              <a:rPr sz="2400" spc="-9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>
                <a:solidFill>
                  <a:srgbClr val="00AFEF"/>
                </a:solidFill>
                <a:latin typeface="Times New Roman"/>
                <a:cs typeface="Times New Roman"/>
              </a:rPr>
              <a:t>Science</a:t>
            </a:r>
            <a:r>
              <a:rPr sz="2400" spc="-92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>
                <a:solidFill>
                  <a:srgbClr val="00AFEF"/>
                </a:solidFill>
                <a:latin typeface="Times New Roman"/>
                <a:cs typeface="Times New Roman"/>
              </a:rPr>
              <a:t>&amp;</a:t>
            </a:r>
            <a:r>
              <a:rPr sz="2400" spc="-55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spc="-10">
                <a:solidFill>
                  <a:srgbClr val="00AFEF"/>
                </a:solidFill>
                <a:latin typeface="Times New Roman"/>
                <a:cs typeface="Times New Roman"/>
              </a:rPr>
              <a:t>Engineering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987419" y="1565035"/>
            <a:ext cx="1193604" cy="8471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35"/>
              </a:lnSpc>
              <a:spcBef>
                <a:spcPct val="0"/>
              </a:spcBef>
              <a:spcAft>
                <a:spcPct val="0"/>
              </a:spcAft>
            </a:pPr>
            <a:r>
              <a:rPr sz="1300" b="1" spc="-23">
                <a:solidFill>
                  <a:srgbClr val="000000"/>
                </a:solidFill>
                <a:latin typeface="Times New Roman"/>
                <a:cs typeface="Times New Roman"/>
              </a:rPr>
              <a:t>Project</a:t>
            </a:r>
            <a:r>
              <a:rPr sz="1300" b="1" spc="2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300" b="1" spc="-13">
                <a:solidFill>
                  <a:srgbClr val="000000"/>
                </a:solidFill>
                <a:latin typeface="Times New Roman"/>
                <a:cs typeface="Times New Roman"/>
              </a:rPr>
              <a:t>Review</a:t>
            </a:r>
          </a:p>
          <a:p>
            <a:pPr marL="87121" marR="0">
              <a:lnSpc>
                <a:spcPts val="1437"/>
              </a:lnSpc>
              <a:spcBef>
                <a:spcPts val="1084"/>
              </a:spcBef>
              <a:spcAft>
                <a:spcPct val="0"/>
              </a:spcAft>
            </a:pPr>
            <a:r>
              <a:rPr sz="1300" b="1" spc="-14">
                <a:solidFill>
                  <a:srgbClr val="000000"/>
                </a:solidFill>
                <a:latin typeface="Times New Roman"/>
                <a:cs typeface="Times New Roman"/>
              </a:rPr>
              <a:t>Presentation</a:t>
            </a:r>
          </a:p>
          <a:p>
            <a:pPr marL="437641" marR="0">
              <a:lnSpc>
                <a:spcPts val="1435"/>
              </a:lnSpc>
              <a:spcBef>
                <a:spcPts val="1077"/>
              </a:spcBef>
              <a:spcAft>
                <a:spcPct val="0"/>
              </a:spcAft>
            </a:pPr>
            <a:r>
              <a:rPr sz="1300" b="1" spc="-26">
                <a:solidFill>
                  <a:srgbClr val="000000"/>
                </a:solidFill>
                <a:latin typeface="Times New Roman"/>
                <a:cs typeface="Times New Roman"/>
              </a:rPr>
              <a:t>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696466" y="2468556"/>
            <a:ext cx="5870951" cy="1339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47725" marR="0">
              <a:lnSpc>
                <a:spcPts val="3096"/>
              </a:lnSpc>
              <a:spcBef>
                <a:spcPct val="0"/>
              </a:spcBef>
              <a:spcAft>
                <a:spcPct val="0"/>
              </a:spcAft>
            </a:pP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Image</a:t>
            </a:r>
            <a:r>
              <a:rPr sz="2800" b="1" spc="-72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Classification</a:t>
            </a:r>
            <a:r>
              <a:rPr sz="2800" b="1" spc="-94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Using</a:t>
            </a:r>
          </a:p>
          <a:p>
            <a:pPr marL="0" marR="0">
              <a:lnSpc>
                <a:spcPts val="3096"/>
              </a:lnSpc>
              <a:spcBef>
                <a:spcPts val="671"/>
              </a:spcBef>
              <a:spcAft>
                <a:spcPct val="0"/>
              </a:spcAft>
            </a:pP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Convolutional</a:t>
            </a:r>
            <a:r>
              <a:rPr sz="2800" b="1" spc="-122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Neural</a:t>
            </a:r>
            <a:r>
              <a:rPr sz="2800" b="1" spc="-58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17" dirty="0">
                <a:solidFill>
                  <a:srgbClr val="C00000"/>
                </a:solidFill>
                <a:latin typeface="Times New Roman"/>
                <a:cs typeface="Times New Roman"/>
              </a:rPr>
              <a:t>Network</a:t>
            </a:r>
            <a:r>
              <a:rPr sz="2800" b="1" spc="-152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15" dirty="0">
                <a:solidFill>
                  <a:srgbClr val="C00000"/>
                </a:solidFill>
                <a:latin typeface="Times New Roman"/>
                <a:cs typeface="Times New Roman"/>
              </a:rPr>
              <a:t>(CNN)</a:t>
            </a:r>
          </a:p>
          <a:p>
            <a:pPr marL="2410079" marR="0">
              <a:lnSpc>
                <a:spcPts val="1435"/>
              </a:lnSpc>
              <a:spcBef>
                <a:spcPts val="1900"/>
              </a:spcBef>
              <a:spcAft>
                <a:spcPct val="0"/>
              </a:spcAft>
            </a:pPr>
            <a:r>
              <a:rPr sz="2000" b="1" i="1" spc="-14" dirty="0">
                <a:solidFill>
                  <a:srgbClr val="000000"/>
                </a:solidFill>
                <a:latin typeface="Times New Roman"/>
                <a:cs typeface="Times New Roman"/>
              </a:rPr>
              <a:t>Presented</a:t>
            </a:r>
            <a:r>
              <a:rPr sz="2000" b="1" i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 i="1" spc="-26" dirty="0">
                <a:solidFill>
                  <a:srgbClr val="000000"/>
                </a:solidFill>
                <a:latin typeface="Times New Roman"/>
                <a:cs typeface="Times New Roman"/>
              </a:rPr>
              <a:t>by: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046599" y="3895232"/>
            <a:ext cx="1048574" cy="9675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35"/>
              </a:lnSpc>
              <a:spcBef>
                <a:spcPct val="0"/>
              </a:spcBef>
              <a:spcAft>
                <a:spcPct val="0"/>
              </a:spcAft>
            </a:pPr>
            <a:endParaRPr sz="1400" spc="-14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marR="0">
              <a:lnSpc>
                <a:spcPts val="1435"/>
              </a:lnSpc>
              <a:spcBef>
                <a:spcPts val="570"/>
              </a:spcBef>
              <a:spcAft>
                <a:spcPct val="0"/>
              </a:spcAft>
            </a:pPr>
            <a:endParaRPr sz="1400" spc="-14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marR="0">
              <a:lnSpc>
                <a:spcPts val="1435"/>
              </a:lnSpc>
              <a:spcBef>
                <a:spcPts val="520"/>
              </a:spcBef>
              <a:spcAft>
                <a:spcPct val="0"/>
              </a:spcAft>
            </a:pPr>
            <a:endParaRPr sz="1400" spc="-14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marR="0">
              <a:lnSpc>
                <a:spcPts val="1435"/>
              </a:lnSpc>
              <a:spcBef>
                <a:spcPts val="585"/>
              </a:spcBef>
              <a:spcAft>
                <a:spcPct val="0"/>
              </a:spcAft>
            </a:pPr>
            <a:endParaRPr sz="1400" spc="-14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27784" y="4378339"/>
            <a:ext cx="3816423" cy="4752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algn="ctr">
              <a:lnSpc>
                <a:spcPts val="1435"/>
              </a:lnSpc>
              <a:spcBef>
                <a:spcPct val="0"/>
              </a:spcBef>
              <a:spcAft>
                <a:spcPct val="0"/>
              </a:spcAft>
            </a:pPr>
            <a:r>
              <a:rPr sz="2800" spc="-26" dirty="0">
                <a:solidFill>
                  <a:srgbClr val="000000"/>
                </a:solidFill>
                <a:latin typeface="Times New Roman"/>
                <a:cs typeface="Times New Roman"/>
              </a:rPr>
              <a:t>Tushar</a:t>
            </a:r>
            <a:r>
              <a:rPr sz="2800" spc="-7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Times New Roman"/>
                <a:cs typeface="Times New Roman"/>
              </a:rPr>
              <a:t>V</a:t>
            </a:r>
            <a:r>
              <a:rPr sz="2800" spc="-8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spc="-31" dirty="0">
                <a:solidFill>
                  <a:srgbClr val="000000"/>
                </a:solidFill>
                <a:latin typeface="Times New Roman"/>
                <a:cs typeface="Times New Roman"/>
              </a:rPr>
              <a:t>Aradhya</a:t>
            </a:r>
            <a:r>
              <a:rPr lang="en-IN" sz="2800" spc="-31" dirty="0">
                <a:solidFill>
                  <a:srgbClr val="000000"/>
                </a:solidFill>
                <a:latin typeface="Times New Roman"/>
                <a:cs typeface="Times New Roman"/>
              </a:rPr>
              <a:t>math</a:t>
            </a:r>
            <a:endParaRPr sz="2800" spc="-31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marR="0" algn="ctr">
              <a:lnSpc>
                <a:spcPts val="1435"/>
              </a:lnSpc>
              <a:spcBef>
                <a:spcPts val="556"/>
              </a:spcBef>
              <a:spcAft>
                <a:spcPct val="0"/>
              </a:spcAft>
            </a:pPr>
            <a:endParaRPr sz="280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32021" y="5062585"/>
            <a:ext cx="1819523" cy="235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ct val="0"/>
              </a:spcBef>
              <a:spcAft>
                <a:spcPct val="0"/>
              </a:spcAft>
            </a:pPr>
            <a:r>
              <a:rPr sz="1400" b="1" i="1">
                <a:solidFill>
                  <a:srgbClr val="000000"/>
                </a:solidFill>
                <a:latin typeface="Times New Roman"/>
                <a:cs typeface="Times New Roman"/>
              </a:rPr>
              <a:t>Under</a:t>
            </a:r>
            <a:r>
              <a:rPr sz="1400" b="1" i="1" spc="-4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b="1" i="1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1400" b="1" i="1" spc="-8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b="1" i="1">
                <a:solidFill>
                  <a:srgbClr val="000000"/>
                </a:solidFill>
                <a:latin typeface="Times New Roman"/>
                <a:cs typeface="Times New Roman"/>
              </a:rPr>
              <a:t>guidance</a:t>
            </a:r>
            <a:r>
              <a:rPr sz="1400" b="1" i="1" spc="-5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b="1" i="1" spc="-19">
                <a:solidFill>
                  <a:srgbClr val="000000"/>
                </a:solidFill>
                <a:latin typeface="Times New Roman"/>
                <a:cs typeface="Times New Roman"/>
              </a:rPr>
              <a:t>of: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989578" y="5388450"/>
            <a:ext cx="1307853" cy="235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7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Prof.</a:t>
            </a:r>
            <a:r>
              <a:rPr sz="1400" spc="-5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Janaki</a:t>
            </a:r>
            <a:r>
              <a:rPr sz="1400" spc="-6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K</a:t>
            </a:r>
            <a:r>
              <a:rPr sz="1400" spc="-10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B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895090" y="5715213"/>
            <a:ext cx="1493788" cy="235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1F5F"/>
                </a:solidFill>
                <a:latin typeface="Times New Roman"/>
                <a:cs typeface="Times New Roman"/>
              </a:rPr>
              <a:t>Assistant</a:t>
            </a:r>
            <a:r>
              <a:rPr sz="1400" spc="-10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1F5F"/>
                </a:solidFill>
                <a:latin typeface="Times New Roman"/>
                <a:cs typeface="Times New Roman"/>
              </a:rPr>
              <a:t>Professor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958973" y="5994105"/>
            <a:ext cx="3243084" cy="235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1F5F"/>
                </a:solidFill>
                <a:latin typeface="Times New Roman"/>
                <a:cs typeface="Times New Roman"/>
              </a:rPr>
              <a:t>Dept.</a:t>
            </a:r>
            <a:r>
              <a:rPr sz="1400" spc="-8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1F5F"/>
                </a:solidFill>
                <a:latin typeface="Times New Roman"/>
                <a:cs typeface="Times New Roman"/>
              </a:rPr>
              <a:t>of</a:t>
            </a:r>
            <a:r>
              <a:rPr sz="1400" spc="-144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1F5F"/>
                </a:solidFill>
                <a:latin typeface="Times New Roman"/>
                <a:cs typeface="Times New Roman"/>
              </a:rPr>
              <a:t>Computer</a:t>
            </a:r>
            <a:r>
              <a:rPr sz="1400" spc="-3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1F5F"/>
                </a:solidFill>
                <a:latin typeface="Times New Roman"/>
                <a:cs typeface="Times New Roman"/>
              </a:rPr>
              <a:t>Science</a:t>
            </a:r>
            <a:r>
              <a:rPr sz="1400" spc="-12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400" spc="-19">
                <a:solidFill>
                  <a:srgbClr val="001F5F"/>
                </a:solidFill>
                <a:latin typeface="Times New Roman"/>
                <a:cs typeface="Times New Roman"/>
              </a:rPr>
              <a:t>and</a:t>
            </a:r>
            <a:r>
              <a:rPr sz="1400" spc="-7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1F5F"/>
                </a:solidFill>
                <a:latin typeface="Times New Roman"/>
                <a:cs typeface="Times New Roman"/>
              </a:rPr>
              <a:t>Engineering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521328" y="255889"/>
            <a:ext cx="2277739" cy="4887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48"/>
              </a:lnSpc>
              <a:spcBef>
                <a:spcPct val="0"/>
              </a:spcBef>
              <a:spcAft>
                <a:spcPct val="0"/>
              </a:spcAft>
            </a:pPr>
            <a:r>
              <a:rPr sz="3200" spc="-10">
                <a:solidFill>
                  <a:srgbClr val="DA1F28"/>
                </a:solidFill>
                <a:latin typeface="Times New Roman"/>
                <a:cs typeface="Times New Roman"/>
              </a:rPr>
              <a:t>ABSTRACT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98399" y="1373404"/>
            <a:ext cx="8592983" cy="30637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19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Image</a:t>
            </a:r>
            <a:r>
              <a:rPr sz="2000" spc="56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classification</a:t>
            </a:r>
            <a:r>
              <a:rPr sz="2000" spc="56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16">
                <a:solidFill>
                  <a:srgbClr val="000000"/>
                </a:solidFill>
                <a:latin typeface="Times New Roman"/>
                <a:cs typeface="Times New Roman"/>
              </a:rPr>
              <a:t>is</a:t>
            </a:r>
            <a:r>
              <a:rPr sz="2000" spc="57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2000" spc="55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critical</a:t>
            </a:r>
            <a:r>
              <a:rPr sz="2000" spc="55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computer</a:t>
            </a:r>
            <a:r>
              <a:rPr sz="2000" spc="55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vision</a:t>
            </a:r>
            <a:r>
              <a:rPr sz="2000" spc="56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task</a:t>
            </a:r>
            <a:r>
              <a:rPr sz="2000" spc="54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facing</a:t>
            </a:r>
            <a:r>
              <a:rPr sz="2000" spc="55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limitations</a:t>
            </a:r>
            <a:r>
              <a:rPr sz="2000" spc="56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with</a:t>
            </a:r>
          </a:p>
          <a:p>
            <a:pPr marL="0" marR="0">
              <a:lnSpc>
                <a:spcPts val="2221"/>
              </a:lnSpc>
              <a:spcBef>
                <a:spcPts val="1378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traditional</a:t>
            </a:r>
            <a:r>
              <a:rPr sz="2000" spc="67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methods.</a:t>
            </a:r>
            <a:r>
              <a:rPr sz="2000" spc="68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This</a:t>
            </a:r>
            <a:r>
              <a:rPr sz="2000" spc="66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project</a:t>
            </a:r>
            <a:r>
              <a:rPr sz="2000" spc="67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addresses</a:t>
            </a:r>
            <a:r>
              <a:rPr sz="2000" spc="67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this</a:t>
            </a:r>
            <a:r>
              <a:rPr sz="2000" spc="66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10">
                <a:solidFill>
                  <a:srgbClr val="000000"/>
                </a:solidFill>
                <a:latin typeface="Times New Roman"/>
                <a:cs typeface="Times New Roman"/>
              </a:rPr>
              <a:t>by</a:t>
            </a:r>
            <a:r>
              <a:rPr sz="2000" spc="66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developing</a:t>
            </a:r>
            <a:r>
              <a:rPr sz="2000" spc="68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2000" spc="66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robust</a:t>
            </a:r>
            <a:r>
              <a:rPr sz="2000" spc="67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</a:p>
          <a:p>
            <a:pPr marL="0" marR="0">
              <a:lnSpc>
                <a:spcPts val="2219"/>
              </a:lnSpc>
              <a:spcBef>
                <a:spcPts val="1382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efficient</a:t>
            </a:r>
            <a:r>
              <a:rPr sz="2000" spc="87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image</a:t>
            </a:r>
            <a:r>
              <a:rPr sz="2000" spc="87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recognition</a:t>
            </a:r>
            <a:r>
              <a:rPr sz="2000" spc="85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model</a:t>
            </a:r>
            <a:r>
              <a:rPr sz="2000" spc="86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utilizing</a:t>
            </a:r>
            <a:r>
              <a:rPr sz="2000" spc="88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Convolutional</a:t>
            </a:r>
            <a:r>
              <a:rPr sz="2000" spc="87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Neural</a:t>
            </a:r>
            <a:r>
              <a:rPr sz="2000" spc="85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Networks</a:t>
            </a:r>
          </a:p>
          <a:p>
            <a:pPr marL="0" marR="0">
              <a:lnSpc>
                <a:spcPts val="2219"/>
              </a:lnSpc>
              <a:spcBef>
                <a:spcPts val="138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(CNNs),</a:t>
            </a:r>
            <a:r>
              <a:rPr sz="2000" spc="5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2000" spc="5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state-of-the-art</a:t>
            </a:r>
            <a:r>
              <a:rPr sz="2000" spc="4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16">
                <a:solidFill>
                  <a:srgbClr val="000000"/>
                </a:solidFill>
                <a:latin typeface="Times New Roman"/>
                <a:cs typeface="Times New Roman"/>
              </a:rPr>
              <a:t>in</a:t>
            </a:r>
            <a:r>
              <a:rPr sz="2000" spc="6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deep</a:t>
            </a:r>
            <a:r>
              <a:rPr sz="2000" spc="5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learning.</a:t>
            </a:r>
            <a:r>
              <a:rPr sz="2000" spc="4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Built</a:t>
            </a:r>
            <a:r>
              <a:rPr sz="2000" spc="2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using</a:t>
            </a:r>
            <a:r>
              <a:rPr sz="2000" spc="5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Python,</a:t>
            </a:r>
            <a:r>
              <a:rPr sz="2000" spc="5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TensorFlow,</a:t>
            </a:r>
            <a:r>
              <a:rPr sz="2000" spc="5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</a:p>
          <a:p>
            <a:pPr marL="0" marR="0">
              <a:lnSpc>
                <a:spcPts val="2219"/>
              </a:lnSpc>
              <a:spcBef>
                <a:spcPts val="138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Keras,</a:t>
            </a:r>
            <a:r>
              <a:rPr sz="2000" spc="2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2000" spc="22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work</a:t>
            </a:r>
            <a:r>
              <a:rPr sz="2000" spc="21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focuses</a:t>
            </a:r>
            <a:r>
              <a:rPr sz="2000" spc="20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on</a:t>
            </a:r>
            <a:r>
              <a:rPr sz="2000" spc="23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2000" spc="23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construction,</a:t>
            </a:r>
            <a:r>
              <a:rPr sz="2000" spc="19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training,</a:t>
            </a:r>
            <a:r>
              <a:rPr sz="2000" spc="22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sz="2000" spc="22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evaluation</a:t>
            </a:r>
            <a:r>
              <a:rPr sz="2000" spc="22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2000" spc="23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2000" spc="22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CNN-</a:t>
            </a:r>
          </a:p>
          <a:p>
            <a:pPr marL="0" marR="0">
              <a:lnSpc>
                <a:spcPts val="2219"/>
              </a:lnSpc>
              <a:spcBef>
                <a:spcPts val="1383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based</a:t>
            </a:r>
            <a:r>
              <a:rPr sz="2000" spc="25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system</a:t>
            </a:r>
            <a:r>
              <a:rPr sz="2000" spc="23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16">
                <a:solidFill>
                  <a:srgbClr val="000000"/>
                </a:solidFill>
                <a:latin typeface="Times New Roman"/>
                <a:cs typeface="Times New Roman"/>
              </a:rPr>
              <a:t>to</a:t>
            </a:r>
            <a:r>
              <a:rPr sz="2000" spc="26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demonstrate</a:t>
            </a:r>
            <a:r>
              <a:rPr sz="2000" spc="23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2000" spc="24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superior</a:t>
            </a:r>
            <a:r>
              <a:rPr sz="2000" spc="26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accuracy</a:t>
            </a:r>
            <a:r>
              <a:rPr sz="2000" spc="25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sz="2000" spc="24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practical</a:t>
            </a:r>
            <a:r>
              <a:rPr sz="2000" spc="24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performance</a:t>
            </a:r>
            <a:r>
              <a:rPr sz="2000" spc="25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</a:p>
          <a:p>
            <a:pPr marL="0" marR="0">
              <a:lnSpc>
                <a:spcPts val="2219"/>
              </a:lnSpc>
              <a:spcBef>
                <a:spcPts val="138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AI-powered</a:t>
            </a:r>
            <a:r>
              <a:rPr sz="2000" spc="-4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techniques</a:t>
            </a:r>
            <a:r>
              <a:rPr sz="2000" spc="-5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in modern visual</a:t>
            </a:r>
            <a:r>
              <a:rPr sz="2000" spc="-3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data</a:t>
            </a:r>
            <a:r>
              <a:rPr sz="2000" spc="-1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categorization.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79145" y="6472150"/>
            <a:ext cx="1281881" cy="193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2"/>
              </a:lnSpc>
              <a:spcBef>
                <a:spcPct val="0"/>
              </a:spcBef>
              <a:spcAft>
                <a:spcPct val="0"/>
              </a:spcAft>
            </a:pP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Dept</a:t>
            </a:r>
            <a:r>
              <a:rPr sz="1100" i="1" spc="-2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1100" i="1" spc="-3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CSE,</a:t>
            </a:r>
            <a:r>
              <a:rPr sz="1100" i="1" spc="-1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 spc="-30">
                <a:solidFill>
                  <a:srgbClr val="000000"/>
                </a:solidFill>
                <a:latin typeface="Times New Roman"/>
                <a:cs typeface="Times New Roman"/>
              </a:rPr>
              <a:t>EWCE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884162" y="6472150"/>
            <a:ext cx="1793581" cy="193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2"/>
              </a:lnSpc>
              <a:spcBef>
                <a:spcPct val="0"/>
              </a:spcBef>
              <a:spcAft>
                <a:spcPct val="0"/>
              </a:spcAft>
            </a:pP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Image Classification</a:t>
            </a:r>
            <a:r>
              <a:rPr sz="1100" i="1" spc="-6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using</a:t>
            </a:r>
            <a:r>
              <a:rPr sz="1100" i="1" spc="-10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 spc="-24">
                <a:solidFill>
                  <a:srgbClr val="000000"/>
                </a:solidFill>
                <a:latin typeface="Times New Roman"/>
                <a:cs typeface="Times New Roman"/>
              </a:rPr>
              <a:t>AI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048889" y="255889"/>
            <a:ext cx="3226462" cy="4887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48"/>
              </a:lnSpc>
              <a:spcBef>
                <a:spcPct val="0"/>
              </a:spcBef>
              <a:spcAft>
                <a:spcPct val="0"/>
              </a:spcAft>
            </a:pPr>
            <a:r>
              <a:rPr sz="3200">
                <a:solidFill>
                  <a:srgbClr val="DA1F28"/>
                </a:solidFill>
                <a:latin typeface="Times New Roman"/>
                <a:cs typeface="Times New Roman"/>
              </a:rPr>
              <a:t>INTRODUCTION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98399" y="1272264"/>
            <a:ext cx="8469180" cy="3235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8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000" spc="151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Image</a:t>
            </a:r>
            <a:r>
              <a:rPr sz="2000" spc="38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classification</a:t>
            </a:r>
            <a:r>
              <a:rPr sz="2000" spc="14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is</a:t>
            </a:r>
            <a:r>
              <a:rPr sz="2000" spc="15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2000" spc="19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key</a:t>
            </a:r>
            <a:r>
              <a:rPr sz="2000" spc="35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task</a:t>
            </a:r>
            <a:r>
              <a:rPr sz="2000" spc="16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in</a:t>
            </a:r>
            <a:r>
              <a:rPr sz="2000" spc="13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computer</a:t>
            </a:r>
            <a:r>
              <a:rPr sz="2000" spc="37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vision,</a:t>
            </a:r>
            <a:r>
              <a:rPr sz="2000" spc="32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enabling</a:t>
            </a:r>
            <a:r>
              <a:rPr sz="2000" spc="34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machines</a:t>
            </a:r>
            <a:r>
              <a:rPr sz="2000" spc="37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29">
                <a:solidFill>
                  <a:srgbClr val="000000"/>
                </a:solidFill>
                <a:latin typeface="Times New Roman"/>
                <a:cs typeface="Times New Roman"/>
              </a:rPr>
              <a:t>to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42823" y="1580668"/>
            <a:ext cx="4376714" cy="3199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19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categorize</a:t>
            </a:r>
            <a:r>
              <a:rPr sz="2000" spc="-8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images</a:t>
            </a:r>
            <a:r>
              <a:rPr sz="2000" spc="-6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into</a:t>
            </a:r>
            <a:r>
              <a:rPr sz="2000" spc="-6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predefined</a:t>
            </a:r>
            <a:r>
              <a:rPr sz="2000" spc="-6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12">
                <a:solidFill>
                  <a:srgbClr val="000000"/>
                </a:solidFill>
                <a:latin typeface="Times New Roman"/>
                <a:cs typeface="Times New Roman"/>
              </a:rPr>
              <a:t>classes.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98399" y="2212826"/>
            <a:ext cx="8642987" cy="3235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8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000" spc="151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Traditional</a:t>
            </a:r>
            <a:r>
              <a:rPr sz="2000" spc="36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12">
                <a:solidFill>
                  <a:srgbClr val="000000"/>
                </a:solidFill>
                <a:latin typeface="Times New Roman"/>
                <a:cs typeface="Times New Roman"/>
              </a:rPr>
              <a:t>classification</a:t>
            </a:r>
            <a:r>
              <a:rPr sz="2000" spc="74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methods</a:t>
            </a:r>
            <a:r>
              <a:rPr sz="2000" spc="40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struggle</a:t>
            </a:r>
            <a:r>
              <a:rPr sz="2000" spc="62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24">
                <a:solidFill>
                  <a:srgbClr val="000000"/>
                </a:solidFill>
                <a:latin typeface="Times New Roman"/>
                <a:cs typeface="Times New Roman"/>
              </a:rPr>
              <a:t>with</a:t>
            </a:r>
            <a:r>
              <a:rPr sz="2000" spc="61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complex</a:t>
            </a:r>
            <a:r>
              <a:rPr sz="2000" spc="44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patterns</a:t>
            </a:r>
            <a:r>
              <a:rPr sz="2000" spc="39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18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sz="2000" spc="64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large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42823" y="2521230"/>
            <a:ext cx="4192133" cy="3199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19"/>
              </a:lnSpc>
              <a:spcBef>
                <a:spcPct val="0"/>
              </a:spcBef>
              <a:spcAft>
                <a:spcPct val="0"/>
              </a:spcAft>
            </a:pPr>
            <a:r>
              <a:rPr sz="2000" spc="-12">
                <a:solidFill>
                  <a:srgbClr val="000000"/>
                </a:solidFill>
                <a:latin typeface="Times New Roman"/>
                <a:cs typeface="Times New Roman"/>
              </a:rPr>
              <a:t>datasets,</a:t>
            </a:r>
            <a:r>
              <a:rPr sz="2000" spc="-8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10">
                <a:solidFill>
                  <a:srgbClr val="000000"/>
                </a:solidFill>
                <a:latin typeface="Times New Roman"/>
                <a:cs typeface="Times New Roman"/>
              </a:rPr>
              <a:t>making</a:t>
            </a:r>
            <a:r>
              <a:rPr sz="2000" spc="-7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deep</a:t>
            </a:r>
            <a:r>
              <a:rPr sz="2000" spc="-9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learning</a:t>
            </a:r>
            <a:r>
              <a:rPr sz="2000" spc="-8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12">
                <a:solidFill>
                  <a:srgbClr val="000000"/>
                </a:solidFill>
                <a:latin typeface="Times New Roman"/>
                <a:cs typeface="Times New Roman"/>
              </a:rPr>
              <a:t>essential.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98399" y="3151610"/>
            <a:ext cx="8620627" cy="3235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8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000" spc="151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10">
                <a:solidFill>
                  <a:srgbClr val="000000"/>
                </a:solidFill>
                <a:latin typeface="Times New Roman"/>
                <a:cs typeface="Times New Roman"/>
              </a:rPr>
              <a:t>AI-powered</a:t>
            </a:r>
            <a:r>
              <a:rPr sz="2000" spc="67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techniques,</a:t>
            </a:r>
            <a:r>
              <a:rPr sz="2000" spc="39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particularly</a:t>
            </a:r>
            <a:r>
              <a:rPr sz="2000" spc="38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convolutional</a:t>
            </a:r>
            <a:r>
              <a:rPr sz="2000" spc="79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neural</a:t>
            </a:r>
            <a:r>
              <a:rPr sz="2000" spc="41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networks</a:t>
            </a:r>
            <a:r>
              <a:rPr sz="2000" spc="40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(CNNs),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42823" y="3459742"/>
            <a:ext cx="4056474" cy="320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1"/>
              </a:lnSpc>
              <a:spcBef>
                <a:spcPct val="0"/>
              </a:spcBef>
              <a:spcAft>
                <a:spcPct val="0"/>
              </a:spcAft>
            </a:pPr>
            <a:r>
              <a:rPr sz="2000" spc="-19">
                <a:solidFill>
                  <a:srgbClr val="000000"/>
                </a:solidFill>
                <a:latin typeface="Times New Roman"/>
                <a:cs typeface="Times New Roman"/>
              </a:rPr>
              <a:t>have</a:t>
            </a:r>
            <a:r>
              <a:rPr sz="2000" spc="-10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10">
                <a:solidFill>
                  <a:srgbClr val="000000"/>
                </a:solidFill>
                <a:latin typeface="Times New Roman"/>
                <a:cs typeface="Times New Roman"/>
              </a:rPr>
              <a:t>revolutionized</a:t>
            </a:r>
            <a:r>
              <a:rPr sz="2000" spc="-10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image</a:t>
            </a:r>
            <a:r>
              <a:rPr sz="2000" spc="-3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recognition.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98399" y="4092299"/>
            <a:ext cx="8524267" cy="3235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8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000" spc="151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This</a:t>
            </a:r>
            <a:r>
              <a:rPr sz="2000" spc="7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project</a:t>
            </a:r>
            <a:r>
              <a:rPr sz="2000" spc="4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leverages</a:t>
            </a:r>
            <a:r>
              <a:rPr sz="2000" spc="11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Python,</a:t>
            </a:r>
            <a:r>
              <a:rPr sz="2000" spc="17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TensorFlow,</a:t>
            </a:r>
            <a:r>
              <a:rPr sz="2000" spc="7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sz="2000" spc="15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Keras</a:t>
            </a:r>
            <a:r>
              <a:rPr sz="2000" spc="10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to</a:t>
            </a:r>
            <a:r>
              <a:rPr sz="2000" spc="16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develop</a:t>
            </a:r>
            <a:r>
              <a:rPr sz="2000" spc="12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an</a:t>
            </a:r>
            <a:r>
              <a:rPr sz="2000" spc="12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10">
                <a:solidFill>
                  <a:srgbClr val="000000"/>
                </a:solidFill>
                <a:latin typeface="Times New Roman"/>
                <a:cs typeface="Times New Roman"/>
              </a:rPr>
              <a:t>efficient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42823" y="4400703"/>
            <a:ext cx="2883057" cy="3199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19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image</a:t>
            </a:r>
            <a:r>
              <a:rPr sz="2000" spc="-5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12">
                <a:solidFill>
                  <a:srgbClr val="000000"/>
                </a:solidFill>
                <a:latin typeface="Times New Roman"/>
                <a:cs typeface="Times New Roman"/>
              </a:rPr>
              <a:t>classification</a:t>
            </a:r>
            <a:r>
              <a:rPr sz="2000" spc="-11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14">
                <a:solidFill>
                  <a:srgbClr val="000000"/>
                </a:solidFill>
                <a:latin typeface="Times New Roman"/>
                <a:cs typeface="Times New Roman"/>
              </a:rPr>
              <a:t>model.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79145" y="6472150"/>
            <a:ext cx="1281881" cy="193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2"/>
              </a:lnSpc>
              <a:spcBef>
                <a:spcPct val="0"/>
              </a:spcBef>
              <a:spcAft>
                <a:spcPct val="0"/>
              </a:spcAft>
            </a:pP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Dept</a:t>
            </a:r>
            <a:r>
              <a:rPr sz="1100" i="1" spc="-2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1100" i="1" spc="-3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CSE,</a:t>
            </a:r>
            <a:r>
              <a:rPr sz="1100" i="1" spc="-1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 spc="-30">
                <a:solidFill>
                  <a:srgbClr val="000000"/>
                </a:solidFill>
                <a:latin typeface="Times New Roman"/>
                <a:cs typeface="Times New Roman"/>
              </a:rPr>
              <a:t>EWCE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884162" y="6472150"/>
            <a:ext cx="1793581" cy="193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2"/>
              </a:lnSpc>
              <a:spcBef>
                <a:spcPct val="0"/>
              </a:spcBef>
              <a:spcAft>
                <a:spcPct val="0"/>
              </a:spcAft>
            </a:pP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Image Classification</a:t>
            </a:r>
            <a:r>
              <a:rPr sz="1100" i="1" spc="-6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using</a:t>
            </a:r>
            <a:r>
              <a:rPr sz="1100" i="1" spc="-10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 spc="-24">
                <a:solidFill>
                  <a:srgbClr val="000000"/>
                </a:solidFill>
                <a:latin typeface="Times New Roman"/>
                <a:cs typeface="Times New Roman"/>
              </a:rPr>
              <a:t>AI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97252" y="144636"/>
            <a:ext cx="4522803" cy="4887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48"/>
              </a:lnSpc>
              <a:spcBef>
                <a:spcPct val="0"/>
              </a:spcBef>
              <a:spcAft>
                <a:spcPct val="0"/>
              </a:spcAft>
            </a:pPr>
            <a:r>
              <a:rPr sz="3200">
                <a:solidFill>
                  <a:srgbClr val="DA1F28"/>
                </a:solidFill>
                <a:latin typeface="Times New Roman"/>
                <a:cs typeface="Times New Roman"/>
              </a:rPr>
              <a:t>PROBLEM</a:t>
            </a:r>
            <a:r>
              <a:rPr sz="3200" spc="-54">
                <a:solidFill>
                  <a:srgbClr val="DA1F28"/>
                </a:solidFill>
                <a:latin typeface="Times New Roman"/>
                <a:cs typeface="Times New Roman"/>
              </a:rPr>
              <a:t> </a:t>
            </a:r>
            <a:r>
              <a:rPr sz="3200" spc="-61">
                <a:solidFill>
                  <a:srgbClr val="DA1F28"/>
                </a:solidFill>
                <a:latin typeface="Times New Roman"/>
                <a:cs typeface="Times New Roman"/>
              </a:rPr>
              <a:t>STATEMENT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66674" y="1375182"/>
            <a:ext cx="8533441" cy="12347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19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Develop</a:t>
            </a:r>
            <a:r>
              <a:rPr sz="2000" spc="41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2000" spc="40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Convolutional</a:t>
            </a:r>
            <a:r>
              <a:rPr sz="2000" spc="39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Neural</a:t>
            </a:r>
            <a:r>
              <a:rPr sz="2000" spc="39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Network</a:t>
            </a:r>
            <a:r>
              <a:rPr sz="2000" spc="40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(CNN)</a:t>
            </a:r>
            <a:r>
              <a:rPr sz="2000" spc="40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model</a:t>
            </a:r>
            <a:r>
              <a:rPr sz="2000" spc="41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16">
                <a:solidFill>
                  <a:srgbClr val="000000"/>
                </a:solidFill>
                <a:latin typeface="Times New Roman"/>
                <a:cs typeface="Times New Roman"/>
              </a:rPr>
              <a:t>to</a:t>
            </a:r>
            <a:r>
              <a:rPr sz="2000" spc="43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accurately</a:t>
            </a:r>
            <a:r>
              <a:rPr sz="2000" spc="38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12">
                <a:solidFill>
                  <a:srgbClr val="000000"/>
                </a:solidFill>
                <a:latin typeface="Times New Roman"/>
                <a:cs typeface="Times New Roman"/>
              </a:rPr>
              <a:t>classify</a:t>
            </a:r>
          </a:p>
          <a:p>
            <a:pPr marL="0" marR="0">
              <a:lnSpc>
                <a:spcPts val="2219"/>
              </a:lnSpc>
              <a:spcBef>
                <a:spcPts val="1383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images</a:t>
            </a:r>
            <a:r>
              <a:rPr sz="2000" spc="3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2000" spc="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flowers</a:t>
            </a:r>
            <a:r>
              <a:rPr sz="2000" spc="1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into</a:t>
            </a:r>
            <a:r>
              <a:rPr sz="2000" spc="2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distinct</a:t>
            </a:r>
            <a:r>
              <a:rPr sz="2000" spc="3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categories</a:t>
            </a:r>
            <a:r>
              <a:rPr sz="2000" spc="1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such</a:t>
            </a:r>
            <a:r>
              <a:rPr sz="2000" spc="4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as</a:t>
            </a:r>
            <a:r>
              <a:rPr sz="2000" spc="1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daisy,</a:t>
            </a:r>
            <a:r>
              <a:rPr sz="2000" spc="1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rose,</a:t>
            </a:r>
            <a:r>
              <a:rPr sz="2000" spc="3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sunflower,</a:t>
            </a:r>
            <a:r>
              <a:rPr sz="2000" spc="2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tulip,</a:t>
            </a:r>
            <a:r>
              <a:rPr sz="2000" spc="4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3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</a:p>
          <a:p>
            <a:pPr marL="0" marR="0">
              <a:lnSpc>
                <a:spcPts val="2219"/>
              </a:lnSpc>
              <a:spcBef>
                <a:spcPts val="138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dandelion.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66674" y="3242717"/>
            <a:ext cx="8529562" cy="12343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19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2000" spc="46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model</a:t>
            </a:r>
            <a:r>
              <a:rPr sz="2000" spc="45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12">
                <a:solidFill>
                  <a:srgbClr val="000000"/>
                </a:solidFill>
                <a:latin typeface="Times New Roman"/>
                <a:cs typeface="Times New Roman"/>
              </a:rPr>
              <a:t>aims</a:t>
            </a:r>
            <a:r>
              <a:rPr sz="2000" spc="48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to</a:t>
            </a:r>
            <a:r>
              <a:rPr sz="2000" spc="46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automate</a:t>
            </a:r>
            <a:r>
              <a:rPr sz="2000" spc="46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flower</a:t>
            </a:r>
            <a:r>
              <a:rPr sz="2000" spc="46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identification</a:t>
            </a:r>
            <a:r>
              <a:rPr sz="2000" spc="46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by</a:t>
            </a:r>
            <a:r>
              <a:rPr sz="2000" spc="44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learning</a:t>
            </a:r>
            <a:r>
              <a:rPr sz="2000" spc="46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intricate</a:t>
            </a:r>
            <a:r>
              <a:rPr sz="2000" spc="46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visual</a:t>
            </a:r>
          </a:p>
          <a:p>
            <a:pPr marL="0" marR="0">
              <a:lnSpc>
                <a:spcPts val="2219"/>
              </a:lnSpc>
              <a:spcBef>
                <a:spcPts val="138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patterns</a:t>
            </a:r>
            <a:r>
              <a:rPr sz="2000" spc="14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from</a:t>
            </a:r>
            <a:r>
              <a:rPr sz="2000" spc="13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image</a:t>
            </a:r>
            <a:r>
              <a:rPr sz="2000" spc="16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data,</a:t>
            </a:r>
            <a:r>
              <a:rPr sz="2000" spc="13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enabling</a:t>
            </a:r>
            <a:r>
              <a:rPr sz="2000" spc="15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applications</a:t>
            </a:r>
            <a:r>
              <a:rPr sz="2000" spc="14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in</a:t>
            </a:r>
            <a:r>
              <a:rPr sz="2000" spc="14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botany,</a:t>
            </a:r>
            <a:r>
              <a:rPr sz="2000" spc="13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education,</a:t>
            </a:r>
            <a:r>
              <a:rPr sz="2000" spc="14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sz="2000" spc="15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15">
                <a:solidFill>
                  <a:srgbClr val="000000"/>
                </a:solidFill>
                <a:latin typeface="Times New Roman"/>
                <a:cs typeface="Times New Roman"/>
              </a:rPr>
              <a:t>mobile</a:t>
            </a:r>
          </a:p>
          <a:p>
            <a:pPr marL="0" marR="0">
              <a:lnSpc>
                <a:spcPts val="2219"/>
              </a:lnSpc>
              <a:spcBef>
                <a:spcPts val="138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plant</a:t>
            </a:r>
            <a:r>
              <a:rPr sz="2000" spc="-8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recognition</a:t>
            </a:r>
            <a:r>
              <a:rPr sz="2000" spc="-8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tools.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79145" y="6472150"/>
            <a:ext cx="1281881" cy="193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2"/>
              </a:lnSpc>
              <a:spcBef>
                <a:spcPct val="0"/>
              </a:spcBef>
              <a:spcAft>
                <a:spcPct val="0"/>
              </a:spcAft>
            </a:pP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Dept</a:t>
            </a:r>
            <a:r>
              <a:rPr sz="1100" i="1" spc="-2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1100" i="1" spc="-3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CSE,</a:t>
            </a:r>
            <a:r>
              <a:rPr sz="1100" i="1" spc="-1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 spc="-30">
                <a:solidFill>
                  <a:srgbClr val="000000"/>
                </a:solidFill>
                <a:latin typeface="Times New Roman"/>
                <a:cs typeface="Times New Roman"/>
              </a:rPr>
              <a:t>EWCE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884162" y="6472150"/>
            <a:ext cx="1793581" cy="193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2"/>
              </a:lnSpc>
              <a:spcBef>
                <a:spcPct val="0"/>
              </a:spcBef>
              <a:spcAft>
                <a:spcPct val="0"/>
              </a:spcAft>
            </a:pP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Image Classification</a:t>
            </a:r>
            <a:r>
              <a:rPr sz="1100" i="1" spc="-6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using</a:t>
            </a:r>
            <a:r>
              <a:rPr sz="1100" i="1" spc="-10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 spc="-24">
                <a:solidFill>
                  <a:srgbClr val="000000"/>
                </a:solidFill>
                <a:latin typeface="Times New Roman"/>
                <a:cs typeface="Times New Roman"/>
              </a:rPr>
              <a:t>AI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508250" y="184878"/>
            <a:ext cx="4310248" cy="4890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50"/>
              </a:lnSpc>
              <a:spcBef>
                <a:spcPct val="0"/>
              </a:spcBef>
              <a:spcAft>
                <a:spcPct val="0"/>
              </a:spcAft>
            </a:pPr>
            <a:r>
              <a:rPr sz="3200" spc="-33">
                <a:solidFill>
                  <a:srgbClr val="DA1F28"/>
                </a:solidFill>
                <a:latin typeface="Times New Roman"/>
                <a:cs typeface="Times New Roman"/>
              </a:rPr>
              <a:t>LITERATURE</a:t>
            </a:r>
            <a:r>
              <a:rPr sz="3200" spc="-94">
                <a:solidFill>
                  <a:srgbClr val="DA1F28"/>
                </a:solidFill>
                <a:latin typeface="Times New Roman"/>
                <a:cs typeface="Times New Roman"/>
              </a:rPr>
              <a:t> </a:t>
            </a:r>
            <a:r>
              <a:rPr sz="3200" spc="-34">
                <a:solidFill>
                  <a:srgbClr val="DA1F28"/>
                </a:solidFill>
                <a:latin typeface="Times New Roman"/>
                <a:cs typeface="Times New Roman"/>
              </a:rPr>
              <a:t>SURVEY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32257" y="1273032"/>
            <a:ext cx="1339348" cy="235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Title</a:t>
            </a:r>
            <a:r>
              <a:rPr sz="1400" spc="-8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1400" spc="-14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1400" spc="-9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19">
                <a:solidFill>
                  <a:srgbClr val="000000"/>
                </a:solidFill>
                <a:latin typeface="Times New Roman"/>
                <a:cs typeface="Times New Roman"/>
              </a:rPr>
              <a:t>paper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91640" y="1273032"/>
            <a:ext cx="498829" cy="235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ct val="0"/>
              </a:spcBef>
              <a:spcAft>
                <a:spcPct val="0"/>
              </a:spcAft>
            </a:pPr>
            <a:r>
              <a:rPr sz="1400" spc="-24">
                <a:solidFill>
                  <a:srgbClr val="000000"/>
                </a:solidFill>
                <a:latin typeface="Times New Roman"/>
                <a:cs typeface="Times New Roman"/>
              </a:rPr>
              <a:t>Year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376805" y="1273032"/>
            <a:ext cx="726938" cy="235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Authors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067556" y="1273032"/>
            <a:ext cx="845781" cy="235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ct val="0"/>
              </a:spcBef>
              <a:spcAft>
                <a:spcPct val="0"/>
              </a:spcAft>
            </a:pPr>
            <a:r>
              <a:rPr sz="1400" spc="-17">
                <a:solidFill>
                  <a:srgbClr val="000000"/>
                </a:solidFill>
                <a:latin typeface="Times New Roman"/>
                <a:cs typeface="Times New Roman"/>
              </a:rPr>
              <a:t>Summary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119749" y="1273032"/>
            <a:ext cx="994139" cy="235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Advantages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840091" y="1273032"/>
            <a:ext cx="974549" cy="235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Limitations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89585" y="1769856"/>
            <a:ext cx="1399859" cy="13023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“Integrating</a:t>
            </a:r>
          </a:p>
          <a:p>
            <a:pPr marL="0" marR="0">
              <a:lnSpc>
                <a:spcPts val="1554"/>
              </a:lnSpc>
              <a:spcBef>
                <a:spcPts val="75"/>
              </a:spcBef>
              <a:spcAft>
                <a:spcPct val="0"/>
              </a:spcAft>
            </a:pPr>
            <a:r>
              <a:rPr sz="1400" spc="-33">
                <a:solidFill>
                  <a:srgbClr val="000000"/>
                </a:solidFill>
                <a:latin typeface="Times New Roman"/>
                <a:cs typeface="Times New Roman"/>
              </a:rPr>
              <a:t>Transfer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32">
                <a:solidFill>
                  <a:srgbClr val="000000"/>
                </a:solidFill>
                <a:latin typeface="Times New Roman"/>
                <a:cs typeface="Times New Roman"/>
              </a:rPr>
              <a:t>Learning</a:t>
            </a:r>
          </a:p>
          <a:p>
            <a:pPr marL="0" marR="0">
              <a:lnSpc>
                <a:spcPts val="1554"/>
              </a:lnSpc>
              <a:spcBef>
                <a:spcPts val="12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with</a:t>
            </a:r>
            <a:r>
              <a:rPr sz="1400" spc="-4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Python-</a:t>
            </a:r>
          </a:p>
          <a:p>
            <a:pPr marL="0" marR="0">
              <a:lnSpc>
                <a:spcPts val="1554"/>
              </a:lnSpc>
              <a:spcBef>
                <a:spcPts val="12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based</a:t>
            </a:r>
            <a:r>
              <a:rPr sz="1400" spc="-4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CNNs </a:t>
            </a:r>
            <a:r>
              <a:rPr sz="1400" spc="-19">
                <a:solidFill>
                  <a:srgbClr val="000000"/>
                </a:solidFill>
                <a:latin typeface="Times New Roman"/>
                <a:cs typeface="Times New Roman"/>
              </a:rPr>
              <a:t>for</a:t>
            </a:r>
          </a:p>
          <a:p>
            <a:pPr marL="0" marR="0">
              <a:lnSpc>
                <a:spcPts val="1554"/>
              </a:lnSpc>
              <a:spcBef>
                <a:spcPts val="12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Enhanced</a:t>
            </a:r>
            <a:r>
              <a:rPr sz="1400" spc="-10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26">
                <a:solidFill>
                  <a:srgbClr val="000000"/>
                </a:solidFill>
                <a:latin typeface="Times New Roman"/>
                <a:cs typeface="Times New Roman"/>
              </a:rPr>
              <a:t>Image</a:t>
            </a:r>
          </a:p>
          <a:p>
            <a:pPr marL="0" marR="0">
              <a:lnSpc>
                <a:spcPts val="1554"/>
              </a:lnSpc>
              <a:spcBef>
                <a:spcPts val="12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Classification”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685544" y="1768695"/>
            <a:ext cx="1352129" cy="4494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7"/>
              </a:lnSpc>
              <a:spcBef>
                <a:spcPct val="0"/>
              </a:spcBef>
              <a:spcAft>
                <a:spcPct val="0"/>
              </a:spcAft>
            </a:pPr>
            <a:r>
              <a:rPr sz="1400" spc="-16">
                <a:solidFill>
                  <a:srgbClr val="000000"/>
                </a:solidFill>
                <a:latin typeface="Times New Roman"/>
                <a:cs typeface="Times New Roman"/>
              </a:rPr>
              <a:t>2024</a:t>
            </a:r>
            <a:r>
              <a:rPr sz="1400" spc="115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37">
                <a:solidFill>
                  <a:srgbClr val="000000"/>
                </a:solidFill>
                <a:latin typeface="Times New Roman"/>
                <a:cs typeface="Times New Roman"/>
              </a:rPr>
              <a:t>Dr.</a:t>
            </a:r>
            <a:r>
              <a:rPr sz="1400" spc="-8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50">
                <a:solidFill>
                  <a:srgbClr val="000000"/>
                </a:solidFill>
                <a:latin typeface="Times New Roman"/>
                <a:cs typeface="Times New Roman"/>
              </a:rPr>
              <a:t>James</a:t>
            </a:r>
          </a:p>
          <a:p>
            <a:pPr marL="538860" marR="0">
              <a:lnSpc>
                <a:spcPts val="1554"/>
              </a:lnSpc>
              <a:spcBef>
                <a:spcPts val="51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Lee,</a:t>
            </a:r>
            <a:r>
              <a:rPr sz="1400" spc="-2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25">
                <a:solidFill>
                  <a:srgbClr val="000000"/>
                </a:solidFill>
                <a:latin typeface="Times New Roman"/>
                <a:cs typeface="Times New Roman"/>
              </a:rPr>
              <a:t>Dr.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275965" y="1770491"/>
            <a:ext cx="2320523" cy="36621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1400" spc="-5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article</a:t>
            </a:r>
            <a:r>
              <a:rPr sz="1400" spc="-8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discusses</a:t>
            </a:r>
            <a:r>
              <a:rPr sz="1400" spc="-7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16">
                <a:solidFill>
                  <a:srgbClr val="000000"/>
                </a:solidFill>
                <a:latin typeface="Times New Roman"/>
                <a:cs typeface="Times New Roman"/>
              </a:rPr>
              <a:t>using</a:t>
            </a:r>
          </a:p>
          <a:p>
            <a:pPr marL="0" marR="0">
              <a:lnSpc>
                <a:spcPts val="1554"/>
              </a:lnSpc>
              <a:spcBef>
                <a:spcPts val="7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transfer</a:t>
            </a:r>
            <a:r>
              <a:rPr sz="1400" spc="-7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learning</a:t>
            </a:r>
            <a:r>
              <a:rPr sz="1400" spc="-5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with</a:t>
            </a:r>
            <a:r>
              <a:rPr sz="1400" spc="-12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Python-</a:t>
            </a:r>
          </a:p>
          <a:p>
            <a:pPr marL="0" marR="0">
              <a:lnSpc>
                <a:spcPts val="1554"/>
              </a:lnSpc>
              <a:spcBef>
                <a:spcPts val="125"/>
              </a:spcBef>
              <a:spcAft>
                <a:spcPct val="0"/>
              </a:spcAft>
            </a:pPr>
            <a:r>
              <a:rPr sz="1400" spc="-19">
                <a:solidFill>
                  <a:srgbClr val="000000"/>
                </a:solidFill>
                <a:latin typeface="Times New Roman"/>
                <a:cs typeface="Times New Roman"/>
              </a:rPr>
              <a:t>based</a:t>
            </a:r>
            <a:r>
              <a:rPr sz="1400" spc="-10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25">
                <a:solidFill>
                  <a:srgbClr val="000000"/>
                </a:solidFill>
                <a:latin typeface="Times New Roman"/>
                <a:cs typeface="Times New Roman"/>
              </a:rPr>
              <a:t>CNNs</a:t>
            </a:r>
            <a:r>
              <a:rPr sz="1400" spc="-4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to</a:t>
            </a:r>
            <a:r>
              <a:rPr sz="1400" spc="-9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10">
                <a:solidFill>
                  <a:srgbClr val="000000"/>
                </a:solidFill>
                <a:latin typeface="Times New Roman"/>
                <a:cs typeface="Times New Roman"/>
              </a:rPr>
              <a:t>improve</a:t>
            </a:r>
            <a:r>
              <a:rPr sz="1400" spc="3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25">
                <a:solidFill>
                  <a:srgbClr val="000000"/>
                </a:solidFill>
                <a:latin typeface="Times New Roman"/>
                <a:cs typeface="Times New Roman"/>
              </a:rPr>
              <a:t>image</a:t>
            </a:r>
          </a:p>
          <a:p>
            <a:pPr marL="0" marR="0">
              <a:lnSpc>
                <a:spcPts val="1554"/>
              </a:lnSpc>
              <a:spcBef>
                <a:spcPts val="12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classification.</a:t>
            </a:r>
            <a:r>
              <a:rPr sz="1400" spc="-4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10">
                <a:solidFill>
                  <a:srgbClr val="000000"/>
                </a:solidFill>
                <a:latin typeface="Times New Roman"/>
                <a:cs typeface="Times New Roman"/>
              </a:rPr>
              <a:t>It</a:t>
            </a:r>
            <a:r>
              <a:rPr sz="1400" spc="-5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20">
                <a:solidFill>
                  <a:srgbClr val="000000"/>
                </a:solidFill>
                <a:latin typeface="Times New Roman"/>
                <a:cs typeface="Times New Roman"/>
              </a:rPr>
              <a:t>leverages</a:t>
            </a:r>
            <a:r>
              <a:rPr sz="1400" spc="-3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20">
                <a:solidFill>
                  <a:srgbClr val="000000"/>
                </a:solidFill>
                <a:latin typeface="Times New Roman"/>
                <a:cs typeface="Times New Roman"/>
              </a:rPr>
              <a:t>pre-</a:t>
            </a:r>
          </a:p>
          <a:p>
            <a:pPr marL="0" marR="0">
              <a:lnSpc>
                <a:spcPts val="1554"/>
              </a:lnSpc>
              <a:spcBef>
                <a:spcPts val="12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trained</a:t>
            </a:r>
            <a:r>
              <a:rPr sz="1400" spc="-5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models</a:t>
            </a:r>
            <a:r>
              <a:rPr sz="1400" spc="-3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(e.g.,</a:t>
            </a:r>
            <a:r>
              <a:rPr sz="1400" spc="-4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27">
                <a:solidFill>
                  <a:srgbClr val="000000"/>
                </a:solidFill>
                <a:latin typeface="Times New Roman"/>
                <a:cs typeface="Times New Roman"/>
              </a:rPr>
              <a:t>VGG,</a:t>
            </a:r>
          </a:p>
          <a:p>
            <a:pPr marL="0" marR="0">
              <a:lnSpc>
                <a:spcPts val="1554"/>
              </a:lnSpc>
              <a:spcBef>
                <a:spcPts val="12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ResNet)</a:t>
            </a:r>
            <a:r>
              <a:rPr sz="1400" spc="-3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to</a:t>
            </a:r>
            <a:r>
              <a:rPr sz="1400" spc="-3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enhance</a:t>
            </a:r>
          </a:p>
          <a:p>
            <a:pPr marL="0" marR="0">
              <a:lnSpc>
                <a:spcPts val="1557"/>
              </a:lnSpc>
              <a:spcBef>
                <a:spcPts val="73"/>
              </a:spcBef>
              <a:spcAft>
                <a:spcPct val="0"/>
              </a:spcAft>
            </a:pPr>
            <a:r>
              <a:rPr sz="1400" spc="-10">
                <a:solidFill>
                  <a:srgbClr val="000000"/>
                </a:solidFill>
                <a:latin typeface="Times New Roman"/>
                <a:cs typeface="Times New Roman"/>
              </a:rPr>
              <a:t>performance</a:t>
            </a:r>
            <a:r>
              <a:rPr sz="1400" spc="-4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on</a:t>
            </a:r>
            <a:r>
              <a:rPr sz="1400" spc="-12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small datasets</a:t>
            </a:r>
          </a:p>
          <a:p>
            <a:pPr marL="0" marR="0">
              <a:lnSpc>
                <a:spcPts val="1554"/>
              </a:lnSpc>
              <a:spcBef>
                <a:spcPts val="126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by</a:t>
            </a:r>
            <a:r>
              <a:rPr sz="1400" spc="-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fine-tuning</a:t>
            </a:r>
            <a:r>
              <a:rPr sz="1400" spc="18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11">
                <a:solidFill>
                  <a:srgbClr val="000000"/>
                </a:solidFill>
                <a:latin typeface="Times New Roman"/>
                <a:cs typeface="Times New Roman"/>
              </a:rPr>
              <a:t>layers.</a:t>
            </a:r>
          </a:p>
          <a:p>
            <a:pPr marL="0" marR="0">
              <a:lnSpc>
                <a:spcPts val="1554"/>
              </a:lnSpc>
              <a:spcBef>
                <a:spcPts val="221"/>
              </a:spcBef>
              <a:spcAft>
                <a:spcPct val="0"/>
              </a:spcAft>
            </a:pPr>
            <a:r>
              <a:rPr sz="1400" spc="-36">
                <a:solidFill>
                  <a:srgbClr val="000000"/>
                </a:solidFill>
                <a:latin typeface="Times New Roman"/>
                <a:cs typeface="Times New Roman"/>
              </a:rPr>
              <a:t>Implemented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20">
                <a:solidFill>
                  <a:srgbClr val="000000"/>
                </a:solidFill>
                <a:latin typeface="Times New Roman"/>
                <a:cs typeface="Times New Roman"/>
              </a:rPr>
              <a:t>with</a:t>
            </a:r>
            <a:r>
              <a:rPr sz="1400" spc="-5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TensorFlow,</a:t>
            </a:r>
          </a:p>
          <a:p>
            <a:pPr marL="0" marR="0">
              <a:lnSpc>
                <a:spcPts val="1554"/>
              </a:lnSpc>
              <a:spcBef>
                <a:spcPts val="12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Keras,</a:t>
            </a:r>
            <a:r>
              <a:rPr sz="1400" spc="-2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or</a:t>
            </a:r>
            <a:r>
              <a:rPr sz="1400" spc="-6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PyTorch,</a:t>
            </a:r>
            <a:r>
              <a:rPr sz="1400" spc="-2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it</a:t>
            </a:r>
            <a:r>
              <a:rPr sz="1400" spc="-6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reduces</a:t>
            </a:r>
          </a:p>
          <a:p>
            <a:pPr marL="0" marR="0">
              <a:lnSpc>
                <a:spcPts val="1554"/>
              </a:lnSpc>
              <a:spcBef>
                <a:spcPts val="12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training</a:t>
            </a:r>
            <a:r>
              <a:rPr sz="1400" spc="-6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time</a:t>
            </a:r>
            <a:r>
              <a:rPr sz="1400" spc="-4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sz="1400" spc="-4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boosts</a:t>
            </a:r>
          </a:p>
          <a:p>
            <a:pPr marL="0" marR="0">
              <a:lnSpc>
                <a:spcPts val="1554"/>
              </a:lnSpc>
              <a:spcBef>
                <a:spcPts val="75"/>
              </a:spcBef>
              <a:spcAft>
                <a:spcPct val="0"/>
              </a:spcAft>
            </a:pPr>
            <a:r>
              <a:rPr sz="1400" spc="-11">
                <a:solidFill>
                  <a:srgbClr val="000000"/>
                </a:solidFill>
                <a:latin typeface="Times New Roman"/>
                <a:cs typeface="Times New Roman"/>
              </a:rPr>
              <a:t>accuracy.</a:t>
            </a:r>
            <a:r>
              <a:rPr sz="1400" spc="-1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Challenges</a:t>
            </a:r>
            <a:r>
              <a:rPr sz="1400" spc="-7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17">
                <a:solidFill>
                  <a:srgbClr val="000000"/>
                </a:solidFill>
                <a:latin typeface="Times New Roman"/>
                <a:cs typeface="Times New Roman"/>
              </a:rPr>
              <a:t>like</a:t>
            </a:r>
          </a:p>
          <a:p>
            <a:pPr marL="0" marR="0">
              <a:lnSpc>
                <a:spcPts val="1554"/>
              </a:lnSpc>
              <a:spcBef>
                <a:spcPts val="12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overfitting</a:t>
            </a:r>
            <a:r>
              <a:rPr sz="1400" spc="-8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are</a:t>
            </a:r>
            <a:r>
              <a:rPr sz="1400" spc="-3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addressed</a:t>
            </a:r>
          </a:p>
          <a:p>
            <a:pPr marL="0" marR="0">
              <a:lnSpc>
                <a:spcPts val="1557"/>
              </a:lnSpc>
              <a:spcBef>
                <a:spcPts val="123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through</a:t>
            </a:r>
            <a:r>
              <a:rPr sz="1400" spc="-5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data</a:t>
            </a:r>
            <a:r>
              <a:rPr sz="1400" spc="-5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augmentation</a:t>
            </a:r>
            <a:r>
              <a:rPr sz="1400" spc="-7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19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</a:p>
          <a:p>
            <a:pPr marL="0" marR="0">
              <a:lnSpc>
                <a:spcPts val="1554"/>
              </a:lnSpc>
              <a:spcBef>
                <a:spcPts val="127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regularization,</a:t>
            </a:r>
            <a:r>
              <a:rPr sz="1400" spc="-1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with</a:t>
            </a:r>
            <a:r>
              <a:rPr sz="1400" spc="-1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10">
                <a:solidFill>
                  <a:srgbClr val="000000"/>
                </a:solidFill>
                <a:latin typeface="Times New Roman"/>
                <a:cs typeface="Times New Roman"/>
              </a:rPr>
              <a:t>examples</a:t>
            </a:r>
          </a:p>
          <a:p>
            <a:pPr marL="0" marR="0">
              <a:lnSpc>
                <a:spcPts val="1554"/>
              </a:lnSpc>
              <a:spcBef>
                <a:spcPts val="12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in</a:t>
            </a:r>
            <a:r>
              <a:rPr sz="1400" spc="-3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medical</a:t>
            </a:r>
            <a:r>
              <a:rPr sz="1400" spc="-3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sz="1400" spc="-1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natural</a:t>
            </a:r>
            <a:r>
              <a:rPr sz="1400" spc="-4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13">
                <a:solidFill>
                  <a:srgbClr val="000000"/>
                </a:solidFill>
                <a:latin typeface="Times New Roman"/>
                <a:cs typeface="Times New Roman"/>
              </a:rPr>
              <a:t>image</a:t>
            </a:r>
          </a:p>
          <a:p>
            <a:pPr marL="0" marR="0">
              <a:lnSpc>
                <a:spcPts val="1554"/>
              </a:lnSpc>
              <a:spcBef>
                <a:spcPts val="7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classification.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714111" y="1767331"/>
            <a:ext cx="214825" cy="2373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8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Arial"/>
                <a:cs typeface="Arial"/>
              </a:rPr>
              <a:t>•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003925" y="1769856"/>
            <a:ext cx="1327665" cy="13023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ct val="0"/>
              </a:spcBef>
              <a:spcAft>
                <a:spcPct val="0"/>
              </a:spcAft>
            </a:pPr>
            <a:r>
              <a:rPr sz="1400" spc="-10">
                <a:solidFill>
                  <a:srgbClr val="000000"/>
                </a:solidFill>
                <a:latin typeface="Times New Roman"/>
                <a:cs typeface="Times New Roman"/>
              </a:rPr>
              <a:t>Demonstrates</a:t>
            </a:r>
          </a:p>
          <a:p>
            <a:pPr marL="0" marR="0">
              <a:lnSpc>
                <a:spcPts val="1554"/>
              </a:lnSpc>
              <a:spcBef>
                <a:spcPts val="75"/>
              </a:spcBef>
              <a:spcAft>
                <a:spcPct val="0"/>
              </a:spcAft>
            </a:pPr>
            <a:r>
              <a:rPr sz="1400" spc="-10">
                <a:solidFill>
                  <a:srgbClr val="000000"/>
                </a:solidFill>
                <a:latin typeface="Times New Roman"/>
                <a:cs typeface="Times New Roman"/>
              </a:rPr>
              <a:t>improved</a:t>
            </a:r>
          </a:p>
          <a:p>
            <a:pPr marL="0" marR="0">
              <a:lnSpc>
                <a:spcPts val="1554"/>
              </a:lnSpc>
              <a:spcBef>
                <a:spcPts val="12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classification</a:t>
            </a:r>
          </a:p>
          <a:p>
            <a:pPr marL="0" marR="0">
              <a:lnSpc>
                <a:spcPts val="1554"/>
              </a:lnSpc>
              <a:spcBef>
                <a:spcPts val="12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accuracy</a:t>
            </a:r>
            <a:r>
              <a:rPr sz="1400" spc="-2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20">
                <a:solidFill>
                  <a:srgbClr val="000000"/>
                </a:solidFill>
                <a:latin typeface="Times New Roman"/>
                <a:cs typeface="Times New Roman"/>
              </a:rPr>
              <a:t>with</a:t>
            </a:r>
          </a:p>
          <a:p>
            <a:pPr marL="0" marR="0">
              <a:lnSpc>
                <a:spcPts val="1554"/>
              </a:lnSpc>
              <a:spcBef>
                <a:spcPts val="125"/>
              </a:spcBef>
              <a:spcAft>
                <a:spcPct val="0"/>
              </a:spcAft>
            </a:pPr>
            <a:r>
              <a:rPr sz="1400" spc="-20">
                <a:solidFill>
                  <a:srgbClr val="000000"/>
                </a:solidFill>
                <a:latin typeface="Times New Roman"/>
                <a:cs typeface="Times New Roman"/>
              </a:rPr>
              <a:t>effective</a:t>
            </a:r>
            <a:r>
              <a:rPr sz="1400" spc="-3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transfer</a:t>
            </a:r>
          </a:p>
          <a:p>
            <a:pPr marL="0" marR="0">
              <a:lnSpc>
                <a:spcPts val="1554"/>
              </a:lnSpc>
              <a:spcBef>
                <a:spcPts val="12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learning.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529194" y="1767331"/>
            <a:ext cx="214825" cy="1301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8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Arial"/>
                <a:cs typeface="Arial"/>
              </a:rPr>
              <a:t>•</a:t>
            </a:r>
          </a:p>
          <a:p>
            <a:pPr marL="0" marR="0">
              <a:lnSpc>
                <a:spcPts val="1568"/>
              </a:lnSpc>
              <a:spcBef>
                <a:spcPts val="6757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Arial"/>
                <a:cs typeface="Arial"/>
              </a:rPr>
              <a:t>•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815706" y="1769856"/>
            <a:ext cx="1250841" cy="25676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Scalability</a:t>
            </a:r>
            <a:r>
              <a:rPr sz="1400" spc="-4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29">
                <a:solidFill>
                  <a:srgbClr val="000000"/>
                </a:solidFill>
                <a:latin typeface="Times New Roman"/>
                <a:cs typeface="Times New Roman"/>
              </a:rPr>
              <a:t>to</a:t>
            </a:r>
          </a:p>
          <a:p>
            <a:pPr marL="0" marR="0">
              <a:lnSpc>
                <a:spcPts val="1554"/>
              </a:lnSpc>
              <a:spcBef>
                <a:spcPts val="7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very</a:t>
            </a:r>
            <a:r>
              <a:rPr sz="1400" spc="-4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large,</a:t>
            </a:r>
          </a:p>
          <a:p>
            <a:pPr marL="0" marR="0">
              <a:lnSpc>
                <a:spcPts val="1554"/>
              </a:lnSpc>
              <a:spcBef>
                <a:spcPts val="12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diverse</a:t>
            </a:r>
            <a:r>
              <a:rPr sz="1400" spc="-9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datasets</a:t>
            </a:r>
          </a:p>
          <a:p>
            <a:pPr marL="0" marR="0">
              <a:lnSpc>
                <a:spcPts val="1554"/>
              </a:lnSpc>
              <a:spcBef>
                <a:spcPts val="12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requires</a:t>
            </a:r>
            <a:r>
              <a:rPr sz="1400" spc="-5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further</a:t>
            </a:r>
          </a:p>
          <a:p>
            <a:pPr marL="0" marR="0">
              <a:lnSpc>
                <a:spcPts val="1554"/>
              </a:lnSpc>
              <a:spcBef>
                <a:spcPts val="12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validation.</a:t>
            </a:r>
          </a:p>
          <a:p>
            <a:pPr marL="0" marR="0">
              <a:lnSpc>
                <a:spcPts val="1554"/>
              </a:lnSpc>
              <a:spcBef>
                <a:spcPts val="51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Robustness</a:t>
            </a:r>
          </a:p>
          <a:p>
            <a:pPr marL="0" marR="0">
              <a:lnSpc>
                <a:spcPts val="1554"/>
              </a:lnSpc>
              <a:spcBef>
                <a:spcPts val="113"/>
              </a:spcBef>
              <a:spcAft>
                <a:spcPct val="0"/>
              </a:spcAft>
            </a:pPr>
            <a:r>
              <a:rPr sz="1400" spc="-18">
                <a:solidFill>
                  <a:srgbClr val="000000"/>
                </a:solidFill>
                <a:latin typeface="Times New Roman"/>
                <a:cs typeface="Times New Roman"/>
              </a:rPr>
              <a:t>under</a:t>
            </a:r>
            <a:r>
              <a:rPr sz="1400" spc="-6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10">
                <a:solidFill>
                  <a:srgbClr val="000000"/>
                </a:solidFill>
                <a:latin typeface="Times New Roman"/>
                <a:cs typeface="Times New Roman"/>
              </a:rPr>
              <a:t>varying</a:t>
            </a:r>
          </a:p>
          <a:p>
            <a:pPr marL="0" marR="0">
              <a:lnSpc>
                <a:spcPts val="1557"/>
              </a:lnSpc>
              <a:spcBef>
                <a:spcPts val="99"/>
              </a:spcBef>
              <a:spcAft>
                <a:spcPct val="0"/>
              </a:spcAft>
            </a:pPr>
            <a:r>
              <a:rPr sz="1400" spc="-36">
                <a:solidFill>
                  <a:srgbClr val="000000"/>
                </a:solidFill>
                <a:latin typeface="Times New Roman"/>
                <a:cs typeface="Times New Roman"/>
              </a:rPr>
              <a:t>environmental</a:t>
            </a:r>
          </a:p>
          <a:p>
            <a:pPr marL="0" marR="0">
              <a:lnSpc>
                <a:spcPts val="1554"/>
              </a:lnSpc>
              <a:spcBef>
                <a:spcPts val="6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conditions</a:t>
            </a:r>
          </a:p>
          <a:p>
            <a:pPr marL="0" marR="0">
              <a:lnSpc>
                <a:spcPts val="1554"/>
              </a:lnSpc>
              <a:spcBef>
                <a:spcPts val="113"/>
              </a:spcBef>
              <a:spcAft>
                <a:spcPct val="0"/>
              </a:spcAft>
            </a:pPr>
            <a:r>
              <a:rPr sz="1400" spc="-22">
                <a:solidFill>
                  <a:srgbClr val="000000"/>
                </a:solidFill>
                <a:latin typeface="Times New Roman"/>
                <a:cs typeface="Times New Roman"/>
              </a:rPr>
              <a:t>(e.g.,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 lighting,</a:t>
            </a:r>
          </a:p>
          <a:p>
            <a:pPr marL="0" marR="0">
              <a:lnSpc>
                <a:spcPts val="1554"/>
              </a:lnSpc>
              <a:spcBef>
                <a:spcPts val="51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occlusions)</a:t>
            </a:r>
            <a:r>
              <a:rPr sz="1400" spc="-8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17">
                <a:solidFill>
                  <a:srgbClr val="000000"/>
                </a:solidFill>
                <a:latin typeface="Times New Roman"/>
                <a:cs typeface="Times New Roman"/>
              </a:rPr>
              <a:t>is</a:t>
            </a:r>
          </a:p>
          <a:p>
            <a:pPr marL="0" marR="0">
              <a:lnSpc>
                <a:spcPts val="1554"/>
              </a:lnSpc>
              <a:spcBef>
                <a:spcPts val="113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not</a:t>
            </a:r>
            <a:r>
              <a:rPr sz="1400" spc="-1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fully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224405" y="2195941"/>
            <a:ext cx="627510" cy="4489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ct val="0"/>
              </a:spcBef>
              <a:spcAft>
                <a:spcPct val="0"/>
              </a:spcAft>
            </a:pPr>
            <a:r>
              <a:rPr sz="1400" spc="-20">
                <a:solidFill>
                  <a:srgbClr val="000000"/>
                </a:solidFill>
                <a:latin typeface="Times New Roman"/>
                <a:cs typeface="Times New Roman"/>
              </a:rPr>
              <a:t>Anna</a:t>
            </a:r>
          </a:p>
          <a:p>
            <a:pPr marL="0" marR="0">
              <a:lnSpc>
                <a:spcPts val="1554"/>
              </a:lnSpc>
              <a:spcBef>
                <a:spcPts val="75"/>
              </a:spcBef>
              <a:spcAft>
                <a:spcPct val="0"/>
              </a:spcAft>
            </a:pPr>
            <a:r>
              <a:rPr sz="1400" spc="-10">
                <a:solidFill>
                  <a:srgbClr val="000000"/>
                </a:solidFill>
                <a:latin typeface="Times New Roman"/>
                <a:cs typeface="Times New Roman"/>
              </a:rPr>
              <a:t>Garcia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5714111" y="3047491"/>
            <a:ext cx="214825" cy="13044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8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Arial"/>
                <a:cs typeface="Arial"/>
              </a:rPr>
              <a:t>•</a:t>
            </a:r>
          </a:p>
          <a:p>
            <a:pPr marL="0" marR="0">
              <a:lnSpc>
                <a:spcPts val="1568"/>
              </a:lnSpc>
              <a:spcBef>
                <a:spcPts val="6834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Arial"/>
                <a:cs typeface="Arial"/>
              </a:rPr>
              <a:t>•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003925" y="3050016"/>
            <a:ext cx="687149" cy="235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ct val="0"/>
              </a:spcBef>
              <a:spcAft>
                <a:spcPct val="0"/>
              </a:spcAft>
            </a:pPr>
            <a:r>
              <a:rPr sz="1400" spc="-11">
                <a:solidFill>
                  <a:srgbClr val="000000"/>
                </a:solidFill>
                <a:latin typeface="Times New Roman"/>
                <a:cs typeface="Times New Roman"/>
              </a:rPr>
              <a:t>Lowers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003925" y="3263104"/>
            <a:ext cx="1323713" cy="15163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7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computational</a:t>
            </a:r>
          </a:p>
          <a:p>
            <a:pPr marL="0" marR="0">
              <a:lnSpc>
                <a:spcPts val="1554"/>
              </a:lnSpc>
              <a:spcBef>
                <a:spcPts val="77"/>
              </a:spcBef>
              <a:spcAft>
                <a:spcPct val="0"/>
              </a:spcAft>
            </a:pPr>
            <a:r>
              <a:rPr sz="1400" spc="-18">
                <a:solidFill>
                  <a:srgbClr val="000000"/>
                </a:solidFill>
                <a:latin typeface="Times New Roman"/>
                <a:cs typeface="Times New Roman"/>
              </a:rPr>
              <a:t>costs</a:t>
            </a:r>
            <a:r>
              <a:rPr sz="1400" spc="-6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by</a:t>
            </a:r>
            <a:r>
              <a:rPr sz="1400" spc="-7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16">
                <a:solidFill>
                  <a:srgbClr val="000000"/>
                </a:solidFill>
                <a:latin typeface="Times New Roman"/>
                <a:cs typeface="Times New Roman"/>
              </a:rPr>
              <a:t>building</a:t>
            </a:r>
          </a:p>
          <a:p>
            <a:pPr marL="0" marR="0">
              <a:lnSpc>
                <a:spcPts val="1554"/>
              </a:lnSpc>
              <a:spcBef>
                <a:spcPts val="12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upon</a:t>
            </a:r>
            <a:r>
              <a:rPr sz="1400" spc="-13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established</a:t>
            </a:r>
          </a:p>
          <a:p>
            <a:pPr marL="0" marR="0">
              <a:lnSpc>
                <a:spcPts val="1554"/>
              </a:lnSpc>
              <a:spcBef>
                <a:spcPts val="12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architectures.</a:t>
            </a:r>
          </a:p>
          <a:p>
            <a:pPr marL="0" marR="0">
              <a:lnSpc>
                <a:spcPts val="1554"/>
              </a:lnSpc>
              <a:spcBef>
                <a:spcPts val="12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Enhances</a:t>
            </a:r>
            <a:r>
              <a:rPr sz="1400" spc="-8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18">
                <a:solidFill>
                  <a:srgbClr val="000000"/>
                </a:solidFill>
                <a:latin typeface="Times New Roman"/>
                <a:cs typeface="Times New Roman"/>
              </a:rPr>
              <a:t>user</a:t>
            </a:r>
          </a:p>
          <a:p>
            <a:pPr marL="0" marR="0">
              <a:lnSpc>
                <a:spcPts val="1554"/>
              </a:lnSpc>
              <a:spcBef>
                <a:spcPts val="12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accessibility</a:t>
            </a:r>
          </a:p>
          <a:p>
            <a:pPr marL="0" marR="0">
              <a:lnSpc>
                <a:spcPts val="1554"/>
              </a:lnSpc>
              <a:spcBef>
                <a:spcPts val="7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through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7815706" y="4312269"/>
            <a:ext cx="900022" cy="235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addressed.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6003925" y="4757006"/>
            <a:ext cx="1284250" cy="4494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7"/>
              </a:lnSpc>
              <a:spcBef>
                <a:spcPct val="0"/>
              </a:spcBef>
              <a:spcAft>
                <a:spcPct val="0"/>
              </a:spcAft>
            </a:pPr>
            <a:r>
              <a:rPr sz="1400" spc="-21">
                <a:solidFill>
                  <a:srgbClr val="000000"/>
                </a:solidFill>
                <a:latin typeface="Times New Roman"/>
                <a:cs typeface="Times New Roman"/>
              </a:rPr>
              <a:t>streamlined</a:t>
            </a:r>
            <a:r>
              <a:rPr sz="1400" spc="-2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24">
                <a:solidFill>
                  <a:srgbClr val="000000"/>
                </a:solidFill>
                <a:latin typeface="Times New Roman"/>
                <a:cs typeface="Times New Roman"/>
              </a:rPr>
              <a:t>web</a:t>
            </a:r>
          </a:p>
          <a:p>
            <a:pPr marL="0" marR="0">
              <a:lnSpc>
                <a:spcPts val="1554"/>
              </a:lnSpc>
              <a:spcBef>
                <a:spcPts val="76"/>
              </a:spcBef>
              <a:spcAft>
                <a:spcPct val="0"/>
              </a:spcAft>
            </a:pPr>
            <a:r>
              <a:rPr sz="1400" spc="-10">
                <a:solidFill>
                  <a:srgbClr val="000000"/>
                </a:solidFill>
                <a:latin typeface="Times New Roman"/>
                <a:cs typeface="Times New Roman"/>
              </a:rPr>
              <a:t>deployment.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479145" y="6472150"/>
            <a:ext cx="1281881" cy="193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2"/>
              </a:lnSpc>
              <a:spcBef>
                <a:spcPct val="0"/>
              </a:spcBef>
              <a:spcAft>
                <a:spcPct val="0"/>
              </a:spcAft>
            </a:pP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Dept</a:t>
            </a:r>
            <a:r>
              <a:rPr sz="1100" i="1" spc="-2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1100" i="1" spc="-3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CSE,</a:t>
            </a:r>
            <a:r>
              <a:rPr sz="1100" i="1" spc="-1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 spc="-30">
                <a:solidFill>
                  <a:srgbClr val="000000"/>
                </a:solidFill>
                <a:latin typeface="Times New Roman"/>
                <a:cs typeface="Times New Roman"/>
              </a:rPr>
              <a:t>EWCE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6884162" y="6472150"/>
            <a:ext cx="1793581" cy="193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2"/>
              </a:lnSpc>
              <a:spcBef>
                <a:spcPct val="0"/>
              </a:spcBef>
              <a:spcAft>
                <a:spcPct val="0"/>
              </a:spcAft>
            </a:pP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Image Classification</a:t>
            </a:r>
            <a:r>
              <a:rPr sz="1100" i="1" spc="-6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using</a:t>
            </a:r>
            <a:r>
              <a:rPr sz="1100" i="1" spc="-10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 spc="-24">
                <a:solidFill>
                  <a:srgbClr val="000000"/>
                </a:solidFill>
                <a:latin typeface="Times New Roman"/>
                <a:cs typeface="Times New Roman"/>
              </a:rPr>
              <a:t>AI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508250" y="184878"/>
            <a:ext cx="4310248" cy="4890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50"/>
              </a:lnSpc>
              <a:spcBef>
                <a:spcPct val="0"/>
              </a:spcBef>
              <a:spcAft>
                <a:spcPct val="0"/>
              </a:spcAft>
            </a:pPr>
            <a:r>
              <a:rPr sz="3200" spc="-33">
                <a:solidFill>
                  <a:srgbClr val="DA1F28"/>
                </a:solidFill>
                <a:latin typeface="Times New Roman"/>
                <a:cs typeface="Times New Roman"/>
              </a:rPr>
              <a:t>LITERATURE</a:t>
            </a:r>
            <a:r>
              <a:rPr sz="3200" spc="-94">
                <a:solidFill>
                  <a:srgbClr val="DA1F28"/>
                </a:solidFill>
                <a:latin typeface="Times New Roman"/>
                <a:cs typeface="Times New Roman"/>
              </a:rPr>
              <a:t> </a:t>
            </a:r>
            <a:r>
              <a:rPr sz="3200" spc="-34">
                <a:solidFill>
                  <a:srgbClr val="DA1F28"/>
                </a:solidFill>
                <a:latin typeface="Times New Roman"/>
                <a:cs typeface="Times New Roman"/>
              </a:rPr>
              <a:t>SURVEY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32257" y="1273032"/>
            <a:ext cx="1339348" cy="235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Title</a:t>
            </a:r>
            <a:r>
              <a:rPr sz="1400" spc="-8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1400" spc="-14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1400" spc="-9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19">
                <a:solidFill>
                  <a:srgbClr val="000000"/>
                </a:solidFill>
                <a:latin typeface="Times New Roman"/>
                <a:cs typeface="Times New Roman"/>
              </a:rPr>
              <a:t>paper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91640" y="1273032"/>
            <a:ext cx="498829" cy="235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ct val="0"/>
              </a:spcBef>
              <a:spcAft>
                <a:spcPct val="0"/>
              </a:spcAft>
            </a:pPr>
            <a:r>
              <a:rPr sz="1400" spc="-24">
                <a:solidFill>
                  <a:srgbClr val="000000"/>
                </a:solidFill>
                <a:latin typeface="Times New Roman"/>
                <a:cs typeface="Times New Roman"/>
              </a:rPr>
              <a:t>Year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376805" y="1273032"/>
            <a:ext cx="726938" cy="235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Authors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067556" y="1273032"/>
            <a:ext cx="845781" cy="235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ct val="0"/>
              </a:spcBef>
              <a:spcAft>
                <a:spcPct val="0"/>
              </a:spcAft>
            </a:pPr>
            <a:r>
              <a:rPr sz="1400" spc="-17">
                <a:solidFill>
                  <a:srgbClr val="000000"/>
                </a:solidFill>
                <a:latin typeface="Times New Roman"/>
                <a:cs typeface="Times New Roman"/>
              </a:rPr>
              <a:t>Summary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119749" y="1273032"/>
            <a:ext cx="994139" cy="235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Advantages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840091" y="1273032"/>
            <a:ext cx="974549" cy="235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Limitations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89585" y="1770491"/>
            <a:ext cx="1211887" cy="13023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ct val="0"/>
              </a:spcBef>
              <a:spcAft>
                <a:spcPct val="0"/>
              </a:spcAft>
            </a:pPr>
            <a:r>
              <a:rPr sz="1400" spc="-13">
                <a:solidFill>
                  <a:srgbClr val="000000"/>
                </a:solidFill>
                <a:latin typeface="Times New Roman"/>
                <a:cs typeface="Times New Roman"/>
              </a:rPr>
              <a:t>“Streamlit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-</a:t>
            </a:r>
          </a:p>
          <a:p>
            <a:pPr marL="0" marR="0">
              <a:lnSpc>
                <a:spcPts val="1554"/>
              </a:lnSpc>
              <a:spcBef>
                <a:spcPts val="7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Powered</a:t>
            </a:r>
            <a:r>
              <a:rPr sz="1400" spc="-5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25">
                <a:solidFill>
                  <a:srgbClr val="000000"/>
                </a:solidFill>
                <a:latin typeface="Times New Roman"/>
                <a:cs typeface="Times New Roman"/>
              </a:rPr>
              <a:t>AI:</a:t>
            </a:r>
          </a:p>
          <a:p>
            <a:pPr marL="0" marR="0">
              <a:lnSpc>
                <a:spcPts val="1554"/>
              </a:lnSpc>
              <a:spcBef>
                <a:spcPts val="125"/>
              </a:spcBef>
              <a:spcAft>
                <a:spcPct val="0"/>
              </a:spcAft>
            </a:pPr>
            <a:r>
              <a:rPr sz="1400" spc="-37">
                <a:solidFill>
                  <a:srgbClr val="000000"/>
                </a:solidFill>
                <a:latin typeface="Times New Roman"/>
                <a:cs typeface="Times New Roman"/>
              </a:rPr>
              <a:t>Democratizing</a:t>
            </a:r>
          </a:p>
          <a:p>
            <a:pPr marL="0" marR="0">
              <a:lnSpc>
                <a:spcPts val="1554"/>
              </a:lnSpc>
              <a:spcBef>
                <a:spcPts val="125"/>
              </a:spcBef>
              <a:spcAft>
                <a:spcPct val="0"/>
              </a:spcAft>
            </a:pPr>
            <a:r>
              <a:rPr sz="1400" spc="-14">
                <a:solidFill>
                  <a:srgbClr val="000000"/>
                </a:solidFill>
                <a:latin typeface="Times New Roman"/>
                <a:cs typeface="Times New Roman"/>
              </a:rPr>
              <a:t>Image</a:t>
            </a:r>
          </a:p>
          <a:p>
            <a:pPr marL="0" marR="0">
              <a:lnSpc>
                <a:spcPts val="1554"/>
              </a:lnSpc>
              <a:spcBef>
                <a:spcPts val="12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Classification</a:t>
            </a:r>
          </a:p>
          <a:p>
            <a:pPr marL="0" marR="0">
              <a:lnSpc>
                <a:spcPts val="1554"/>
              </a:lnSpc>
              <a:spcBef>
                <a:spcPts val="12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through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685544" y="1768695"/>
            <a:ext cx="3543734" cy="239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7"/>
              </a:lnSpc>
              <a:spcBef>
                <a:spcPct val="0"/>
              </a:spcBef>
              <a:spcAft>
                <a:spcPct val="0"/>
              </a:spcAft>
            </a:pPr>
            <a:r>
              <a:rPr sz="1400" spc="-16">
                <a:solidFill>
                  <a:srgbClr val="000000"/>
                </a:solidFill>
                <a:latin typeface="Times New Roman"/>
                <a:cs typeface="Times New Roman"/>
              </a:rPr>
              <a:t>2025</a:t>
            </a:r>
            <a:r>
              <a:rPr sz="1400" spc="115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21">
                <a:solidFill>
                  <a:srgbClr val="000000"/>
                </a:solidFill>
                <a:latin typeface="Times New Roman"/>
                <a:cs typeface="Times New Roman"/>
              </a:rPr>
              <a:t>Prof.</a:t>
            </a:r>
            <a:r>
              <a:rPr sz="1400" spc="-4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20">
                <a:solidFill>
                  <a:srgbClr val="000000"/>
                </a:solidFill>
                <a:latin typeface="Times New Roman"/>
                <a:cs typeface="Times New Roman"/>
              </a:rPr>
              <a:t>David</a:t>
            </a:r>
            <a:r>
              <a:rPr sz="1400" spc="164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1400" spc="-5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article</a:t>
            </a:r>
            <a:r>
              <a:rPr sz="1400" spc="-8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discusses</a:t>
            </a:r>
            <a:r>
              <a:rPr sz="1400" spc="-7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16">
                <a:solidFill>
                  <a:srgbClr val="000000"/>
                </a:solidFill>
                <a:latin typeface="Times New Roman"/>
                <a:cs typeface="Times New Roman"/>
              </a:rPr>
              <a:t>how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714111" y="1767331"/>
            <a:ext cx="214825" cy="13041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8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Arial"/>
                <a:cs typeface="Arial"/>
              </a:rPr>
              <a:t>•</a:t>
            </a:r>
          </a:p>
          <a:p>
            <a:pPr marL="0" marR="0">
              <a:lnSpc>
                <a:spcPts val="1568"/>
              </a:lnSpc>
              <a:spcBef>
                <a:spcPts val="6831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Arial"/>
                <a:cs typeface="Arial"/>
              </a:rPr>
              <a:t>•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003925" y="1769856"/>
            <a:ext cx="1431794" cy="21561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ct val="0"/>
              </a:spcBef>
              <a:spcAft>
                <a:spcPct val="0"/>
              </a:spcAft>
            </a:pPr>
            <a:r>
              <a:rPr sz="1400" spc="-11">
                <a:solidFill>
                  <a:srgbClr val="000000"/>
                </a:solidFill>
                <a:latin typeface="Times New Roman"/>
                <a:cs typeface="Times New Roman"/>
              </a:rPr>
              <a:t>Lowers</a:t>
            </a:r>
            <a:r>
              <a:rPr sz="1400" spc="-5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17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1400" spc="-6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barrier</a:t>
            </a:r>
          </a:p>
          <a:p>
            <a:pPr marL="0" marR="0">
              <a:lnSpc>
                <a:spcPts val="1554"/>
              </a:lnSpc>
              <a:spcBef>
                <a:spcPts val="7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to</a:t>
            </a:r>
            <a:r>
              <a:rPr sz="1400" spc="-3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entry</a:t>
            </a:r>
            <a:r>
              <a:rPr sz="1400" spc="-5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for</a:t>
            </a:r>
            <a:r>
              <a:rPr sz="1400" spc="-16">
                <a:solidFill>
                  <a:srgbClr val="000000"/>
                </a:solidFill>
                <a:latin typeface="Times New Roman"/>
                <a:cs typeface="Times New Roman"/>
              </a:rPr>
              <a:t> non-</a:t>
            </a:r>
          </a:p>
          <a:p>
            <a:pPr marL="0" marR="0">
              <a:lnSpc>
                <a:spcPts val="1554"/>
              </a:lnSpc>
              <a:spcBef>
                <a:spcPts val="12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expert</a:t>
            </a:r>
            <a:r>
              <a:rPr sz="1400" spc="-7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users</a:t>
            </a:r>
            <a:r>
              <a:rPr sz="1400" spc="-5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16">
                <a:solidFill>
                  <a:srgbClr val="000000"/>
                </a:solidFill>
                <a:latin typeface="Times New Roman"/>
                <a:cs typeface="Times New Roman"/>
              </a:rPr>
              <a:t>by</a:t>
            </a:r>
          </a:p>
          <a:p>
            <a:pPr marL="0" marR="0">
              <a:lnSpc>
                <a:spcPts val="1554"/>
              </a:lnSpc>
              <a:spcBef>
                <a:spcPts val="12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providing</a:t>
            </a:r>
            <a:r>
              <a:rPr sz="1400" spc="-11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22">
                <a:solidFill>
                  <a:srgbClr val="000000"/>
                </a:solidFill>
                <a:latin typeface="Times New Roman"/>
                <a:cs typeface="Times New Roman"/>
              </a:rPr>
              <a:t>an</a:t>
            </a:r>
          </a:p>
          <a:p>
            <a:pPr marL="0" marR="0">
              <a:lnSpc>
                <a:spcPts val="1554"/>
              </a:lnSpc>
              <a:spcBef>
                <a:spcPts val="12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intuitive</a:t>
            </a:r>
            <a:r>
              <a:rPr sz="1400" spc="-7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interface.</a:t>
            </a:r>
          </a:p>
          <a:p>
            <a:pPr marL="0" marR="0">
              <a:lnSpc>
                <a:spcPts val="1554"/>
              </a:lnSpc>
              <a:spcBef>
                <a:spcPts val="12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Enables</a:t>
            </a:r>
          </a:p>
          <a:p>
            <a:pPr marL="0" marR="0">
              <a:lnSpc>
                <a:spcPts val="1554"/>
              </a:lnSpc>
              <a:spcBef>
                <a:spcPts val="75"/>
              </a:spcBef>
              <a:spcAft>
                <a:spcPct val="0"/>
              </a:spcAft>
            </a:pPr>
            <a:r>
              <a:rPr sz="1400" spc="-37">
                <a:solidFill>
                  <a:srgbClr val="000000"/>
                </a:solidFill>
                <a:latin typeface="Times New Roman"/>
                <a:cs typeface="Times New Roman"/>
              </a:rPr>
              <a:t>immediate</a:t>
            </a:r>
            <a:r>
              <a:rPr sz="1400" spc="6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18">
                <a:solidFill>
                  <a:srgbClr val="000000"/>
                </a:solidFill>
                <a:latin typeface="Times New Roman"/>
                <a:cs typeface="Times New Roman"/>
              </a:rPr>
              <a:t>visual</a:t>
            </a:r>
          </a:p>
          <a:p>
            <a:pPr marL="0" marR="0">
              <a:lnSpc>
                <a:spcPts val="1557"/>
              </a:lnSpc>
              <a:spcBef>
                <a:spcPts val="123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feedback</a:t>
            </a:r>
            <a:r>
              <a:rPr sz="1400" spc="-9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19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</a:p>
          <a:p>
            <a:pPr marL="0" marR="0">
              <a:lnSpc>
                <a:spcPts val="1554"/>
              </a:lnSpc>
              <a:spcBef>
                <a:spcPts val="127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dynamic </a:t>
            </a:r>
            <a:r>
              <a:rPr sz="1400" spc="-25">
                <a:solidFill>
                  <a:srgbClr val="000000"/>
                </a:solidFill>
                <a:latin typeface="Times New Roman"/>
                <a:cs typeface="Times New Roman"/>
              </a:rPr>
              <a:t>model</a:t>
            </a:r>
          </a:p>
          <a:p>
            <a:pPr marL="0" marR="0">
              <a:lnSpc>
                <a:spcPts val="1554"/>
              </a:lnSpc>
              <a:spcBef>
                <a:spcPts val="125"/>
              </a:spcBef>
              <a:spcAft>
                <a:spcPct val="0"/>
              </a:spcAft>
            </a:pPr>
            <a:r>
              <a:rPr sz="1400" spc="-10">
                <a:solidFill>
                  <a:srgbClr val="000000"/>
                </a:solidFill>
                <a:latin typeface="Times New Roman"/>
                <a:cs typeface="Times New Roman"/>
              </a:rPr>
              <a:t>performance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529194" y="1767331"/>
            <a:ext cx="214825" cy="1517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8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Arial"/>
                <a:cs typeface="Arial"/>
              </a:rPr>
              <a:t>•</a:t>
            </a:r>
          </a:p>
          <a:p>
            <a:pPr marL="0" marR="0">
              <a:lnSpc>
                <a:spcPts val="1568"/>
              </a:lnSpc>
              <a:spcBef>
                <a:spcPts val="8461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Arial"/>
                <a:cs typeface="Arial"/>
              </a:rPr>
              <a:t>•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815706" y="1769856"/>
            <a:ext cx="865457" cy="4489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Requires</a:t>
            </a:r>
          </a:p>
          <a:p>
            <a:pPr marL="0" marR="0">
              <a:lnSpc>
                <a:spcPts val="1554"/>
              </a:lnSpc>
              <a:spcBef>
                <a:spcPts val="7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additional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224405" y="1982581"/>
            <a:ext cx="777604" cy="4489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Kim,</a:t>
            </a:r>
            <a:r>
              <a:rPr sz="1400" spc="-2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25">
                <a:solidFill>
                  <a:srgbClr val="000000"/>
                </a:solidFill>
                <a:latin typeface="Times New Roman"/>
                <a:cs typeface="Times New Roman"/>
              </a:rPr>
              <a:t>Dr.</a:t>
            </a:r>
          </a:p>
          <a:p>
            <a:pPr marL="0" marR="0">
              <a:lnSpc>
                <a:spcPts val="1554"/>
              </a:lnSpc>
              <a:spcBef>
                <a:spcPts val="75"/>
              </a:spcBef>
              <a:spcAft>
                <a:spcPct val="0"/>
              </a:spcAft>
            </a:pPr>
            <a:r>
              <a:rPr sz="1400" spc="-22">
                <a:solidFill>
                  <a:srgbClr val="000000"/>
                </a:solidFill>
                <a:latin typeface="Times New Roman"/>
                <a:cs typeface="Times New Roman"/>
              </a:rPr>
              <a:t>Lucy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3275965" y="1983216"/>
            <a:ext cx="2274069" cy="1729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Streamlit</a:t>
            </a:r>
            <a:r>
              <a:rPr sz="1400" spc="-8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simplifies</a:t>
            </a:r>
            <a:r>
              <a:rPr sz="1400" spc="-7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building</a:t>
            </a:r>
          </a:p>
          <a:p>
            <a:pPr marL="0" marR="0">
              <a:lnSpc>
                <a:spcPts val="1554"/>
              </a:lnSpc>
              <a:spcBef>
                <a:spcPts val="7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interactive</a:t>
            </a:r>
            <a:r>
              <a:rPr sz="1400" spc="-9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12">
                <a:solidFill>
                  <a:srgbClr val="000000"/>
                </a:solidFill>
                <a:latin typeface="Times New Roman"/>
                <a:cs typeface="Times New Roman"/>
              </a:rPr>
              <a:t>web</a:t>
            </a:r>
            <a:r>
              <a:rPr sz="1400" spc="-7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apps</a:t>
            </a:r>
            <a:r>
              <a:rPr sz="1400" spc="-6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19">
                <a:solidFill>
                  <a:srgbClr val="000000"/>
                </a:solidFill>
                <a:latin typeface="Times New Roman"/>
                <a:cs typeface="Times New Roman"/>
              </a:rPr>
              <a:t>for</a:t>
            </a:r>
            <a:r>
              <a:rPr sz="1400" spc="-7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25">
                <a:solidFill>
                  <a:srgbClr val="000000"/>
                </a:solidFill>
                <a:latin typeface="Times New Roman"/>
                <a:cs typeface="Times New Roman"/>
              </a:rPr>
              <a:t>image</a:t>
            </a:r>
          </a:p>
          <a:p>
            <a:pPr marL="0" marR="0">
              <a:lnSpc>
                <a:spcPts val="1554"/>
              </a:lnSpc>
              <a:spcBef>
                <a:spcPts val="12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classification,</a:t>
            </a:r>
            <a:r>
              <a:rPr sz="1400" spc="-4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making</a:t>
            </a:r>
            <a:r>
              <a:rPr sz="1400" spc="-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27">
                <a:solidFill>
                  <a:srgbClr val="000000"/>
                </a:solidFill>
                <a:latin typeface="Times New Roman"/>
                <a:cs typeface="Times New Roman"/>
              </a:rPr>
              <a:t>AI</a:t>
            </a:r>
          </a:p>
          <a:p>
            <a:pPr marL="0" marR="0">
              <a:lnSpc>
                <a:spcPts val="1554"/>
              </a:lnSpc>
              <a:spcBef>
                <a:spcPts val="12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accessible</a:t>
            </a:r>
            <a:r>
              <a:rPr sz="1400" spc="-1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to</a:t>
            </a:r>
            <a:r>
              <a:rPr sz="1400" spc="-1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non-technical</a:t>
            </a:r>
          </a:p>
          <a:p>
            <a:pPr marL="0" marR="0">
              <a:lnSpc>
                <a:spcPts val="1554"/>
              </a:lnSpc>
              <a:spcBef>
                <a:spcPts val="12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users</a:t>
            </a:r>
            <a:r>
              <a:rPr sz="1400" spc="-7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by</a:t>
            </a:r>
            <a:r>
              <a:rPr sz="1400" spc="-9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integrating</a:t>
            </a:r>
            <a:r>
              <a:rPr sz="1400" spc="-7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with</a:t>
            </a:r>
            <a:r>
              <a:rPr sz="1400" spc="-10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17">
                <a:solidFill>
                  <a:srgbClr val="000000"/>
                </a:solidFill>
                <a:latin typeface="Times New Roman"/>
                <a:cs typeface="Times New Roman"/>
              </a:rPr>
              <a:t>tools</a:t>
            </a:r>
          </a:p>
          <a:p>
            <a:pPr marL="0" marR="0">
              <a:lnSpc>
                <a:spcPts val="1554"/>
              </a:lnSpc>
              <a:spcBef>
                <a:spcPts val="12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like</a:t>
            </a:r>
            <a:r>
              <a:rPr sz="1400" spc="-6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FastAI</a:t>
            </a:r>
            <a:r>
              <a:rPr sz="1400" spc="-4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sz="1400" spc="-4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11">
                <a:solidFill>
                  <a:srgbClr val="000000"/>
                </a:solidFill>
                <a:latin typeface="Times New Roman"/>
                <a:cs typeface="Times New Roman"/>
              </a:rPr>
              <a:t>PyTorch,</a:t>
            </a:r>
          </a:p>
          <a:p>
            <a:pPr marL="0" marR="0">
              <a:lnSpc>
                <a:spcPts val="1557"/>
              </a:lnSpc>
              <a:spcBef>
                <a:spcPts val="73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reducing</a:t>
            </a:r>
            <a:r>
              <a:rPr sz="1400" spc="-6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web</a:t>
            </a:r>
            <a:r>
              <a:rPr sz="1400" spc="-5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development</a:t>
            </a:r>
          </a:p>
          <a:p>
            <a:pPr marL="0" marR="0">
              <a:lnSpc>
                <a:spcPts val="1554"/>
              </a:lnSpc>
              <a:spcBef>
                <a:spcPts val="127"/>
              </a:spcBef>
              <a:spcAft>
                <a:spcPct val="0"/>
              </a:spcAft>
            </a:pPr>
            <a:r>
              <a:rPr sz="1400" spc="-10">
                <a:solidFill>
                  <a:srgbClr val="000000"/>
                </a:solidFill>
                <a:latin typeface="Times New Roman"/>
                <a:cs typeface="Times New Roman"/>
              </a:rPr>
              <a:t>complexity.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7815706" y="2196576"/>
            <a:ext cx="1090663" cy="23695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testing</a:t>
            </a:r>
            <a:r>
              <a:rPr sz="1400" spc="-12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across</a:t>
            </a:r>
          </a:p>
          <a:p>
            <a:pPr marL="0" marR="0">
              <a:lnSpc>
                <a:spcPts val="1554"/>
              </a:lnSpc>
              <a:spcBef>
                <a:spcPts val="7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broader</a:t>
            </a:r>
            <a:r>
              <a:rPr sz="1400" spc="-8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19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</a:p>
          <a:p>
            <a:pPr marL="0" marR="0">
              <a:lnSpc>
                <a:spcPts val="1554"/>
              </a:lnSpc>
              <a:spcBef>
                <a:spcPts val="12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more</a:t>
            </a:r>
            <a:r>
              <a:rPr sz="1400" spc="-2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diverse</a:t>
            </a:r>
          </a:p>
          <a:p>
            <a:pPr marL="0" marR="0">
              <a:lnSpc>
                <a:spcPts val="1554"/>
              </a:lnSpc>
              <a:spcBef>
                <a:spcPts val="12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datasets.</a:t>
            </a:r>
          </a:p>
          <a:p>
            <a:pPr marL="0" marR="0">
              <a:lnSpc>
                <a:spcPts val="1554"/>
              </a:lnSpc>
              <a:spcBef>
                <a:spcPts val="12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Security</a:t>
            </a:r>
            <a:r>
              <a:rPr sz="1400" spc="-11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19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</a:p>
          <a:p>
            <a:pPr marL="0" marR="0">
              <a:lnSpc>
                <a:spcPts val="1557"/>
              </a:lnSpc>
              <a:spcBef>
                <a:spcPts val="123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scalability</a:t>
            </a:r>
          </a:p>
          <a:p>
            <a:pPr marL="0" marR="0">
              <a:lnSpc>
                <a:spcPts val="1554"/>
              </a:lnSpc>
              <a:spcBef>
                <a:spcPts val="77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aspects</a:t>
            </a:r>
            <a:r>
              <a:rPr sz="1400" spc="-7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1400" spc="-11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17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</a:p>
          <a:p>
            <a:pPr marL="0" marR="0">
              <a:lnSpc>
                <a:spcPts val="1554"/>
              </a:lnSpc>
              <a:spcBef>
                <a:spcPts val="12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web-based</a:t>
            </a:r>
          </a:p>
          <a:p>
            <a:pPr marL="0" marR="0">
              <a:lnSpc>
                <a:spcPts val="1554"/>
              </a:lnSpc>
              <a:spcBef>
                <a:spcPts val="125"/>
              </a:spcBef>
              <a:spcAft>
                <a:spcPct val="0"/>
              </a:spcAft>
            </a:pPr>
            <a:r>
              <a:rPr sz="1400" spc="-11">
                <a:solidFill>
                  <a:srgbClr val="000000"/>
                </a:solidFill>
                <a:latin typeface="Times New Roman"/>
                <a:cs typeface="Times New Roman"/>
              </a:rPr>
              <a:t>deployment</a:t>
            </a:r>
          </a:p>
          <a:p>
            <a:pPr marL="0" marR="0">
              <a:lnSpc>
                <a:spcPts val="1554"/>
              </a:lnSpc>
              <a:spcBef>
                <a:spcPts val="12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need</a:t>
            </a:r>
            <a:r>
              <a:rPr sz="1400" spc="-4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further</a:t>
            </a:r>
          </a:p>
          <a:p>
            <a:pPr marL="0" marR="0">
              <a:lnSpc>
                <a:spcPts val="1554"/>
              </a:lnSpc>
              <a:spcBef>
                <a:spcPts val="12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exploration.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224405" y="2409301"/>
            <a:ext cx="884598" cy="6622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Martinez,</a:t>
            </a:r>
          </a:p>
          <a:p>
            <a:pPr marL="0" marR="0">
              <a:lnSpc>
                <a:spcPts val="1554"/>
              </a:lnSpc>
              <a:spcBef>
                <a:spcPts val="75"/>
              </a:spcBef>
              <a:spcAft>
                <a:spcPct val="0"/>
              </a:spcAft>
            </a:pPr>
            <a:r>
              <a:rPr sz="1400" spc="-13">
                <a:solidFill>
                  <a:srgbClr val="000000"/>
                </a:solidFill>
                <a:latin typeface="Times New Roman"/>
                <a:cs typeface="Times New Roman"/>
              </a:rPr>
              <a:t>Dr.</a:t>
            </a:r>
            <a:r>
              <a:rPr sz="1400" spc="-8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20">
                <a:solidFill>
                  <a:srgbClr val="000000"/>
                </a:solidFill>
                <a:latin typeface="Times New Roman"/>
                <a:cs typeface="Times New Roman"/>
              </a:rPr>
              <a:t>Robert</a:t>
            </a:r>
          </a:p>
          <a:p>
            <a:pPr marL="0" marR="0">
              <a:lnSpc>
                <a:spcPts val="1554"/>
              </a:lnSpc>
              <a:spcBef>
                <a:spcPts val="125"/>
              </a:spcBef>
              <a:spcAft>
                <a:spcPct val="0"/>
              </a:spcAft>
            </a:pPr>
            <a:r>
              <a:rPr sz="1400" spc="-12">
                <a:solidFill>
                  <a:srgbClr val="000000"/>
                </a:solidFill>
                <a:latin typeface="Times New Roman"/>
                <a:cs typeface="Times New Roman"/>
              </a:rPr>
              <a:t>Nguyen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89585" y="3050379"/>
            <a:ext cx="934325" cy="4494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7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Accessible</a:t>
            </a:r>
          </a:p>
          <a:p>
            <a:pPr marL="0" marR="0">
              <a:lnSpc>
                <a:spcPts val="1554"/>
              </a:lnSpc>
              <a:spcBef>
                <a:spcPts val="76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Interfaces”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6003925" y="3903837"/>
            <a:ext cx="989437" cy="235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monitoring.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5714111" y="4114672"/>
            <a:ext cx="214825" cy="2373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8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Arial"/>
                <a:cs typeface="Arial"/>
              </a:rPr>
              <a:t>•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003925" y="4117197"/>
            <a:ext cx="1408117" cy="6622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ct val="0"/>
              </a:spcBef>
              <a:spcAft>
                <a:spcPct val="0"/>
              </a:spcAft>
            </a:pPr>
            <a:r>
              <a:rPr sz="1400" spc="-20">
                <a:solidFill>
                  <a:srgbClr val="000000"/>
                </a:solidFill>
                <a:latin typeface="Times New Roman"/>
                <a:cs typeface="Times New Roman"/>
              </a:rPr>
              <a:t>Facilitates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 an</a:t>
            </a:r>
            <a:r>
              <a:rPr sz="1400" spc="-8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18">
                <a:solidFill>
                  <a:srgbClr val="000000"/>
                </a:solidFill>
                <a:latin typeface="Times New Roman"/>
                <a:cs typeface="Times New Roman"/>
              </a:rPr>
              <a:t>end-</a:t>
            </a:r>
          </a:p>
          <a:p>
            <a:pPr marL="0" marR="0">
              <a:lnSpc>
                <a:spcPts val="1554"/>
              </a:lnSpc>
              <a:spcBef>
                <a:spcPts val="7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to-end</a:t>
            </a:r>
            <a:r>
              <a:rPr sz="1400" spc="-8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integration</a:t>
            </a:r>
          </a:p>
          <a:p>
            <a:pPr marL="0" marR="0">
              <a:lnSpc>
                <a:spcPts val="1554"/>
              </a:lnSpc>
              <a:spcBef>
                <a:spcPts val="12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from</a:t>
            </a:r>
            <a:r>
              <a:rPr sz="1400" spc="-6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18">
                <a:solidFill>
                  <a:srgbClr val="000000"/>
                </a:solidFill>
                <a:latin typeface="Times New Roman"/>
                <a:cs typeface="Times New Roman"/>
              </a:rPr>
              <a:t>data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6003925" y="4757006"/>
            <a:ext cx="1400527" cy="4494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7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processing</a:t>
            </a:r>
            <a:r>
              <a:rPr sz="1400" spc="-10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to</a:t>
            </a:r>
            <a:r>
              <a:rPr sz="1400" spc="-7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18">
                <a:solidFill>
                  <a:srgbClr val="000000"/>
                </a:solidFill>
                <a:latin typeface="Times New Roman"/>
                <a:cs typeface="Times New Roman"/>
              </a:rPr>
              <a:t>user</a:t>
            </a:r>
          </a:p>
          <a:p>
            <a:pPr marL="0" marR="0">
              <a:lnSpc>
                <a:spcPts val="1554"/>
              </a:lnSpc>
              <a:spcBef>
                <a:spcPts val="76"/>
              </a:spcBef>
              <a:spcAft>
                <a:spcPct val="0"/>
              </a:spcAft>
            </a:pPr>
            <a:r>
              <a:rPr sz="1400" spc="-10">
                <a:solidFill>
                  <a:srgbClr val="000000"/>
                </a:solidFill>
                <a:latin typeface="Times New Roman"/>
                <a:cs typeface="Times New Roman"/>
              </a:rPr>
              <a:t>deployment.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479145" y="6472150"/>
            <a:ext cx="1281881" cy="193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2"/>
              </a:lnSpc>
              <a:spcBef>
                <a:spcPct val="0"/>
              </a:spcBef>
              <a:spcAft>
                <a:spcPct val="0"/>
              </a:spcAft>
            </a:pP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Dept</a:t>
            </a:r>
            <a:r>
              <a:rPr sz="1100" i="1" spc="-2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1100" i="1" spc="-3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CSE,</a:t>
            </a:r>
            <a:r>
              <a:rPr sz="1100" i="1" spc="-1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 spc="-30">
                <a:solidFill>
                  <a:srgbClr val="000000"/>
                </a:solidFill>
                <a:latin typeface="Times New Roman"/>
                <a:cs typeface="Times New Roman"/>
              </a:rPr>
              <a:t>EWCE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6884162" y="6472150"/>
            <a:ext cx="1793581" cy="193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2"/>
              </a:lnSpc>
              <a:spcBef>
                <a:spcPct val="0"/>
              </a:spcBef>
              <a:spcAft>
                <a:spcPct val="0"/>
              </a:spcAft>
            </a:pP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Image Classification</a:t>
            </a:r>
            <a:r>
              <a:rPr sz="1100" i="1" spc="-6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using</a:t>
            </a:r>
            <a:r>
              <a:rPr sz="1100" i="1" spc="-10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 spc="-24">
                <a:solidFill>
                  <a:srgbClr val="000000"/>
                </a:solidFill>
                <a:latin typeface="Times New Roman"/>
                <a:cs typeface="Times New Roman"/>
              </a:rPr>
              <a:t>AI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508250" y="184878"/>
            <a:ext cx="4310248" cy="4890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50"/>
              </a:lnSpc>
              <a:spcBef>
                <a:spcPct val="0"/>
              </a:spcBef>
              <a:spcAft>
                <a:spcPct val="0"/>
              </a:spcAft>
            </a:pPr>
            <a:r>
              <a:rPr sz="3200" spc="-33">
                <a:solidFill>
                  <a:srgbClr val="DA1F28"/>
                </a:solidFill>
                <a:latin typeface="Times New Roman"/>
                <a:cs typeface="Times New Roman"/>
              </a:rPr>
              <a:t>LITERATURE</a:t>
            </a:r>
            <a:r>
              <a:rPr sz="3200" spc="-94">
                <a:solidFill>
                  <a:srgbClr val="DA1F28"/>
                </a:solidFill>
                <a:latin typeface="Times New Roman"/>
                <a:cs typeface="Times New Roman"/>
              </a:rPr>
              <a:t> </a:t>
            </a:r>
            <a:r>
              <a:rPr sz="3200" spc="-34">
                <a:solidFill>
                  <a:srgbClr val="DA1F28"/>
                </a:solidFill>
                <a:latin typeface="Times New Roman"/>
                <a:cs typeface="Times New Roman"/>
              </a:rPr>
              <a:t>SURVEY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32257" y="1273032"/>
            <a:ext cx="1339348" cy="235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Title</a:t>
            </a:r>
            <a:r>
              <a:rPr sz="1400" spc="-8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1400" spc="-14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1400" spc="-9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19">
                <a:solidFill>
                  <a:srgbClr val="000000"/>
                </a:solidFill>
                <a:latin typeface="Times New Roman"/>
                <a:cs typeface="Times New Roman"/>
              </a:rPr>
              <a:t>paper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91640" y="1273032"/>
            <a:ext cx="498829" cy="235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ct val="0"/>
              </a:spcBef>
              <a:spcAft>
                <a:spcPct val="0"/>
              </a:spcAft>
            </a:pPr>
            <a:r>
              <a:rPr sz="1400" spc="-24">
                <a:solidFill>
                  <a:srgbClr val="000000"/>
                </a:solidFill>
                <a:latin typeface="Times New Roman"/>
                <a:cs typeface="Times New Roman"/>
              </a:rPr>
              <a:t>Year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376805" y="1273032"/>
            <a:ext cx="726938" cy="235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Authors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067556" y="1273032"/>
            <a:ext cx="845781" cy="235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ct val="0"/>
              </a:spcBef>
              <a:spcAft>
                <a:spcPct val="0"/>
              </a:spcAft>
            </a:pPr>
            <a:r>
              <a:rPr sz="1400" spc="-17">
                <a:solidFill>
                  <a:srgbClr val="000000"/>
                </a:solidFill>
                <a:latin typeface="Times New Roman"/>
                <a:cs typeface="Times New Roman"/>
              </a:rPr>
              <a:t>Summary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119749" y="1273032"/>
            <a:ext cx="994139" cy="235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Advantages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840091" y="1273032"/>
            <a:ext cx="974549" cy="235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Limitations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89585" y="1770491"/>
            <a:ext cx="944686" cy="4489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“Exploring</a:t>
            </a:r>
          </a:p>
          <a:p>
            <a:pPr marL="0" marR="0">
              <a:lnSpc>
                <a:spcPts val="1554"/>
              </a:lnSpc>
              <a:spcBef>
                <a:spcPts val="75"/>
              </a:spcBef>
              <a:spcAft>
                <a:spcPct val="0"/>
              </a:spcAft>
            </a:pPr>
            <a:r>
              <a:rPr sz="1400" spc="-12">
                <a:solidFill>
                  <a:srgbClr val="000000"/>
                </a:solidFill>
                <a:latin typeface="Times New Roman"/>
                <a:cs typeface="Times New Roman"/>
              </a:rPr>
              <a:t>Hybrid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685544" y="1768695"/>
            <a:ext cx="1439909" cy="4494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7"/>
              </a:lnSpc>
              <a:spcBef>
                <a:spcPct val="0"/>
              </a:spcBef>
              <a:spcAft>
                <a:spcPct val="0"/>
              </a:spcAft>
            </a:pPr>
            <a:r>
              <a:rPr sz="1400" spc="-16">
                <a:solidFill>
                  <a:srgbClr val="000000"/>
                </a:solidFill>
                <a:latin typeface="Times New Roman"/>
                <a:cs typeface="Times New Roman"/>
              </a:rPr>
              <a:t>2025</a:t>
            </a:r>
            <a:r>
              <a:rPr sz="1400" spc="115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13">
                <a:solidFill>
                  <a:srgbClr val="000000"/>
                </a:solidFill>
                <a:latin typeface="Times New Roman"/>
                <a:cs typeface="Times New Roman"/>
              </a:rPr>
              <a:t>Dr.</a:t>
            </a:r>
            <a:r>
              <a:rPr sz="1400" spc="-6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20">
                <a:solidFill>
                  <a:srgbClr val="000000"/>
                </a:solidFill>
                <a:latin typeface="Times New Roman"/>
                <a:cs typeface="Times New Roman"/>
              </a:rPr>
              <a:t>Anil</a:t>
            </a:r>
          </a:p>
          <a:p>
            <a:pPr marL="538860" marR="0">
              <a:lnSpc>
                <a:spcPts val="1554"/>
              </a:lnSpc>
              <a:spcBef>
                <a:spcPts val="51"/>
              </a:spcBef>
              <a:spcAft>
                <a:spcPct val="0"/>
              </a:spcAft>
            </a:pPr>
            <a:r>
              <a:rPr sz="1400" spc="-19">
                <a:solidFill>
                  <a:srgbClr val="000000"/>
                </a:solidFill>
                <a:latin typeface="Times New Roman"/>
                <a:cs typeface="Times New Roman"/>
              </a:rPr>
              <a:t>Mehta,</a:t>
            </a:r>
            <a:r>
              <a:rPr sz="1400" spc="-4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25">
                <a:solidFill>
                  <a:srgbClr val="000000"/>
                </a:solidFill>
                <a:latin typeface="Times New Roman"/>
                <a:cs typeface="Times New Roman"/>
              </a:rPr>
              <a:t>Dr.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275965" y="1770491"/>
            <a:ext cx="1612275" cy="235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1400" spc="-5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article</a:t>
            </a:r>
            <a:r>
              <a:rPr sz="1400" spc="-7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10">
                <a:solidFill>
                  <a:srgbClr val="000000"/>
                </a:solidFill>
                <a:latin typeface="Times New Roman"/>
                <a:cs typeface="Times New Roman"/>
              </a:rPr>
              <a:t>examines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714111" y="1767331"/>
            <a:ext cx="214825" cy="2373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8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Arial"/>
                <a:cs typeface="Arial"/>
              </a:rPr>
              <a:t>•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003925" y="1769856"/>
            <a:ext cx="1344312" cy="34289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ct val="0"/>
              </a:spcBef>
              <a:spcAft>
                <a:spcPct val="0"/>
              </a:spcAft>
            </a:pPr>
            <a:r>
              <a:rPr sz="1400" spc="-20">
                <a:solidFill>
                  <a:srgbClr val="000000"/>
                </a:solidFill>
                <a:latin typeface="Times New Roman"/>
                <a:cs typeface="Times New Roman"/>
              </a:rPr>
              <a:t>Enhances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 feature</a:t>
            </a:r>
          </a:p>
          <a:p>
            <a:pPr marL="0" marR="0">
              <a:lnSpc>
                <a:spcPts val="1554"/>
              </a:lnSpc>
              <a:spcBef>
                <a:spcPts val="7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extraction</a:t>
            </a:r>
          </a:p>
          <a:p>
            <a:pPr marL="0" marR="0">
              <a:lnSpc>
                <a:spcPts val="1554"/>
              </a:lnSpc>
              <a:spcBef>
                <a:spcPts val="12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capabilities,</a:t>
            </a:r>
          </a:p>
          <a:p>
            <a:pPr marL="0" marR="0">
              <a:lnSpc>
                <a:spcPts val="1554"/>
              </a:lnSpc>
              <a:spcBef>
                <a:spcPts val="12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improving</a:t>
            </a:r>
          </a:p>
          <a:p>
            <a:pPr marL="0" marR="0">
              <a:lnSpc>
                <a:spcPts val="1554"/>
              </a:lnSpc>
              <a:spcBef>
                <a:spcPts val="12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accuracy</a:t>
            </a:r>
            <a:r>
              <a:rPr sz="1400" spc="-2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16">
                <a:solidFill>
                  <a:srgbClr val="000000"/>
                </a:solidFill>
                <a:latin typeface="Times New Roman"/>
                <a:cs typeface="Times New Roman"/>
              </a:rPr>
              <a:t>on</a:t>
            </a:r>
          </a:p>
          <a:p>
            <a:pPr marL="0" marR="0">
              <a:lnSpc>
                <a:spcPts val="1554"/>
              </a:lnSpc>
              <a:spcBef>
                <a:spcPts val="125"/>
              </a:spcBef>
              <a:spcAft>
                <a:spcPct val="0"/>
              </a:spcAft>
            </a:pPr>
            <a:r>
              <a:rPr sz="1400" spc="-11">
                <a:solidFill>
                  <a:srgbClr val="000000"/>
                </a:solidFill>
                <a:latin typeface="Times New Roman"/>
                <a:cs typeface="Times New Roman"/>
              </a:rPr>
              <a:t>complex</a:t>
            </a:r>
            <a:r>
              <a:rPr sz="1400" spc="-6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11">
                <a:solidFill>
                  <a:srgbClr val="000000"/>
                </a:solidFill>
                <a:latin typeface="Times New Roman"/>
                <a:cs typeface="Times New Roman"/>
              </a:rPr>
              <a:t>images.</a:t>
            </a:r>
          </a:p>
          <a:p>
            <a:pPr marL="0" marR="0">
              <a:lnSpc>
                <a:spcPts val="1554"/>
              </a:lnSpc>
              <a:spcBef>
                <a:spcPts val="7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Provides</a:t>
            </a:r>
            <a:r>
              <a:rPr sz="1400" spc="-5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better</a:t>
            </a:r>
          </a:p>
          <a:p>
            <a:pPr marL="0" marR="0">
              <a:lnSpc>
                <a:spcPts val="1557"/>
              </a:lnSpc>
              <a:spcBef>
                <a:spcPts val="99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interpretability</a:t>
            </a:r>
          </a:p>
          <a:p>
            <a:pPr marL="0" marR="0">
              <a:lnSpc>
                <a:spcPts val="1554"/>
              </a:lnSpc>
              <a:spcBef>
                <a:spcPts val="115"/>
              </a:spcBef>
              <a:spcAft>
                <a:spcPct val="0"/>
              </a:spcAft>
            </a:pPr>
            <a:r>
              <a:rPr sz="1400" spc="-17">
                <a:solidFill>
                  <a:srgbClr val="000000"/>
                </a:solidFill>
                <a:latin typeface="Times New Roman"/>
                <a:cs typeface="Times New Roman"/>
              </a:rPr>
              <a:t>through</a:t>
            </a:r>
            <a:r>
              <a:rPr sz="1400" spc="-5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18">
                <a:solidFill>
                  <a:srgbClr val="000000"/>
                </a:solidFill>
                <a:latin typeface="Times New Roman"/>
                <a:cs typeface="Times New Roman"/>
              </a:rPr>
              <a:t>attention</a:t>
            </a:r>
          </a:p>
          <a:p>
            <a:pPr marL="0" marR="0">
              <a:lnSpc>
                <a:spcPts val="1554"/>
              </a:lnSpc>
              <a:spcBef>
                <a:spcPts val="51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visualizations.</a:t>
            </a:r>
          </a:p>
          <a:p>
            <a:pPr marL="0" marR="0">
              <a:lnSpc>
                <a:spcPts val="1554"/>
              </a:lnSpc>
              <a:spcBef>
                <a:spcPts val="125"/>
              </a:spcBef>
              <a:spcAft>
                <a:spcPct val="0"/>
              </a:spcAft>
            </a:pPr>
            <a:r>
              <a:rPr sz="1400" spc="-10">
                <a:solidFill>
                  <a:srgbClr val="000000"/>
                </a:solidFill>
                <a:latin typeface="Times New Roman"/>
                <a:cs typeface="Times New Roman"/>
              </a:rPr>
              <a:t>Demonstrates</a:t>
            </a:r>
          </a:p>
          <a:p>
            <a:pPr marL="0" marR="0">
              <a:lnSpc>
                <a:spcPts val="1554"/>
              </a:lnSpc>
              <a:spcBef>
                <a:spcPts val="12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potential</a:t>
            </a:r>
          </a:p>
          <a:p>
            <a:pPr marL="0" marR="0">
              <a:lnSpc>
                <a:spcPts val="1554"/>
              </a:lnSpc>
              <a:spcBef>
                <a:spcPts val="12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applicability</a:t>
            </a:r>
            <a:r>
              <a:rPr sz="1400" spc="-17">
                <a:solidFill>
                  <a:srgbClr val="000000"/>
                </a:solidFill>
                <a:latin typeface="Times New Roman"/>
                <a:cs typeface="Times New Roman"/>
              </a:rPr>
              <a:t> in</a:t>
            </a:r>
          </a:p>
          <a:p>
            <a:pPr marL="0" marR="0">
              <a:lnSpc>
                <a:spcPts val="1554"/>
              </a:lnSpc>
              <a:spcBef>
                <a:spcPts val="75"/>
              </a:spcBef>
              <a:spcAft>
                <a:spcPct val="0"/>
              </a:spcAft>
            </a:pPr>
            <a:r>
              <a:rPr sz="1400" spc="-32">
                <a:solidFill>
                  <a:srgbClr val="000000"/>
                </a:solidFill>
                <a:latin typeface="Times New Roman"/>
                <a:cs typeface="Times New Roman"/>
              </a:rPr>
              <a:t>critical</a:t>
            </a:r>
            <a:r>
              <a:rPr sz="1400" spc="-4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22">
                <a:solidFill>
                  <a:srgbClr val="000000"/>
                </a:solidFill>
                <a:latin typeface="Times New Roman"/>
                <a:cs typeface="Times New Roman"/>
              </a:rPr>
              <a:t>domains</a:t>
            </a:r>
          </a:p>
          <a:p>
            <a:pPr marL="0" marR="0">
              <a:lnSpc>
                <a:spcPts val="1557"/>
              </a:lnSpc>
              <a:spcBef>
                <a:spcPts val="123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like</a:t>
            </a:r>
            <a:r>
              <a:rPr sz="1400" spc="-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12">
                <a:solidFill>
                  <a:srgbClr val="000000"/>
                </a:solidFill>
                <a:latin typeface="Times New Roman"/>
                <a:cs typeface="Times New Roman"/>
              </a:rPr>
              <a:t>medical</a:t>
            </a:r>
          </a:p>
          <a:p>
            <a:pPr marL="0" marR="0">
              <a:lnSpc>
                <a:spcPts val="1554"/>
              </a:lnSpc>
              <a:spcBef>
                <a:spcPts val="126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imaging.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529194" y="1767331"/>
            <a:ext cx="214825" cy="2373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8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Arial"/>
                <a:cs typeface="Arial"/>
              </a:rPr>
              <a:t>•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815706" y="1769856"/>
            <a:ext cx="835420" cy="235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Increased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3275965" y="1983851"/>
            <a:ext cx="2255065" cy="17293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combining</a:t>
            </a:r>
            <a:r>
              <a:rPr sz="1400" spc="-8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different</a:t>
            </a:r>
            <a:r>
              <a:rPr sz="1400" spc="-8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20">
                <a:solidFill>
                  <a:srgbClr val="000000"/>
                </a:solidFill>
                <a:latin typeface="Times New Roman"/>
                <a:cs typeface="Times New Roman"/>
              </a:rPr>
              <a:t>deep</a:t>
            </a:r>
          </a:p>
          <a:p>
            <a:pPr marL="0" marR="0">
              <a:lnSpc>
                <a:spcPts val="1554"/>
              </a:lnSpc>
              <a:spcBef>
                <a:spcPts val="7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learning</a:t>
            </a:r>
            <a:r>
              <a:rPr sz="1400" spc="-7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models,</a:t>
            </a:r>
            <a:r>
              <a:rPr sz="1400" spc="-3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like</a:t>
            </a:r>
            <a:r>
              <a:rPr sz="1400" spc="-7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25">
                <a:solidFill>
                  <a:srgbClr val="000000"/>
                </a:solidFill>
                <a:latin typeface="Times New Roman"/>
                <a:cs typeface="Times New Roman"/>
              </a:rPr>
              <a:t>CNNs</a:t>
            </a:r>
          </a:p>
          <a:p>
            <a:pPr marL="0" marR="0">
              <a:lnSpc>
                <a:spcPts val="1554"/>
              </a:lnSpc>
              <a:spcBef>
                <a:spcPts val="12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sz="1400" spc="-5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transformers,</a:t>
            </a:r>
            <a:r>
              <a:rPr sz="1400" spc="-4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to</a:t>
            </a:r>
            <a:r>
              <a:rPr sz="1400" spc="-6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enhance</a:t>
            </a:r>
          </a:p>
          <a:p>
            <a:pPr marL="0" marR="0">
              <a:lnSpc>
                <a:spcPts val="1554"/>
              </a:lnSpc>
              <a:spcBef>
                <a:spcPts val="12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image</a:t>
            </a:r>
            <a:r>
              <a:rPr sz="1400" spc="-4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recognition</a:t>
            </a:r>
          </a:p>
          <a:p>
            <a:pPr marL="0" marR="0">
              <a:lnSpc>
                <a:spcPts val="1554"/>
              </a:lnSpc>
              <a:spcBef>
                <a:spcPts val="125"/>
              </a:spcBef>
              <a:spcAft>
                <a:spcPct val="0"/>
              </a:spcAft>
            </a:pPr>
            <a:r>
              <a:rPr sz="1400" spc="-10">
                <a:solidFill>
                  <a:srgbClr val="000000"/>
                </a:solidFill>
                <a:latin typeface="Times New Roman"/>
                <a:cs typeface="Times New Roman"/>
              </a:rPr>
              <a:t>performance.</a:t>
            </a:r>
            <a:r>
              <a:rPr sz="1400" spc="-5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10">
                <a:solidFill>
                  <a:srgbClr val="000000"/>
                </a:solidFill>
                <a:latin typeface="Times New Roman"/>
                <a:cs typeface="Times New Roman"/>
              </a:rPr>
              <a:t>It</a:t>
            </a:r>
            <a:r>
              <a:rPr sz="1400" spc="-8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discusses</a:t>
            </a:r>
            <a:r>
              <a:rPr sz="1400" spc="-4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16">
                <a:solidFill>
                  <a:srgbClr val="000000"/>
                </a:solidFill>
                <a:latin typeface="Times New Roman"/>
                <a:cs typeface="Times New Roman"/>
              </a:rPr>
              <a:t>how</a:t>
            </a:r>
          </a:p>
          <a:p>
            <a:pPr marL="0" marR="0">
              <a:lnSpc>
                <a:spcPts val="1557"/>
              </a:lnSpc>
              <a:spcBef>
                <a:spcPts val="123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hybrid</a:t>
            </a:r>
            <a:r>
              <a:rPr sz="1400" spc="-8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architectures</a:t>
            </a:r>
            <a:r>
              <a:rPr sz="1400" spc="-8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leverage</a:t>
            </a:r>
          </a:p>
          <a:p>
            <a:pPr marL="0" marR="0">
              <a:lnSpc>
                <a:spcPts val="1554"/>
              </a:lnSpc>
              <a:spcBef>
                <a:spcPts val="76"/>
              </a:spcBef>
              <a:spcAft>
                <a:spcPct val="0"/>
              </a:spcAft>
            </a:pPr>
            <a:r>
              <a:rPr sz="1400" spc="-17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1400" spc="-10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strengths</a:t>
            </a:r>
            <a:r>
              <a:rPr sz="1400" spc="-3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1400" spc="-14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each</a:t>
            </a:r>
            <a:r>
              <a:rPr sz="1400" spc="-8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model</a:t>
            </a:r>
            <a:r>
              <a:rPr sz="1400" spc="-1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17">
                <a:solidFill>
                  <a:srgbClr val="000000"/>
                </a:solidFill>
                <a:latin typeface="Times New Roman"/>
                <a:cs typeface="Times New Roman"/>
              </a:rPr>
              <a:t>to</a:t>
            </a:r>
          </a:p>
          <a:p>
            <a:pPr marL="0" marR="0">
              <a:lnSpc>
                <a:spcPts val="1554"/>
              </a:lnSpc>
              <a:spcBef>
                <a:spcPts val="12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improve</a:t>
            </a:r>
            <a:r>
              <a:rPr sz="1400" spc="-7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accuracy</a:t>
            </a:r>
            <a:r>
              <a:rPr sz="1400" spc="-9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19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7815706" y="1983216"/>
            <a:ext cx="1239774" cy="25829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computational</a:t>
            </a:r>
          </a:p>
          <a:p>
            <a:pPr marL="0" marR="0">
              <a:lnSpc>
                <a:spcPts val="1554"/>
              </a:lnSpc>
              <a:spcBef>
                <a:spcPts val="7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complexity</a:t>
            </a:r>
          </a:p>
          <a:p>
            <a:pPr marL="0" marR="0">
              <a:lnSpc>
                <a:spcPts val="1554"/>
              </a:lnSpc>
              <a:spcBef>
                <a:spcPts val="12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may limit</a:t>
            </a:r>
            <a:r>
              <a:rPr sz="1400" spc="-3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20">
                <a:solidFill>
                  <a:srgbClr val="000000"/>
                </a:solidFill>
                <a:latin typeface="Times New Roman"/>
                <a:cs typeface="Times New Roman"/>
              </a:rPr>
              <a:t>real-</a:t>
            </a:r>
          </a:p>
          <a:p>
            <a:pPr marL="0" marR="0">
              <a:lnSpc>
                <a:spcPts val="1554"/>
              </a:lnSpc>
              <a:spcBef>
                <a:spcPts val="125"/>
              </a:spcBef>
              <a:spcAft>
                <a:spcPct val="0"/>
              </a:spcAft>
            </a:pPr>
            <a:r>
              <a:rPr sz="1400" spc="-26">
                <a:solidFill>
                  <a:srgbClr val="000000"/>
                </a:solidFill>
                <a:latin typeface="Times New Roman"/>
                <a:cs typeface="Times New Roman"/>
              </a:rPr>
              <a:t>time</a:t>
            </a:r>
          </a:p>
          <a:p>
            <a:pPr marL="0" marR="0">
              <a:lnSpc>
                <a:spcPts val="1554"/>
              </a:lnSpc>
              <a:spcBef>
                <a:spcPts val="125"/>
              </a:spcBef>
              <a:spcAft>
                <a:spcPct val="0"/>
              </a:spcAft>
            </a:pPr>
            <a:r>
              <a:rPr sz="1400" spc="-23">
                <a:solidFill>
                  <a:srgbClr val="000000"/>
                </a:solidFill>
                <a:latin typeface="Times New Roman"/>
                <a:cs typeface="Times New Roman"/>
              </a:rPr>
              <a:t>performance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16">
                <a:solidFill>
                  <a:srgbClr val="000000"/>
                </a:solidFill>
                <a:latin typeface="Times New Roman"/>
                <a:cs typeface="Times New Roman"/>
              </a:rPr>
              <a:t>on</a:t>
            </a:r>
          </a:p>
          <a:p>
            <a:pPr marL="0" marR="0">
              <a:lnSpc>
                <a:spcPts val="1554"/>
              </a:lnSpc>
              <a:spcBef>
                <a:spcPts val="12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resource-</a:t>
            </a:r>
          </a:p>
          <a:p>
            <a:pPr marL="0" marR="0">
              <a:lnSpc>
                <a:spcPts val="1557"/>
              </a:lnSpc>
              <a:spcBef>
                <a:spcPts val="73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constrained</a:t>
            </a:r>
          </a:p>
          <a:p>
            <a:pPr marL="0" marR="0">
              <a:lnSpc>
                <a:spcPts val="1554"/>
              </a:lnSpc>
              <a:spcBef>
                <a:spcPts val="127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devices.</a:t>
            </a:r>
          </a:p>
          <a:p>
            <a:pPr marL="0" marR="0">
              <a:lnSpc>
                <a:spcPts val="1554"/>
              </a:lnSpc>
              <a:spcBef>
                <a:spcPts val="125"/>
              </a:spcBef>
              <a:spcAft>
                <a:spcPct val="0"/>
              </a:spcAft>
            </a:pPr>
            <a:r>
              <a:rPr sz="1400" spc="-19">
                <a:solidFill>
                  <a:srgbClr val="000000"/>
                </a:solidFill>
                <a:latin typeface="Times New Roman"/>
                <a:cs typeface="Times New Roman"/>
              </a:rPr>
              <a:t>Future</a:t>
            </a:r>
            <a:r>
              <a:rPr sz="1400" spc="-6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research</a:t>
            </a:r>
          </a:p>
          <a:p>
            <a:pPr marL="0" marR="0">
              <a:lnSpc>
                <a:spcPts val="1554"/>
              </a:lnSpc>
              <a:spcBef>
                <a:spcPts val="12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is</a:t>
            </a:r>
            <a:r>
              <a:rPr sz="1400" spc="-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needed</a:t>
            </a:r>
            <a:r>
              <a:rPr sz="1400" spc="-6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17">
                <a:solidFill>
                  <a:srgbClr val="000000"/>
                </a:solidFill>
                <a:latin typeface="Times New Roman"/>
                <a:cs typeface="Times New Roman"/>
              </a:rPr>
              <a:t>to</a:t>
            </a:r>
          </a:p>
          <a:p>
            <a:pPr marL="0" marR="0">
              <a:lnSpc>
                <a:spcPts val="1554"/>
              </a:lnSpc>
              <a:spcBef>
                <a:spcPts val="12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optimize</a:t>
            </a:r>
            <a:r>
              <a:rPr sz="1400" spc="-6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17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</a:p>
          <a:p>
            <a:pPr marL="0" marR="0">
              <a:lnSpc>
                <a:spcPts val="1554"/>
              </a:lnSpc>
              <a:spcBef>
                <a:spcPts val="7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model</a:t>
            </a:r>
            <a:r>
              <a:rPr sz="1400" spc="-1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19">
                <a:solidFill>
                  <a:srgbClr val="000000"/>
                </a:solidFill>
                <a:latin typeface="Times New Roman"/>
                <a:cs typeface="Times New Roman"/>
              </a:rPr>
              <a:t>for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89585" y="2197211"/>
            <a:ext cx="1325747" cy="1089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ct val="0"/>
              </a:spcBef>
              <a:spcAft>
                <a:spcPct val="0"/>
              </a:spcAft>
            </a:pPr>
            <a:r>
              <a:rPr sz="1400" spc="-20">
                <a:solidFill>
                  <a:srgbClr val="000000"/>
                </a:solidFill>
                <a:latin typeface="Times New Roman"/>
                <a:cs typeface="Times New Roman"/>
              </a:rPr>
              <a:t>Architectures</a:t>
            </a:r>
            <a:r>
              <a:rPr sz="1400" spc="1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19">
                <a:solidFill>
                  <a:srgbClr val="000000"/>
                </a:solidFill>
                <a:latin typeface="Times New Roman"/>
                <a:cs typeface="Times New Roman"/>
              </a:rPr>
              <a:t>for</a:t>
            </a:r>
          </a:p>
          <a:p>
            <a:pPr marL="0" marR="0">
              <a:lnSpc>
                <a:spcPts val="1554"/>
              </a:lnSpc>
              <a:spcBef>
                <a:spcPts val="75"/>
              </a:spcBef>
              <a:spcAft>
                <a:spcPct val="0"/>
              </a:spcAft>
            </a:pPr>
            <a:r>
              <a:rPr sz="1400" spc="-10">
                <a:solidFill>
                  <a:srgbClr val="000000"/>
                </a:solidFill>
                <a:latin typeface="Times New Roman"/>
                <a:cs typeface="Times New Roman"/>
              </a:rPr>
              <a:t>Improved</a:t>
            </a:r>
            <a:r>
              <a:rPr sz="1400" spc="-6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14">
                <a:solidFill>
                  <a:srgbClr val="000000"/>
                </a:solidFill>
                <a:latin typeface="Times New Roman"/>
                <a:cs typeface="Times New Roman"/>
              </a:rPr>
              <a:t>Image</a:t>
            </a:r>
          </a:p>
          <a:p>
            <a:pPr marL="0" marR="0">
              <a:lnSpc>
                <a:spcPts val="1554"/>
              </a:lnSpc>
              <a:spcBef>
                <a:spcPts val="12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Recognition:</a:t>
            </a:r>
            <a:r>
              <a:rPr sz="1400" spc="-11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</a:p>
          <a:p>
            <a:pPr marL="0" marR="0">
              <a:lnSpc>
                <a:spcPts val="1554"/>
              </a:lnSpc>
              <a:spcBef>
                <a:spcPts val="12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Deep</a:t>
            </a:r>
            <a:r>
              <a:rPr sz="1400" spc="-1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Learning</a:t>
            </a:r>
          </a:p>
          <a:p>
            <a:pPr marL="0" marR="0">
              <a:lnSpc>
                <a:spcPts val="1557"/>
              </a:lnSpc>
              <a:spcBef>
                <a:spcPts val="123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Approach”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224405" y="2195941"/>
            <a:ext cx="846596" cy="235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Priya</a:t>
            </a:r>
            <a:r>
              <a:rPr sz="1400" spc="-4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22">
                <a:solidFill>
                  <a:srgbClr val="000000"/>
                </a:solidFill>
                <a:latin typeface="Times New Roman"/>
                <a:cs typeface="Times New Roman"/>
              </a:rPr>
              <a:t>Rao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5714111" y="3047491"/>
            <a:ext cx="214825" cy="10835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8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Arial"/>
                <a:cs typeface="Arial"/>
              </a:rPr>
              <a:t>•</a:t>
            </a:r>
          </a:p>
          <a:p>
            <a:pPr marL="0" marR="0">
              <a:lnSpc>
                <a:spcPts val="1568"/>
              </a:lnSpc>
              <a:spcBef>
                <a:spcPts val="5044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Arial"/>
                <a:cs typeface="Arial"/>
              </a:rPr>
              <a:t>•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3275965" y="3690985"/>
            <a:ext cx="2214142" cy="4489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efficiency</a:t>
            </a:r>
            <a:r>
              <a:rPr sz="1400" spc="-6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in</a:t>
            </a:r>
            <a:r>
              <a:rPr sz="1400" spc="-6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tasks</a:t>
            </a:r>
            <a:r>
              <a:rPr sz="1400" spc="-4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like</a:t>
            </a:r>
            <a:r>
              <a:rPr sz="1400" spc="-6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object</a:t>
            </a:r>
          </a:p>
          <a:p>
            <a:pPr marL="0" marR="0">
              <a:lnSpc>
                <a:spcPts val="1554"/>
              </a:lnSpc>
              <a:spcBef>
                <a:spcPts val="7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detection</a:t>
            </a:r>
            <a:r>
              <a:rPr sz="1400" spc="-8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sz="1400" spc="-3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classification.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7529194" y="3687952"/>
            <a:ext cx="214825" cy="2373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8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Arial"/>
                <a:cs typeface="Arial"/>
              </a:rPr>
              <a:t>•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7815706" y="4543917"/>
            <a:ext cx="1206775" cy="4489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mobile</a:t>
            </a:r>
            <a:r>
              <a:rPr sz="1400" spc="6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000000"/>
                </a:solidFill>
                <a:latin typeface="Times New Roman"/>
                <a:cs typeface="Times New Roman"/>
              </a:rPr>
              <a:t>or</a:t>
            </a:r>
            <a:r>
              <a:rPr sz="1400" spc="-10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spc="-18">
                <a:solidFill>
                  <a:srgbClr val="000000"/>
                </a:solidFill>
                <a:latin typeface="Times New Roman"/>
                <a:cs typeface="Times New Roman"/>
              </a:rPr>
              <a:t>edge</a:t>
            </a:r>
          </a:p>
          <a:p>
            <a:pPr marL="0" marR="0">
              <a:lnSpc>
                <a:spcPts val="1557"/>
              </a:lnSpc>
              <a:spcBef>
                <a:spcPts val="73"/>
              </a:spcBef>
              <a:spcAft>
                <a:spcPct val="0"/>
              </a:spcAft>
            </a:pPr>
            <a:r>
              <a:rPr sz="1400" spc="-10">
                <a:solidFill>
                  <a:srgbClr val="000000"/>
                </a:solidFill>
                <a:latin typeface="Times New Roman"/>
                <a:cs typeface="Times New Roman"/>
              </a:rPr>
              <a:t>deployments.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479145" y="6472150"/>
            <a:ext cx="1281881" cy="193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2"/>
              </a:lnSpc>
              <a:spcBef>
                <a:spcPct val="0"/>
              </a:spcBef>
              <a:spcAft>
                <a:spcPct val="0"/>
              </a:spcAft>
            </a:pP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Dept</a:t>
            </a:r>
            <a:r>
              <a:rPr sz="1100" i="1" spc="-2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1100" i="1" spc="-3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CSE,</a:t>
            </a:r>
            <a:r>
              <a:rPr sz="1100" i="1" spc="-1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 spc="-30">
                <a:solidFill>
                  <a:srgbClr val="000000"/>
                </a:solidFill>
                <a:latin typeface="Times New Roman"/>
                <a:cs typeface="Times New Roman"/>
              </a:rPr>
              <a:t>EWCE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6884162" y="6472150"/>
            <a:ext cx="1793581" cy="193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2"/>
              </a:lnSpc>
              <a:spcBef>
                <a:spcPct val="0"/>
              </a:spcBef>
              <a:spcAft>
                <a:spcPct val="0"/>
              </a:spcAft>
            </a:pP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Image Classification</a:t>
            </a:r>
            <a:r>
              <a:rPr sz="1100" i="1" spc="-6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using</a:t>
            </a:r>
            <a:r>
              <a:rPr sz="1100" i="1" spc="-10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 spc="-24">
                <a:solidFill>
                  <a:srgbClr val="000000"/>
                </a:solidFill>
                <a:latin typeface="Times New Roman"/>
                <a:cs typeface="Times New Roman"/>
              </a:rPr>
              <a:t>AI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015361" y="255889"/>
            <a:ext cx="3294612" cy="4887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48"/>
              </a:lnSpc>
              <a:spcBef>
                <a:spcPct val="0"/>
              </a:spcBef>
              <a:spcAft>
                <a:spcPct val="0"/>
              </a:spcAft>
            </a:pPr>
            <a:r>
              <a:rPr sz="3200">
                <a:solidFill>
                  <a:srgbClr val="DA1F28"/>
                </a:solidFill>
                <a:latin typeface="Times New Roman"/>
                <a:cs typeface="Times New Roman"/>
              </a:rPr>
              <a:t>REQUIREMENTS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97180" y="1077748"/>
            <a:ext cx="2757812" cy="7984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19"/>
              </a:lnSpc>
              <a:spcBef>
                <a:spcPct val="0"/>
              </a:spcBef>
              <a:spcAft>
                <a:spcPct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  <a:cs typeface="Times New Roman"/>
              </a:rPr>
              <a:t>Software</a:t>
            </a:r>
            <a:r>
              <a:rPr sz="2000" b="1" spc="-12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 spc="-10">
                <a:solidFill>
                  <a:srgbClr val="000000"/>
                </a:solidFill>
                <a:latin typeface="Times New Roman"/>
                <a:cs typeface="Times New Roman"/>
              </a:rPr>
              <a:t>Requirements:</a:t>
            </a:r>
          </a:p>
          <a:p>
            <a:pPr marL="0" marR="0">
              <a:lnSpc>
                <a:spcPts val="2238"/>
              </a:lnSpc>
              <a:spcBef>
                <a:spcPts val="157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000" spc="151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10">
                <a:solidFill>
                  <a:srgbClr val="000000"/>
                </a:solidFill>
                <a:latin typeface="Times New Roman"/>
                <a:cs typeface="Times New Roman"/>
              </a:rPr>
              <a:t>Python</a:t>
            </a:r>
            <a:r>
              <a:rPr sz="2000" spc="-10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18">
                <a:solidFill>
                  <a:srgbClr val="000000"/>
                </a:solidFill>
                <a:latin typeface="Times New Roman"/>
                <a:cs typeface="Times New Roman"/>
              </a:rPr>
              <a:t>3.x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97180" y="2009880"/>
            <a:ext cx="2374590" cy="7808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8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000" spc="151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37">
                <a:solidFill>
                  <a:srgbClr val="000000"/>
                </a:solidFill>
                <a:latin typeface="Times New Roman"/>
                <a:cs typeface="Times New Roman"/>
              </a:rPr>
              <a:t>TensorFlow,</a:t>
            </a:r>
            <a:r>
              <a:rPr sz="2000" spc="-10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Keras</a:t>
            </a:r>
          </a:p>
          <a:p>
            <a:pPr marL="0" marR="0">
              <a:lnSpc>
                <a:spcPts val="2241"/>
              </a:lnSpc>
              <a:spcBef>
                <a:spcPts val="135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000" spc="151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14">
                <a:solidFill>
                  <a:srgbClr val="000000"/>
                </a:solidFill>
                <a:latin typeface="Times New Roman"/>
                <a:cs typeface="Times New Roman"/>
              </a:rPr>
              <a:t>Streamlit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97180" y="2924534"/>
            <a:ext cx="5535110" cy="7807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8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000" spc="151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OpenCV</a:t>
            </a:r>
            <a:r>
              <a:rPr sz="2000" spc="-11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/</a:t>
            </a:r>
            <a:r>
              <a:rPr sz="2000" spc="-10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PIL</a:t>
            </a:r>
            <a:r>
              <a:rPr sz="2000" spc="-15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(Optional</a:t>
            </a:r>
            <a:r>
              <a:rPr sz="2000" spc="-12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for</a:t>
            </a:r>
            <a:r>
              <a:rPr sz="2000" spc="-10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image</a:t>
            </a:r>
            <a:r>
              <a:rPr sz="2000" spc="-2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preprocessing)</a:t>
            </a:r>
          </a:p>
          <a:p>
            <a:pPr marL="0" marR="0">
              <a:lnSpc>
                <a:spcPts val="2238"/>
              </a:lnSpc>
              <a:spcBef>
                <a:spcPts val="1352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000" spc="151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Optionally</a:t>
            </a:r>
            <a:r>
              <a:rPr sz="2000" spc="-15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Flask</a:t>
            </a:r>
            <a:r>
              <a:rPr sz="2000" spc="-9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/</a:t>
            </a:r>
            <a:r>
              <a:rPr sz="2000" spc="-13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FastAPI</a:t>
            </a:r>
            <a:r>
              <a:rPr sz="2000" spc="-5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(if</a:t>
            </a:r>
            <a:r>
              <a:rPr sz="2000" spc="-13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10">
                <a:solidFill>
                  <a:srgbClr val="000000"/>
                </a:solidFill>
                <a:latin typeface="Times New Roman"/>
                <a:cs typeface="Times New Roman"/>
              </a:rPr>
              <a:t>separating</a:t>
            </a:r>
            <a:r>
              <a:rPr sz="2000" spc="-8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backend)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97180" y="4087630"/>
            <a:ext cx="2897130" cy="320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1"/>
              </a:lnSpc>
              <a:spcBef>
                <a:spcPct val="0"/>
              </a:spcBef>
              <a:spcAft>
                <a:spcPct val="0"/>
              </a:spcAft>
            </a:pPr>
            <a:r>
              <a:rPr sz="2000" b="1" spc="-21">
                <a:solidFill>
                  <a:srgbClr val="000000"/>
                </a:solidFill>
                <a:latin typeface="Times New Roman"/>
                <a:cs typeface="Times New Roman"/>
              </a:rPr>
              <a:t>Hardware</a:t>
            </a:r>
            <a:r>
              <a:rPr sz="2000" b="1" spc="-4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 spc="-10">
                <a:solidFill>
                  <a:srgbClr val="000000"/>
                </a:solidFill>
                <a:latin typeface="Times New Roman"/>
                <a:cs typeface="Times New Roman"/>
              </a:rPr>
              <a:t>Requirements: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97180" y="4563215"/>
            <a:ext cx="5624706" cy="12379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8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000" spc="151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GPU</a:t>
            </a:r>
            <a:r>
              <a:rPr sz="2000" spc="-11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(for</a:t>
            </a:r>
            <a:r>
              <a:rPr sz="2000" spc="-15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training</a:t>
            </a:r>
            <a:r>
              <a:rPr sz="2000" spc="-13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phase,</a:t>
            </a:r>
            <a:r>
              <a:rPr sz="2000" spc="-11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optional</a:t>
            </a:r>
            <a:r>
              <a:rPr sz="2000" spc="-18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during</a:t>
            </a:r>
            <a:r>
              <a:rPr sz="2000" spc="-11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10">
                <a:solidFill>
                  <a:srgbClr val="000000"/>
                </a:solidFill>
                <a:latin typeface="Times New Roman"/>
                <a:cs typeface="Times New Roman"/>
              </a:rPr>
              <a:t>inference)</a:t>
            </a:r>
          </a:p>
          <a:p>
            <a:pPr marL="0" marR="0">
              <a:lnSpc>
                <a:spcPts val="2238"/>
              </a:lnSpc>
              <a:spcBef>
                <a:spcPts val="1352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000" spc="151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27">
                <a:solidFill>
                  <a:srgbClr val="000000"/>
                </a:solidFill>
                <a:latin typeface="Times New Roman"/>
                <a:cs typeface="Times New Roman"/>
              </a:rPr>
              <a:t>Minimum</a:t>
            </a:r>
            <a:r>
              <a:rPr sz="2000" spc="-10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8</a:t>
            </a:r>
            <a:r>
              <a:rPr sz="2000" spc="-2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GB</a:t>
            </a:r>
            <a:r>
              <a:rPr sz="2000" spc="-11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11">
                <a:solidFill>
                  <a:srgbClr val="000000"/>
                </a:solidFill>
                <a:latin typeface="Times New Roman"/>
                <a:cs typeface="Times New Roman"/>
              </a:rPr>
              <a:t>RAM,</a:t>
            </a:r>
            <a:r>
              <a:rPr sz="2000" spc="-7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recommended</a:t>
            </a:r>
            <a:r>
              <a:rPr sz="2000" spc="-6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16GB+</a:t>
            </a:r>
          </a:p>
          <a:p>
            <a:pPr marL="0" marR="0">
              <a:lnSpc>
                <a:spcPts val="2241"/>
              </a:lnSpc>
              <a:spcBef>
                <a:spcPts val="1399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000" spc="151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Sufficient</a:t>
            </a:r>
            <a:r>
              <a:rPr sz="2000" spc="-13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storage</a:t>
            </a:r>
            <a:r>
              <a:rPr sz="2000" spc="-11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for</a:t>
            </a:r>
            <a:r>
              <a:rPr sz="2000" spc="-12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11">
                <a:solidFill>
                  <a:srgbClr val="000000"/>
                </a:solidFill>
                <a:latin typeface="Times New Roman"/>
                <a:cs typeface="Times New Roman"/>
              </a:rPr>
              <a:t>dataset</a:t>
            </a:r>
            <a:r>
              <a:rPr sz="2000" spc="-12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sz="2000" spc="-10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13">
                <a:solidFill>
                  <a:srgbClr val="000000"/>
                </a:solidFill>
                <a:latin typeface="Times New Roman"/>
                <a:cs typeface="Times New Roman"/>
              </a:rPr>
              <a:t>models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79145" y="6472150"/>
            <a:ext cx="1281881" cy="193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2"/>
              </a:lnSpc>
              <a:spcBef>
                <a:spcPct val="0"/>
              </a:spcBef>
              <a:spcAft>
                <a:spcPct val="0"/>
              </a:spcAft>
            </a:pP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Dept</a:t>
            </a:r>
            <a:r>
              <a:rPr sz="1100" i="1" spc="-2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1100" i="1" spc="-3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CSE,</a:t>
            </a:r>
            <a:r>
              <a:rPr sz="1100" i="1" spc="-1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 spc="-30">
                <a:solidFill>
                  <a:srgbClr val="000000"/>
                </a:solidFill>
                <a:latin typeface="Times New Roman"/>
                <a:cs typeface="Times New Roman"/>
              </a:rPr>
              <a:t>EWCE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884162" y="6472150"/>
            <a:ext cx="1793581" cy="193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2"/>
              </a:lnSpc>
              <a:spcBef>
                <a:spcPct val="0"/>
              </a:spcBef>
              <a:spcAft>
                <a:spcPct val="0"/>
              </a:spcAft>
            </a:pP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Image Classification</a:t>
            </a:r>
            <a:r>
              <a:rPr sz="1100" i="1" spc="-6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using</a:t>
            </a:r>
            <a:r>
              <a:rPr sz="1100" i="1" spc="-10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 spc="-24">
                <a:solidFill>
                  <a:srgbClr val="000000"/>
                </a:solidFill>
                <a:latin typeface="Times New Roman"/>
                <a:cs typeface="Times New Roman"/>
              </a:rPr>
              <a:t>AI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005582" y="255889"/>
            <a:ext cx="3316864" cy="4887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48"/>
              </a:lnSpc>
              <a:spcBef>
                <a:spcPct val="0"/>
              </a:spcBef>
              <a:spcAft>
                <a:spcPct val="0"/>
              </a:spcAft>
            </a:pPr>
            <a:r>
              <a:rPr sz="3200">
                <a:solidFill>
                  <a:srgbClr val="DA1F28"/>
                </a:solidFill>
                <a:latin typeface="Times New Roman"/>
                <a:cs typeface="Times New Roman"/>
              </a:rPr>
              <a:t>METHODOLOGY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98399" y="1275868"/>
            <a:ext cx="4453902" cy="3199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19"/>
              </a:lnSpc>
              <a:spcBef>
                <a:spcPct val="0"/>
              </a:spcBef>
              <a:spcAft>
                <a:spcPct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  <a:cs typeface="Times New Roman"/>
              </a:rPr>
              <a:t>Step</a:t>
            </a:r>
            <a:r>
              <a:rPr sz="2000" b="1" spc="-9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>
                <a:solidFill>
                  <a:srgbClr val="000000"/>
                </a:solidFill>
                <a:latin typeface="Times New Roman"/>
                <a:cs typeface="Times New Roman"/>
              </a:rPr>
              <a:t>1:</a:t>
            </a:r>
            <a:r>
              <a:rPr sz="2000" b="1" spc="-9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>
                <a:solidFill>
                  <a:srgbClr val="000000"/>
                </a:solidFill>
                <a:latin typeface="Times New Roman"/>
                <a:cs typeface="Times New Roman"/>
              </a:rPr>
              <a:t>Data</a:t>
            </a:r>
            <a:r>
              <a:rPr sz="2000" b="1" spc="-10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>
                <a:solidFill>
                  <a:srgbClr val="000000"/>
                </a:solidFill>
                <a:latin typeface="Times New Roman"/>
                <a:cs typeface="Times New Roman"/>
              </a:rPr>
              <a:t>Collection</a:t>
            </a:r>
            <a:r>
              <a:rPr sz="2000" b="1" spc="-9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>
                <a:solidFill>
                  <a:srgbClr val="000000"/>
                </a:solidFill>
                <a:latin typeface="Times New Roman"/>
                <a:cs typeface="Times New Roman"/>
              </a:rPr>
              <a:t>&amp;</a:t>
            </a:r>
            <a:r>
              <a:rPr sz="2000" b="1" spc="-7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 spc="-11">
                <a:solidFill>
                  <a:srgbClr val="000000"/>
                </a:solidFill>
                <a:latin typeface="Times New Roman"/>
                <a:cs typeface="Times New Roman"/>
              </a:rPr>
              <a:t>Preprocessing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98399" y="1653264"/>
            <a:ext cx="8286127" cy="7046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8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000" spc="151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11">
                <a:solidFill>
                  <a:srgbClr val="000000"/>
                </a:solidFill>
                <a:latin typeface="Times New Roman"/>
                <a:cs typeface="Times New Roman"/>
              </a:rPr>
              <a:t>Obtain</a:t>
            </a:r>
            <a:r>
              <a:rPr sz="2000" spc="-13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2000" spc="-10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diverse</a:t>
            </a:r>
            <a:r>
              <a:rPr sz="2000" spc="-12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sz="2000" spc="-8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10">
                <a:solidFill>
                  <a:srgbClr val="000000"/>
                </a:solidFill>
                <a:latin typeface="Times New Roman"/>
                <a:cs typeface="Times New Roman"/>
              </a:rPr>
              <a:t>balanced</a:t>
            </a:r>
            <a:r>
              <a:rPr sz="2000" spc="-7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dataset</a:t>
            </a:r>
            <a:r>
              <a:rPr sz="2000" spc="-14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(e.g.,</a:t>
            </a:r>
            <a:r>
              <a:rPr sz="2000" spc="-11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ImageNet,</a:t>
            </a:r>
            <a:r>
              <a:rPr sz="2000" spc="-1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14">
                <a:solidFill>
                  <a:srgbClr val="000000"/>
                </a:solidFill>
                <a:latin typeface="Times New Roman"/>
                <a:cs typeface="Times New Roman"/>
              </a:rPr>
              <a:t>CIFAR-10,</a:t>
            </a:r>
            <a:r>
              <a:rPr sz="2000" spc="1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or</a:t>
            </a:r>
            <a:r>
              <a:rPr sz="2000" spc="-14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12">
                <a:solidFill>
                  <a:srgbClr val="000000"/>
                </a:solidFill>
                <a:latin typeface="Times New Roman"/>
                <a:cs typeface="Times New Roman"/>
              </a:rPr>
              <a:t>custom).</a:t>
            </a:r>
          </a:p>
          <a:p>
            <a:pPr marL="0" marR="0">
              <a:lnSpc>
                <a:spcPts val="2241"/>
              </a:lnSpc>
              <a:spcBef>
                <a:spcPts val="75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000" spc="151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Preprocess:</a:t>
            </a:r>
            <a:r>
              <a:rPr sz="2000" spc="-14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11">
                <a:solidFill>
                  <a:srgbClr val="000000"/>
                </a:solidFill>
                <a:latin typeface="Times New Roman"/>
                <a:cs typeface="Times New Roman"/>
              </a:rPr>
              <a:t>resize,</a:t>
            </a:r>
            <a:r>
              <a:rPr sz="2000" spc="-11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12">
                <a:solidFill>
                  <a:srgbClr val="000000"/>
                </a:solidFill>
                <a:latin typeface="Times New Roman"/>
                <a:cs typeface="Times New Roman"/>
              </a:rPr>
              <a:t>normalize,</a:t>
            </a:r>
            <a:r>
              <a:rPr sz="2000" spc="-7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sz="2000" spc="-12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augment images</a:t>
            </a:r>
            <a:r>
              <a:rPr sz="2000" spc="-3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16">
                <a:solidFill>
                  <a:srgbClr val="000000"/>
                </a:solidFill>
                <a:latin typeface="Times New Roman"/>
                <a:cs typeface="Times New Roman"/>
              </a:rPr>
              <a:t>to</a:t>
            </a:r>
            <a:r>
              <a:rPr sz="2000" spc="-10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10">
                <a:solidFill>
                  <a:srgbClr val="000000"/>
                </a:solidFill>
                <a:latin typeface="Times New Roman"/>
                <a:cs typeface="Times New Roman"/>
              </a:rPr>
              <a:t>increase</a:t>
            </a:r>
            <a:r>
              <a:rPr sz="2000" spc="-12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10">
                <a:solidFill>
                  <a:srgbClr val="000000"/>
                </a:solidFill>
                <a:latin typeface="Times New Roman"/>
                <a:cs typeface="Times New Roman"/>
              </a:rPr>
              <a:t>generalization.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98399" y="2685822"/>
            <a:ext cx="2611485" cy="3199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19"/>
              </a:lnSpc>
              <a:spcBef>
                <a:spcPct val="0"/>
              </a:spcBef>
              <a:spcAft>
                <a:spcPct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  <a:cs typeface="Times New Roman"/>
              </a:rPr>
              <a:t>Step</a:t>
            </a:r>
            <a:r>
              <a:rPr sz="2000" b="1" spc="-9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>
                <a:solidFill>
                  <a:srgbClr val="000000"/>
                </a:solidFill>
                <a:latin typeface="Times New Roman"/>
                <a:cs typeface="Times New Roman"/>
              </a:rPr>
              <a:t>2:</a:t>
            </a:r>
            <a:r>
              <a:rPr sz="2000" b="1" spc="-10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>
                <a:solidFill>
                  <a:srgbClr val="000000"/>
                </a:solidFill>
                <a:latin typeface="Times New Roman"/>
                <a:cs typeface="Times New Roman"/>
              </a:rPr>
              <a:t>Model</a:t>
            </a:r>
            <a:r>
              <a:rPr sz="2000" b="1" spc="-13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 spc="-12">
                <a:solidFill>
                  <a:srgbClr val="000000"/>
                </a:solidFill>
                <a:latin typeface="Times New Roman"/>
                <a:cs typeface="Times New Roman"/>
              </a:rPr>
              <a:t>Building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98399" y="3063218"/>
            <a:ext cx="7912484" cy="10859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8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000" spc="151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Build</a:t>
            </a:r>
            <a:r>
              <a:rPr sz="2000" spc="-13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2000" spc="-7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custom</a:t>
            </a:r>
            <a:r>
              <a:rPr sz="2000" spc="-14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CNN</a:t>
            </a:r>
            <a:r>
              <a:rPr sz="2000" spc="-1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or</a:t>
            </a:r>
            <a:r>
              <a:rPr sz="2000" spc="-14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use</a:t>
            </a:r>
            <a:r>
              <a:rPr sz="2000" spc="-8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transfer</a:t>
            </a:r>
            <a:r>
              <a:rPr sz="2000" spc="-10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learning</a:t>
            </a:r>
            <a:r>
              <a:rPr sz="2000" spc="-8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from</a:t>
            </a:r>
            <a:r>
              <a:rPr sz="2000" spc="-14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pretrained</a:t>
            </a:r>
            <a:r>
              <a:rPr sz="2000" spc="-15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13">
                <a:solidFill>
                  <a:srgbClr val="000000"/>
                </a:solidFill>
                <a:latin typeface="Times New Roman"/>
                <a:cs typeface="Times New Roman"/>
              </a:rPr>
              <a:t>models.</a:t>
            </a:r>
          </a:p>
          <a:p>
            <a:pPr marL="0" marR="0">
              <a:lnSpc>
                <a:spcPts val="2241"/>
              </a:lnSpc>
              <a:spcBef>
                <a:spcPts val="75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000" spc="151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Add</a:t>
            </a:r>
            <a:r>
              <a:rPr sz="2000" spc="-10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11">
                <a:solidFill>
                  <a:srgbClr val="000000"/>
                </a:solidFill>
                <a:latin typeface="Times New Roman"/>
                <a:cs typeface="Times New Roman"/>
              </a:rPr>
              <a:t>fully</a:t>
            </a:r>
            <a:r>
              <a:rPr sz="2000" spc="-11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connected</a:t>
            </a:r>
            <a:r>
              <a:rPr sz="2000" spc="-8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12">
                <a:solidFill>
                  <a:srgbClr val="000000"/>
                </a:solidFill>
                <a:latin typeface="Times New Roman"/>
                <a:cs typeface="Times New Roman"/>
              </a:rPr>
              <a:t>layers</a:t>
            </a:r>
            <a:r>
              <a:rPr sz="2000" spc="-10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sz="2000" spc="-11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softmax</a:t>
            </a:r>
            <a:r>
              <a:rPr sz="2000" spc="-6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for</a:t>
            </a:r>
            <a:r>
              <a:rPr sz="2000" spc="-12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11">
                <a:solidFill>
                  <a:srgbClr val="000000"/>
                </a:solidFill>
                <a:latin typeface="Times New Roman"/>
                <a:cs typeface="Times New Roman"/>
              </a:rPr>
              <a:t>classification.</a:t>
            </a:r>
          </a:p>
          <a:p>
            <a:pPr marL="0" marR="0">
              <a:lnSpc>
                <a:spcPts val="2238"/>
              </a:lnSpc>
              <a:spcBef>
                <a:spcPts val="754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000" spc="151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Apply</a:t>
            </a:r>
            <a:r>
              <a:rPr sz="2000" spc="-11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10">
                <a:solidFill>
                  <a:srgbClr val="000000"/>
                </a:solidFill>
                <a:latin typeface="Times New Roman"/>
                <a:cs typeface="Times New Roman"/>
              </a:rPr>
              <a:t>regularization</a:t>
            </a:r>
            <a:r>
              <a:rPr sz="2000" spc="-10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(dropout,</a:t>
            </a:r>
            <a:r>
              <a:rPr sz="2000" spc="-10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11">
                <a:solidFill>
                  <a:srgbClr val="000000"/>
                </a:solidFill>
                <a:latin typeface="Times New Roman"/>
                <a:cs typeface="Times New Roman"/>
              </a:rPr>
              <a:t>batch</a:t>
            </a:r>
            <a:r>
              <a:rPr sz="2000" spc="-9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12">
                <a:solidFill>
                  <a:srgbClr val="000000"/>
                </a:solidFill>
                <a:latin typeface="Times New Roman"/>
                <a:cs typeface="Times New Roman"/>
              </a:rPr>
              <a:t>normalization)</a:t>
            </a:r>
            <a:r>
              <a:rPr sz="2000" spc="-1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16">
                <a:solidFill>
                  <a:srgbClr val="000000"/>
                </a:solidFill>
                <a:latin typeface="Times New Roman"/>
                <a:cs typeface="Times New Roman"/>
              </a:rPr>
              <a:t>to</a:t>
            </a:r>
            <a:r>
              <a:rPr sz="2000" spc="-8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prevent</a:t>
            </a:r>
            <a:r>
              <a:rPr sz="2000" spc="-11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10">
                <a:solidFill>
                  <a:srgbClr val="000000"/>
                </a:solidFill>
                <a:latin typeface="Times New Roman"/>
                <a:cs typeface="Times New Roman"/>
              </a:rPr>
              <a:t>overfitting.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98399" y="4464711"/>
            <a:ext cx="3377844" cy="3199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19"/>
              </a:lnSpc>
              <a:spcBef>
                <a:spcPct val="0"/>
              </a:spcBef>
              <a:spcAft>
                <a:spcPct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  <a:cs typeface="Times New Roman"/>
              </a:rPr>
              <a:t>Step</a:t>
            </a:r>
            <a:r>
              <a:rPr sz="2000" b="1" spc="-10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>
                <a:solidFill>
                  <a:srgbClr val="000000"/>
                </a:solidFill>
                <a:latin typeface="Times New Roman"/>
                <a:cs typeface="Times New Roman"/>
              </a:rPr>
              <a:t>3:</a:t>
            </a:r>
            <a:r>
              <a:rPr sz="2000" b="1" spc="-13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 spc="-11">
                <a:solidFill>
                  <a:srgbClr val="000000"/>
                </a:solidFill>
                <a:latin typeface="Times New Roman"/>
                <a:cs typeface="Times New Roman"/>
              </a:rPr>
              <a:t>Training</a:t>
            </a:r>
            <a:r>
              <a:rPr sz="2000" b="1" spc="-10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>
                <a:solidFill>
                  <a:srgbClr val="000000"/>
                </a:solidFill>
                <a:latin typeface="Times New Roman"/>
                <a:cs typeface="Times New Roman"/>
              </a:rPr>
              <a:t>&amp;</a:t>
            </a:r>
            <a:r>
              <a:rPr sz="2000" b="1" spc="-9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>
                <a:solidFill>
                  <a:srgbClr val="000000"/>
                </a:solidFill>
                <a:latin typeface="Times New Roman"/>
                <a:cs typeface="Times New Roman"/>
              </a:rPr>
              <a:t>Evaluation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98399" y="4842107"/>
            <a:ext cx="6750595" cy="10858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8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000" spc="151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11">
                <a:solidFill>
                  <a:srgbClr val="000000"/>
                </a:solidFill>
                <a:latin typeface="Times New Roman"/>
                <a:cs typeface="Times New Roman"/>
              </a:rPr>
              <a:t>Train</a:t>
            </a:r>
            <a:r>
              <a:rPr sz="2000" spc="-11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21">
                <a:solidFill>
                  <a:srgbClr val="000000"/>
                </a:solidFill>
                <a:latin typeface="Times New Roman"/>
                <a:cs typeface="Times New Roman"/>
              </a:rPr>
              <a:t>using</a:t>
            </a:r>
            <a:r>
              <a:rPr sz="2000" spc="-11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backpropagation</a:t>
            </a:r>
            <a:r>
              <a:rPr sz="2000" spc="-15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sz="2000" spc="-10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optimize</a:t>
            </a:r>
            <a:r>
              <a:rPr sz="2000" spc="-5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12">
                <a:solidFill>
                  <a:srgbClr val="000000"/>
                </a:solidFill>
                <a:latin typeface="Times New Roman"/>
                <a:cs typeface="Times New Roman"/>
              </a:rPr>
              <a:t>with</a:t>
            </a:r>
            <a:r>
              <a:rPr sz="2000" spc="-9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Adam</a:t>
            </a:r>
            <a:r>
              <a:rPr sz="2000" spc="-10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or</a:t>
            </a:r>
            <a:r>
              <a:rPr sz="2000" spc="-11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17">
                <a:solidFill>
                  <a:srgbClr val="000000"/>
                </a:solidFill>
                <a:latin typeface="Times New Roman"/>
                <a:cs typeface="Times New Roman"/>
              </a:rPr>
              <a:t>SGD.</a:t>
            </a:r>
          </a:p>
          <a:p>
            <a:pPr marL="0" marR="0">
              <a:lnSpc>
                <a:spcPts val="2238"/>
              </a:lnSpc>
              <a:spcBef>
                <a:spcPts val="754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000" spc="151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11">
                <a:solidFill>
                  <a:srgbClr val="000000"/>
                </a:solidFill>
                <a:latin typeface="Times New Roman"/>
                <a:cs typeface="Times New Roman"/>
              </a:rPr>
              <a:t>Evaluate</a:t>
            </a:r>
            <a:r>
              <a:rPr sz="2000" spc="-5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using</a:t>
            </a:r>
            <a:r>
              <a:rPr sz="2000" spc="-9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11">
                <a:solidFill>
                  <a:srgbClr val="000000"/>
                </a:solidFill>
                <a:latin typeface="Times New Roman"/>
                <a:cs typeface="Times New Roman"/>
              </a:rPr>
              <a:t>validation</a:t>
            </a:r>
            <a:r>
              <a:rPr sz="2000" spc="-13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set;</a:t>
            </a:r>
            <a:r>
              <a:rPr sz="2000" spc="-12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tune</a:t>
            </a:r>
            <a:r>
              <a:rPr sz="2000" spc="-10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11">
                <a:solidFill>
                  <a:srgbClr val="000000"/>
                </a:solidFill>
                <a:latin typeface="Times New Roman"/>
                <a:cs typeface="Times New Roman"/>
              </a:rPr>
              <a:t>hyperparameters.</a:t>
            </a:r>
          </a:p>
          <a:p>
            <a:pPr marL="0" marR="0">
              <a:lnSpc>
                <a:spcPts val="2238"/>
              </a:lnSpc>
              <a:spcBef>
                <a:spcPts val="752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000" spc="151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Use</a:t>
            </a:r>
            <a:r>
              <a:rPr sz="2000" spc="-8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early</a:t>
            </a:r>
            <a:r>
              <a:rPr sz="2000" spc="-14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stopping</a:t>
            </a:r>
            <a:r>
              <a:rPr sz="2000" spc="-13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or</a:t>
            </a:r>
            <a:r>
              <a:rPr sz="2000" spc="-13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learning</a:t>
            </a:r>
            <a:r>
              <a:rPr sz="2000" spc="-5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12">
                <a:solidFill>
                  <a:srgbClr val="000000"/>
                </a:solidFill>
                <a:latin typeface="Times New Roman"/>
                <a:cs typeface="Times New Roman"/>
              </a:rPr>
              <a:t>rate</a:t>
            </a:r>
            <a:r>
              <a:rPr sz="2000" spc="-1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schedulers</a:t>
            </a:r>
            <a:r>
              <a:rPr sz="2000" spc="-9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for</a:t>
            </a:r>
            <a:r>
              <a:rPr sz="2000" spc="-10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11">
                <a:solidFill>
                  <a:srgbClr val="000000"/>
                </a:solidFill>
                <a:latin typeface="Times New Roman"/>
                <a:cs typeface="Times New Roman"/>
              </a:rPr>
              <a:t>efficiency.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79145" y="6472150"/>
            <a:ext cx="1281881" cy="193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2"/>
              </a:lnSpc>
              <a:spcBef>
                <a:spcPct val="0"/>
              </a:spcBef>
              <a:spcAft>
                <a:spcPct val="0"/>
              </a:spcAft>
            </a:pP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Dept</a:t>
            </a:r>
            <a:r>
              <a:rPr sz="1100" i="1" spc="-2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1100" i="1" spc="-3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CSE,</a:t>
            </a:r>
            <a:r>
              <a:rPr sz="1100" i="1" spc="-1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 spc="-30">
                <a:solidFill>
                  <a:srgbClr val="000000"/>
                </a:solidFill>
                <a:latin typeface="Times New Roman"/>
                <a:cs typeface="Times New Roman"/>
              </a:rPr>
              <a:t>EWCE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884162" y="6472150"/>
            <a:ext cx="1793581" cy="193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2"/>
              </a:lnSpc>
              <a:spcBef>
                <a:spcPct val="0"/>
              </a:spcBef>
              <a:spcAft>
                <a:spcPct val="0"/>
              </a:spcAft>
            </a:pP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Image Classification</a:t>
            </a:r>
            <a:r>
              <a:rPr sz="1100" i="1" spc="-6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using</a:t>
            </a:r>
            <a:r>
              <a:rPr sz="1100" i="1" spc="-10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 spc="-24">
                <a:solidFill>
                  <a:srgbClr val="000000"/>
                </a:solidFill>
                <a:latin typeface="Times New Roman"/>
                <a:cs typeface="Times New Roman"/>
              </a:rPr>
              <a:t>AI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003169" y="255889"/>
            <a:ext cx="3316864" cy="4887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48"/>
              </a:lnSpc>
              <a:spcBef>
                <a:spcPct val="0"/>
              </a:spcBef>
              <a:spcAft>
                <a:spcPct val="0"/>
              </a:spcAft>
            </a:pPr>
            <a:r>
              <a:rPr sz="3200">
                <a:solidFill>
                  <a:srgbClr val="DA1F28"/>
                </a:solidFill>
                <a:latin typeface="Times New Roman"/>
                <a:cs typeface="Times New Roman"/>
              </a:rPr>
              <a:t>METHODOLOGY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98399" y="1275868"/>
            <a:ext cx="3757447" cy="3199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19"/>
              </a:lnSpc>
              <a:spcBef>
                <a:spcPct val="0"/>
              </a:spcBef>
              <a:spcAft>
                <a:spcPct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  <a:cs typeface="Times New Roman"/>
              </a:rPr>
              <a:t>Step</a:t>
            </a:r>
            <a:r>
              <a:rPr sz="2000" b="1" spc="-11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>
                <a:solidFill>
                  <a:srgbClr val="000000"/>
                </a:solidFill>
                <a:latin typeface="Times New Roman"/>
                <a:cs typeface="Times New Roman"/>
              </a:rPr>
              <a:t>4:</a:t>
            </a:r>
            <a:r>
              <a:rPr sz="2000" b="1" spc="-10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>
                <a:solidFill>
                  <a:srgbClr val="000000"/>
                </a:solidFill>
                <a:latin typeface="Times New Roman"/>
                <a:cs typeface="Times New Roman"/>
              </a:rPr>
              <a:t>Integration</a:t>
            </a:r>
            <a:r>
              <a:rPr sz="2000" b="1" spc="-11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>
                <a:solidFill>
                  <a:srgbClr val="000000"/>
                </a:solidFill>
                <a:latin typeface="Times New Roman"/>
                <a:cs typeface="Times New Roman"/>
              </a:rPr>
              <a:t>with</a:t>
            </a:r>
            <a:r>
              <a:rPr sz="2000" b="1" spc="-12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 spc="-11">
                <a:solidFill>
                  <a:srgbClr val="000000"/>
                </a:solidFill>
                <a:latin typeface="Times New Roman"/>
                <a:cs typeface="Times New Roman"/>
              </a:rPr>
              <a:t>Streamlit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98399" y="1653264"/>
            <a:ext cx="7137204" cy="1085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8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000" spc="151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Create</a:t>
            </a:r>
            <a:r>
              <a:rPr sz="2000" spc="-12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2000" spc="-10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web</a:t>
            </a:r>
            <a:r>
              <a:rPr sz="2000" spc="-3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app</a:t>
            </a:r>
            <a:r>
              <a:rPr sz="2000" spc="-11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interface</a:t>
            </a:r>
            <a:r>
              <a:rPr sz="2000" spc="-10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where</a:t>
            </a:r>
            <a:r>
              <a:rPr sz="2000" spc="-3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users</a:t>
            </a:r>
            <a:r>
              <a:rPr sz="2000" spc="-13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12">
                <a:solidFill>
                  <a:srgbClr val="000000"/>
                </a:solidFill>
                <a:latin typeface="Times New Roman"/>
                <a:cs typeface="Times New Roman"/>
              </a:rPr>
              <a:t>can</a:t>
            </a:r>
            <a:r>
              <a:rPr sz="2000" spc="-10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upload</a:t>
            </a:r>
            <a:r>
              <a:rPr sz="2000" spc="-11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12">
                <a:solidFill>
                  <a:srgbClr val="000000"/>
                </a:solidFill>
                <a:latin typeface="Times New Roman"/>
                <a:cs typeface="Times New Roman"/>
              </a:rPr>
              <a:t>images.</a:t>
            </a:r>
          </a:p>
          <a:p>
            <a:pPr marL="0" marR="0">
              <a:lnSpc>
                <a:spcPts val="2241"/>
              </a:lnSpc>
              <a:spcBef>
                <a:spcPts val="75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000" spc="151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Load</a:t>
            </a:r>
            <a:r>
              <a:rPr sz="2000" spc="-8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2000" spc="-8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trained</a:t>
            </a:r>
            <a:r>
              <a:rPr sz="2000" spc="-12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model</a:t>
            </a:r>
            <a:r>
              <a:rPr sz="2000" spc="-6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sz="2000" spc="-12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run</a:t>
            </a:r>
            <a:r>
              <a:rPr sz="2000" spc="-13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inference</a:t>
            </a:r>
            <a:r>
              <a:rPr sz="2000" spc="-7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on</a:t>
            </a:r>
            <a:r>
              <a:rPr sz="2000" spc="-14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uploaded</a:t>
            </a:r>
            <a:r>
              <a:rPr sz="2000" spc="-11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14">
                <a:solidFill>
                  <a:srgbClr val="000000"/>
                </a:solidFill>
                <a:latin typeface="Times New Roman"/>
                <a:cs typeface="Times New Roman"/>
              </a:rPr>
              <a:t>images.</a:t>
            </a:r>
          </a:p>
          <a:p>
            <a:pPr marL="0" marR="0">
              <a:lnSpc>
                <a:spcPts val="2238"/>
              </a:lnSpc>
              <a:spcBef>
                <a:spcPts val="753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000" spc="151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11">
                <a:solidFill>
                  <a:srgbClr val="000000"/>
                </a:solidFill>
                <a:latin typeface="Times New Roman"/>
                <a:cs typeface="Times New Roman"/>
              </a:rPr>
              <a:t>Display</a:t>
            </a:r>
            <a:r>
              <a:rPr sz="2000" spc="-14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11">
                <a:solidFill>
                  <a:srgbClr val="000000"/>
                </a:solidFill>
                <a:latin typeface="Times New Roman"/>
                <a:cs typeface="Times New Roman"/>
              </a:rPr>
              <a:t>results</a:t>
            </a:r>
            <a:r>
              <a:rPr sz="2000" spc="-11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10">
                <a:solidFill>
                  <a:srgbClr val="000000"/>
                </a:solidFill>
                <a:latin typeface="Times New Roman"/>
                <a:cs typeface="Times New Roman"/>
              </a:rPr>
              <a:t>(predicted</a:t>
            </a:r>
            <a:r>
              <a:rPr sz="2000" spc="-8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12">
                <a:solidFill>
                  <a:srgbClr val="000000"/>
                </a:solidFill>
                <a:latin typeface="Times New Roman"/>
                <a:cs typeface="Times New Roman"/>
              </a:rPr>
              <a:t>class,</a:t>
            </a:r>
            <a:r>
              <a:rPr sz="2000" spc="-9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confidence</a:t>
            </a:r>
            <a:r>
              <a:rPr sz="2000" spc="-5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score,</a:t>
            </a:r>
            <a:r>
              <a:rPr sz="2000" spc="-10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image</a:t>
            </a:r>
            <a:r>
              <a:rPr sz="2000" spc="-1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preview).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98399" y="3066822"/>
            <a:ext cx="3604385" cy="3199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19"/>
              </a:lnSpc>
              <a:spcBef>
                <a:spcPct val="0"/>
              </a:spcBef>
              <a:spcAft>
                <a:spcPct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  <a:cs typeface="Times New Roman"/>
              </a:rPr>
              <a:t>Step</a:t>
            </a:r>
            <a:r>
              <a:rPr sz="2000" b="1" spc="-12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>
                <a:solidFill>
                  <a:srgbClr val="000000"/>
                </a:solidFill>
                <a:latin typeface="Times New Roman"/>
                <a:cs typeface="Times New Roman"/>
              </a:rPr>
              <a:t>5:</a:t>
            </a:r>
            <a:r>
              <a:rPr sz="2000" b="1" spc="-14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>
                <a:solidFill>
                  <a:srgbClr val="000000"/>
                </a:solidFill>
                <a:latin typeface="Times New Roman"/>
                <a:cs typeface="Times New Roman"/>
              </a:rPr>
              <a:t>Deployment</a:t>
            </a:r>
            <a:r>
              <a:rPr sz="2000" b="1" spc="-3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>
                <a:solidFill>
                  <a:srgbClr val="000000"/>
                </a:solidFill>
                <a:latin typeface="Times New Roman"/>
                <a:cs typeface="Times New Roman"/>
              </a:rPr>
              <a:t>&amp;</a:t>
            </a:r>
            <a:r>
              <a:rPr sz="2000" b="1" spc="-1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>
                <a:solidFill>
                  <a:srgbClr val="000000"/>
                </a:solidFill>
                <a:latin typeface="Times New Roman"/>
                <a:cs typeface="Times New Roman"/>
              </a:rPr>
              <a:t>Feedback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98399" y="3443943"/>
            <a:ext cx="5292704" cy="1086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41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000" spc="151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Deploy</a:t>
            </a:r>
            <a:r>
              <a:rPr sz="2000" spc="-12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locally</a:t>
            </a:r>
            <a:r>
              <a:rPr sz="2000" spc="-13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or</a:t>
            </a:r>
            <a:r>
              <a:rPr sz="2000" spc="-13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on</a:t>
            </a:r>
            <a:r>
              <a:rPr sz="2000" spc="-14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cloud</a:t>
            </a:r>
            <a:r>
              <a:rPr sz="2000" spc="-3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platforms</a:t>
            </a:r>
            <a:r>
              <a:rPr sz="2000" spc="-4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10">
                <a:solidFill>
                  <a:srgbClr val="000000"/>
                </a:solidFill>
                <a:latin typeface="Times New Roman"/>
                <a:cs typeface="Times New Roman"/>
              </a:rPr>
              <a:t>(optional).</a:t>
            </a:r>
          </a:p>
          <a:p>
            <a:pPr marL="0" marR="0">
              <a:lnSpc>
                <a:spcPts val="2238"/>
              </a:lnSpc>
              <a:spcBef>
                <a:spcPts val="754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000" spc="151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Collect</a:t>
            </a:r>
            <a:r>
              <a:rPr sz="2000" spc="-12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feedback</a:t>
            </a:r>
            <a:r>
              <a:rPr sz="2000" spc="-11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for</a:t>
            </a:r>
            <a:r>
              <a:rPr sz="2000" spc="-10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continuous</a:t>
            </a:r>
            <a:r>
              <a:rPr sz="2000" spc="-8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13">
                <a:solidFill>
                  <a:srgbClr val="000000"/>
                </a:solidFill>
                <a:latin typeface="Times New Roman"/>
                <a:cs typeface="Times New Roman"/>
              </a:rPr>
              <a:t>improvement.</a:t>
            </a:r>
          </a:p>
          <a:p>
            <a:pPr marL="0" marR="0">
              <a:lnSpc>
                <a:spcPts val="2238"/>
              </a:lnSpc>
              <a:spcBef>
                <a:spcPts val="752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000" spc="151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Update</a:t>
            </a:r>
            <a:r>
              <a:rPr sz="2000" spc="-10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11">
                <a:solidFill>
                  <a:srgbClr val="000000"/>
                </a:solidFill>
                <a:latin typeface="Times New Roman"/>
                <a:cs typeface="Times New Roman"/>
              </a:rPr>
              <a:t>dataset</a:t>
            </a:r>
            <a:r>
              <a:rPr sz="2000" spc="-10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sz="2000" spc="-3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retrain</a:t>
            </a:r>
            <a:r>
              <a:rPr sz="2000" spc="-15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11">
                <a:solidFill>
                  <a:srgbClr val="000000"/>
                </a:solidFill>
                <a:latin typeface="Times New Roman"/>
                <a:cs typeface="Times New Roman"/>
              </a:rPr>
              <a:t>periodically.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79145" y="6472150"/>
            <a:ext cx="1281881" cy="193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2"/>
              </a:lnSpc>
              <a:spcBef>
                <a:spcPct val="0"/>
              </a:spcBef>
              <a:spcAft>
                <a:spcPct val="0"/>
              </a:spcAft>
            </a:pP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Dept</a:t>
            </a:r>
            <a:r>
              <a:rPr sz="1100" i="1" spc="-2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1100" i="1" spc="-3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CSE,</a:t>
            </a:r>
            <a:r>
              <a:rPr sz="1100" i="1" spc="-1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 spc="-30">
                <a:solidFill>
                  <a:srgbClr val="000000"/>
                </a:solidFill>
                <a:latin typeface="Times New Roman"/>
                <a:cs typeface="Times New Roman"/>
              </a:rPr>
              <a:t>EWCE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884162" y="6472150"/>
            <a:ext cx="1793581" cy="193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2"/>
              </a:lnSpc>
              <a:spcBef>
                <a:spcPct val="0"/>
              </a:spcBef>
              <a:spcAft>
                <a:spcPct val="0"/>
              </a:spcAft>
            </a:pP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Image Classification</a:t>
            </a:r>
            <a:r>
              <a:rPr sz="1100" i="1" spc="-6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using</a:t>
            </a:r>
            <a:r>
              <a:rPr sz="1100" i="1" spc="-10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 spc="-24">
                <a:solidFill>
                  <a:srgbClr val="000000"/>
                </a:solidFill>
                <a:latin typeface="Times New Roman"/>
                <a:cs typeface="Times New Roman"/>
              </a:rPr>
              <a:t>AI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216785" y="255889"/>
            <a:ext cx="4878755" cy="4887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48"/>
              </a:lnSpc>
              <a:spcBef>
                <a:spcPct val="0"/>
              </a:spcBef>
              <a:spcAft>
                <a:spcPct val="0"/>
              </a:spcAft>
            </a:pPr>
            <a:r>
              <a:rPr sz="3200" spc="-58">
                <a:solidFill>
                  <a:srgbClr val="DA1F28"/>
                </a:solidFill>
                <a:latin typeface="Times New Roman"/>
                <a:cs typeface="Times New Roman"/>
              </a:rPr>
              <a:t>SYSTEM</a:t>
            </a:r>
            <a:r>
              <a:rPr sz="3200" spc="-134">
                <a:solidFill>
                  <a:srgbClr val="DA1F28"/>
                </a:solidFill>
                <a:latin typeface="Times New Roman"/>
                <a:cs typeface="Times New Roman"/>
              </a:rPr>
              <a:t> </a:t>
            </a:r>
            <a:r>
              <a:rPr sz="3200">
                <a:solidFill>
                  <a:srgbClr val="DA1F28"/>
                </a:solidFill>
                <a:latin typeface="Times New Roman"/>
                <a:cs typeface="Times New Roman"/>
              </a:rPr>
              <a:t>ARCHITECTURE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98399" y="1373404"/>
            <a:ext cx="2966942" cy="3199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19"/>
              </a:lnSpc>
              <a:spcBef>
                <a:spcPct val="0"/>
              </a:spcBef>
              <a:spcAft>
                <a:spcPct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  <a:cs typeface="Times New Roman"/>
              </a:rPr>
              <a:t>1.</a:t>
            </a:r>
            <a:r>
              <a:rPr sz="2000" b="1" spc="158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>
                <a:solidFill>
                  <a:srgbClr val="000000"/>
                </a:solidFill>
                <a:latin typeface="Times New Roman"/>
                <a:cs typeface="Times New Roman"/>
              </a:rPr>
              <a:t>User Interface</a:t>
            </a:r>
            <a:r>
              <a:rPr sz="2000" b="1" spc="-3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>
                <a:solidFill>
                  <a:srgbClr val="000000"/>
                </a:solidFill>
                <a:latin typeface="Times New Roman"/>
                <a:cs typeface="Times New Roman"/>
              </a:rPr>
              <a:t>Layer: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98399" y="1826724"/>
            <a:ext cx="8711828" cy="7812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41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000" spc="150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2000" spc="44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Streamlit</a:t>
            </a:r>
            <a:r>
              <a:rPr sz="2000" spc="43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web</a:t>
            </a:r>
            <a:r>
              <a:rPr sz="2000" spc="44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app</a:t>
            </a:r>
            <a:r>
              <a:rPr sz="2000" spc="44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lets</a:t>
            </a:r>
            <a:r>
              <a:rPr sz="2000" spc="43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users</a:t>
            </a:r>
            <a:r>
              <a:rPr sz="2000" spc="43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upload</a:t>
            </a:r>
            <a:r>
              <a:rPr sz="2000" spc="44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images</a:t>
            </a:r>
            <a:r>
              <a:rPr sz="2000" spc="45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sz="2000" spc="45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instantly</a:t>
            </a:r>
            <a:r>
              <a:rPr sz="2000" spc="43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see</a:t>
            </a:r>
            <a:r>
              <a:rPr sz="2000" spc="43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predicted</a:t>
            </a:r>
          </a:p>
          <a:p>
            <a:pPr marL="342899" marR="0">
              <a:lnSpc>
                <a:spcPts val="2219"/>
              </a:lnSpc>
              <a:spcBef>
                <a:spcPts val="1382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classes,</a:t>
            </a:r>
            <a:r>
              <a:rPr sz="2000" spc="-1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confidence</a:t>
            </a:r>
            <a:r>
              <a:rPr sz="2000" spc="-3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scores,</a:t>
            </a:r>
            <a:r>
              <a:rPr sz="2000" spc="-3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and visual</a:t>
            </a:r>
            <a:r>
              <a:rPr sz="2000" spc="-3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model feedback.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98399" y="2741654"/>
            <a:ext cx="7372147" cy="3235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8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000" spc="150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It</a:t>
            </a:r>
            <a:r>
              <a:rPr sz="2000" spc="-1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can also</a:t>
            </a:r>
            <a:r>
              <a:rPr sz="2000" spc="-1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display</a:t>
            </a:r>
            <a:r>
              <a:rPr sz="2000" spc="-2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overall</a:t>
            </a:r>
            <a:r>
              <a:rPr sz="2000" spc="-4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model metrics and</a:t>
            </a:r>
            <a:r>
              <a:rPr sz="2000" spc="-1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sample output</a:t>
            </a:r>
            <a:r>
              <a:rPr sz="2000" spc="-3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images.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98399" y="3442978"/>
            <a:ext cx="2677483" cy="320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1"/>
              </a:lnSpc>
              <a:spcBef>
                <a:spcPct val="0"/>
              </a:spcBef>
              <a:spcAft>
                <a:spcPct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  <a:cs typeface="Times New Roman"/>
              </a:rPr>
              <a:t>2.</a:t>
            </a:r>
            <a:r>
              <a:rPr sz="2000" b="1" spc="158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>
                <a:solidFill>
                  <a:srgbClr val="000000"/>
                </a:solidFill>
                <a:latin typeface="Times New Roman"/>
                <a:cs typeface="Times New Roman"/>
              </a:rPr>
              <a:t>Application</a:t>
            </a:r>
            <a:r>
              <a:rPr sz="2000" b="1" spc="-3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>
                <a:solidFill>
                  <a:srgbClr val="000000"/>
                </a:solidFill>
                <a:latin typeface="Times New Roman"/>
                <a:cs typeface="Times New Roman"/>
              </a:rPr>
              <a:t>Layer: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98399" y="3897227"/>
            <a:ext cx="8713210" cy="12379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8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000" spc="150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2000" spc="10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prediction</a:t>
            </a:r>
            <a:r>
              <a:rPr sz="2000" spc="9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pipeline</a:t>
            </a:r>
            <a:r>
              <a:rPr sz="2000" spc="9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receives</a:t>
            </a:r>
            <a:r>
              <a:rPr sz="2000" spc="11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images</a:t>
            </a:r>
            <a:r>
              <a:rPr sz="2000" spc="9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from</a:t>
            </a:r>
            <a:r>
              <a:rPr sz="2000" spc="8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2000" spc="9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system,</a:t>
            </a:r>
            <a:r>
              <a:rPr sz="2000" spc="10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preprocesses</a:t>
            </a:r>
            <a:r>
              <a:rPr sz="2000" spc="10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them</a:t>
            </a:r>
            <a:r>
              <a:rPr sz="2000" spc="9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for</a:t>
            </a:r>
          </a:p>
          <a:p>
            <a:pPr marL="342899" marR="0">
              <a:lnSpc>
                <a:spcPts val="2219"/>
              </a:lnSpc>
              <a:spcBef>
                <a:spcPts val="138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2000" spc="42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CNN</a:t>
            </a:r>
            <a:r>
              <a:rPr sz="2000" spc="43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model,</a:t>
            </a:r>
            <a:r>
              <a:rPr sz="2000" spc="43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performs</a:t>
            </a:r>
            <a:r>
              <a:rPr sz="2000" spc="43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classification,</a:t>
            </a:r>
            <a:r>
              <a:rPr sz="2000" spc="42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formats</a:t>
            </a:r>
            <a:r>
              <a:rPr sz="2000" spc="43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2000" spc="42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results,</a:t>
            </a:r>
            <a:r>
              <a:rPr sz="2000" spc="43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sz="2000" spc="43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returns</a:t>
            </a:r>
            <a:r>
              <a:rPr sz="2000" spc="41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</a:p>
          <a:p>
            <a:pPr marL="342899" marR="0">
              <a:lnSpc>
                <a:spcPts val="2219"/>
              </a:lnSpc>
              <a:spcBef>
                <a:spcPts val="138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predicted</a:t>
            </a:r>
            <a:r>
              <a:rPr sz="2000" spc="-3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label</a:t>
            </a:r>
            <a:r>
              <a:rPr sz="2000" spc="-1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sz="2000" spc="-1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confidence</a:t>
            </a:r>
            <a:r>
              <a:rPr sz="2000" spc="-4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score</a:t>
            </a:r>
            <a:r>
              <a:rPr sz="2000" spc="-2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back</a:t>
            </a:r>
            <a:r>
              <a:rPr sz="2000" spc="-1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to Streamlit for</a:t>
            </a:r>
            <a:r>
              <a:rPr sz="2000" spc="-2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display.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79145" y="6472150"/>
            <a:ext cx="1281881" cy="193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2"/>
              </a:lnSpc>
              <a:spcBef>
                <a:spcPct val="0"/>
              </a:spcBef>
              <a:spcAft>
                <a:spcPct val="0"/>
              </a:spcAft>
            </a:pP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Dept</a:t>
            </a:r>
            <a:r>
              <a:rPr sz="1100" i="1" spc="-2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1100" i="1" spc="-3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CSE,</a:t>
            </a:r>
            <a:r>
              <a:rPr sz="1100" i="1" spc="-1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 spc="-30">
                <a:solidFill>
                  <a:srgbClr val="000000"/>
                </a:solidFill>
                <a:latin typeface="Times New Roman"/>
                <a:cs typeface="Times New Roman"/>
              </a:rPr>
              <a:t>EWCE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884162" y="6472150"/>
            <a:ext cx="1793581" cy="193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2"/>
              </a:lnSpc>
              <a:spcBef>
                <a:spcPct val="0"/>
              </a:spcBef>
              <a:spcAft>
                <a:spcPct val="0"/>
              </a:spcAft>
            </a:pP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Image Classification</a:t>
            </a:r>
            <a:r>
              <a:rPr sz="1100" i="1" spc="-6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using</a:t>
            </a:r>
            <a:r>
              <a:rPr sz="1100" i="1" spc="-10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 spc="-24">
                <a:solidFill>
                  <a:srgbClr val="000000"/>
                </a:solidFill>
                <a:latin typeface="Times New Roman"/>
                <a:cs typeface="Times New Roman"/>
              </a:rPr>
              <a:t>AI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218944" y="255889"/>
            <a:ext cx="4876161" cy="4887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48"/>
              </a:lnSpc>
              <a:spcBef>
                <a:spcPct val="0"/>
              </a:spcBef>
              <a:spcAft>
                <a:spcPct val="0"/>
              </a:spcAft>
            </a:pPr>
            <a:r>
              <a:rPr sz="3200" spc="-58">
                <a:solidFill>
                  <a:srgbClr val="DA1F28"/>
                </a:solidFill>
                <a:latin typeface="Times New Roman"/>
                <a:cs typeface="Times New Roman"/>
              </a:rPr>
              <a:t>SYSTEM</a:t>
            </a:r>
            <a:r>
              <a:rPr sz="3200" spc="-132">
                <a:solidFill>
                  <a:srgbClr val="DA1F28"/>
                </a:solidFill>
                <a:latin typeface="Times New Roman"/>
                <a:cs typeface="Times New Roman"/>
              </a:rPr>
              <a:t> </a:t>
            </a:r>
            <a:r>
              <a:rPr sz="3200">
                <a:solidFill>
                  <a:srgbClr val="DA1F28"/>
                </a:solidFill>
                <a:latin typeface="Times New Roman"/>
                <a:cs typeface="Times New Roman"/>
              </a:rPr>
              <a:t>ARCHITECTURE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86207" y="1373404"/>
            <a:ext cx="2099786" cy="3199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19"/>
              </a:lnSpc>
              <a:spcBef>
                <a:spcPct val="0"/>
              </a:spcBef>
              <a:spcAft>
                <a:spcPct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  <a:cs typeface="Times New Roman"/>
              </a:rPr>
              <a:t>3.</a:t>
            </a:r>
            <a:r>
              <a:rPr sz="2000" b="1" spc="158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>
                <a:solidFill>
                  <a:srgbClr val="000000"/>
                </a:solidFill>
                <a:latin typeface="Times New Roman"/>
                <a:cs typeface="Times New Roman"/>
              </a:rPr>
              <a:t>Model</a:t>
            </a:r>
            <a:r>
              <a:rPr sz="2000" b="1" spc="-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>
                <a:solidFill>
                  <a:srgbClr val="000000"/>
                </a:solidFill>
                <a:latin typeface="Times New Roman"/>
                <a:cs typeface="Times New Roman"/>
              </a:rPr>
              <a:t>Layer: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86207" y="1826724"/>
            <a:ext cx="8724169" cy="323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41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000" spc="150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2000" spc="6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CNN</a:t>
            </a:r>
            <a:r>
              <a:rPr sz="2000" spc="6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model</a:t>
            </a:r>
            <a:r>
              <a:rPr sz="2000" spc="5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is</a:t>
            </a:r>
            <a:r>
              <a:rPr sz="2000" spc="5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trained</a:t>
            </a:r>
            <a:r>
              <a:rPr sz="2000" spc="6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on</a:t>
            </a:r>
            <a:r>
              <a:rPr sz="2000" spc="6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2000" spc="6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labeled</a:t>
            </a:r>
            <a:r>
              <a:rPr sz="2000" spc="6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flower</a:t>
            </a:r>
            <a:r>
              <a:rPr sz="2000" spc="5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dataset</a:t>
            </a:r>
            <a:r>
              <a:rPr sz="2000" spc="4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sz="2000" spc="5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uses</a:t>
            </a:r>
            <a:r>
              <a:rPr sz="2000" spc="6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transfer</a:t>
            </a:r>
            <a:r>
              <a:rPr sz="2000" spc="6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learning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29107" y="2288058"/>
            <a:ext cx="7828076" cy="3199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19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sz="2000" spc="-1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data</a:t>
            </a:r>
            <a:r>
              <a:rPr sz="2000" spc="-1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augmentation</a:t>
            </a:r>
            <a:r>
              <a:rPr sz="2000" spc="-4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for</a:t>
            </a:r>
            <a:r>
              <a:rPr sz="2000" spc="-2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improved accuracy,</a:t>
            </a:r>
            <a:r>
              <a:rPr sz="2000" spc="-2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with</a:t>
            </a:r>
            <a:r>
              <a:rPr sz="2000" spc="-1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TensorFlow</a:t>
            </a:r>
            <a:r>
              <a:rPr sz="2000" spc="-2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sz="2000" spc="-1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Keras.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86207" y="2947950"/>
            <a:ext cx="1930622" cy="3199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19"/>
              </a:lnSpc>
              <a:spcBef>
                <a:spcPct val="0"/>
              </a:spcBef>
              <a:spcAft>
                <a:spcPct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  <a:cs typeface="Times New Roman"/>
              </a:rPr>
              <a:t>4.</a:t>
            </a:r>
            <a:r>
              <a:rPr sz="2000" b="1" spc="158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>
                <a:solidFill>
                  <a:srgbClr val="000000"/>
                </a:solidFill>
                <a:latin typeface="Times New Roman"/>
                <a:cs typeface="Times New Roman"/>
              </a:rPr>
              <a:t>Data</a:t>
            </a:r>
            <a:r>
              <a:rPr sz="2000" b="1" spc="-3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>
                <a:solidFill>
                  <a:srgbClr val="000000"/>
                </a:solidFill>
                <a:latin typeface="Times New Roman"/>
                <a:cs typeface="Times New Roman"/>
              </a:rPr>
              <a:t>Layer: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86207" y="3453087"/>
            <a:ext cx="8725498" cy="12386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41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000" spc="150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2000" spc="53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training</a:t>
            </a:r>
            <a:r>
              <a:rPr sz="2000" spc="53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dataset</a:t>
            </a:r>
            <a:r>
              <a:rPr sz="2000" spc="52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16">
                <a:solidFill>
                  <a:srgbClr val="000000"/>
                </a:solidFill>
                <a:latin typeface="Times New Roman"/>
                <a:cs typeface="Times New Roman"/>
              </a:rPr>
              <a:t>is</a:t>
            </a:r>
            <a:r>
              <a:rPr sz="2000" spc="53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organized</a:t>
            </a:r>
            <a:r>
              <a:rPr sz="2000" spc="53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for</a:t>
            </a:r>
            <a:r>
              <a:rPr sz="2000" spc="53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supervised</a:t>
            </a:r>
            <a:r>
              <a:rPr sz="2000" spc="53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learning</a:t>
            </a:r>
            <a:r>
              <a:rPr sz="2000" spc="54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sz="2000" spc="53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includes</a:t>
            </a:r>
            <a:r>
              <a:rPr sz="2000" spc="53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both</a:t>
            </a:r>
          </a:p>
          <a:p>
            <a:pPr marL="342900" marR="0">
              <a:lnSpc>
                <a:spcPts val="2219"/>
              </a:lnSpc>
              <a:spcBef>
                <a:spcPts val="1383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original</a:t>
            </a:r>
            <a:r>
              <a:rPr sz="2000" spc="20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sz="2000" spc="21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augmented</a:t>
            </a:r>
            <a:r>
              <a:rPr sz="2000" spc="22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data,</a:t>
            </a:r>
            <a:r>
              <a:rPr sz="2000" spc="21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while</a:t>
            </a:r>
            <a:r>
              <a:rPr sz="2000" spc="20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model</a:t>
            </a:r>
            <a:r>
              <a:rPr sz="2000" spc="19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artifacts—like</a:t>
            </a:r>
            <a:r>
              <a:rPr sz="2000" spc="20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weights,</a:t>
            </a:r>
            <a:r>
              <a:rPr sz="2000" spc="21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architecture,</a:t>
            </a:r>
          </a:p>
          <a:p>
            <a:pPr marL="342900" marR="0">
              <a:lnSpc>
                <a:spcPts val="2219"/>
              </a:lnSpc>
              <a:spcBef>
                <a:spcPts val="138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sz="2000" spc="-1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logs—are</a:t>
            </a:r>
            <a:r>
              <a:rPr sz="2000" spc="-3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saved</a:t>
            </a:r>
            <a:r>
              <a:rPr sz="2000" spc="-1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for</a:t>
            </a:r>
            <a:r>
              <a:rPr sz="2000" spc="-2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inference</a:t>
            </a:r>
            <a:r>
              <a:rPr sz="2000" spc="-2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sz="2000" spc="-1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monitoring.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79145" y="6472150"/>
            <a:ext cx="1281881" cy="193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2"/>
              </a:lnSpc>
              <a:spcBef>
                <a:spcPct val="0"/>
              </a:spcBef>
              <a:spcAft>
                <a:spcPct val="0"/>
              </a:spcAft>
            </a:pP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Dept</a:t>
            </a:r>
            <a:r>
              <a:rPr sz="1100" i="1" spc="-2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1100" i="1" spc="-3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CSE,</a:t>
            </a:r>
            <a:r>
              <a:rPr sz="1100" i="1" spc="-1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 spc="-30">
                <a:solidFill>
                  <a:srgbClr val="000000"/>
                </a:solidFill>
                <a:latin typeface="Times New Roman"/>
                <a:cs typeface="Times New Roman"/>
              </a:rPr>
              <a:t>EWCE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884162" y="6472150"/>
            <a:ext cx="1793581" cy="193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2"/>
              </a:lnSpc>
              <a:spcBef>
                <a:spcPct val="0"/>
              </a:spcBef>
              <a:spcAft>
                <a:spcPct val="0"/>
              </a:spcAft>
            </a:pP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Image Classification</a:t>
            </a:r>
            <a:r>
              <a:rPr sz="1100" i="1" spc="-6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using</a:t>
            </a:r>
            <a:r>
              <a:rPr sz="1100" i="1" spc="-10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 spc="-24">
                <a:solidFill>
                  <a:srgbClr val="000000"/>
                </a:solidFill>
                <a:latin typeface="Times New Roman"/>
                <a:cs typeface="Times New Roman"/>
              </a:rPr>
              <a:t>AI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629789" y="255889"/>
            <a:ext cx="4050501" cy="4887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48"/>
              </a:lnSpc>
              <a:spcBef>
                <a:spcPct val="0"/>
              </a:spcBef>
              <a:spcAft>
                <a:spcPct val="0"/>
              </a:spcAft>
            </a:pPr>
            <a:r>
              <a:rPr sz="3200">
                <a:solidFill>
                  <a:srgbClr val="DA1F28"/>
                </a:solidFill>
                <a:latin typeface="Times New Roman"/>
                <a:cs typeface="Times New Roman"/>
              </a:rPr>
              <a:t>USE</a:t>
            </a:r>
            <a:r>
              <a:rPr sz="3200" spc="-191">
                <a:solidFill>
                  <a:srgbClr val="DA1F28"/>
                </a:solidFill>
                <a:latin typeface="Times New Roman"/>
                <a:cs typeface="Times New Roman"/>
              </a:rPr>
              <a:t> </a:t>
            </a:r>
            <a:r>
              <a:rPr sz="3200" spc="-23">
                <a:solidFill>
                  <a:srgbClr val="DA1F28"/>
                </a:solidFill>
                <a:latin typeface="Times New Roman"/>
                <a:cs typeface="Times New Roman"/>
              </a:rPr>
              <a:t>CASE</a:t>
            </a:r>
            <a:r>
              <a:rPr sz="3200" spc="-21">
                <a:solidFill>
                  <a:srgbClr val="DA1F28"/>
                </a:solidFill>
                <a:latin typeface="Times New Roman"/>
                <a:cs typeface="Times New Roman"/>
              </a:rPr>
              <a:t> DIAGRAM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9145" y="6472150"/>
            <a:ext cx="1281881" cy="193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2"/>
              </a:lnSpc>
              <a:spcBef>
                <a:spcPct val="0"/>
              </a:spcBef>
              <a:spcAft>
                <a:spcPct val="0"/>
              </a:spcAft>
            </a:pP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Dept</a:t>
            </a:r>
            <a:r>
              <a:rPr sz="1100" i="1" spc="-2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1100" i="1" spc="-3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CSE,</a:t>
            </a:r>
            <a:r>
              <a:rPr sz="1100" i="1" spc="-1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 spc="-30">
                <a:solidFill>
                  <a:srgbClr val="000000"/>
                </a:solidFill>
                <a:latin typeface="Times New Roman"/>
                <a:cs typeface="Times New Roman"/>
              </a:rPr>
              <a:t>EWCE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884162" y="6472150"/>
            <a:ext cx="1793581" cy="193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2"/>
              </a:lnSpc>
              <a:spcBef>
                <a:spcPct val="0"/>
              </a:spcBef>
              <a:spcAft>
                <a:spcPct val="0"/>
              </a:spcAft>
            </a:pP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Image Classification</a:t>
            </a:r>
            <a:r>
              <a:rPr sz="1100" i="1" spc="-6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using</a:t>
            </a:r>
            <a:r>
              <a:rPr sz="1100" i="1" spc="-10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 spc="-24">
                <a:solidFill>
                  <a:srgbClr val="000000"/>
                </a:solidFill>
                <a:latin typeface="Times New Roman"/>
                <a:cs typeface="Times New Roman"/>
              </a:rPr>
              <a:t>AI</a:t>
            </a: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76732" y="214798"/>
            <a:ext cx="3420114" cy="3756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57"/>
              </a:lnSpc>
              <a:spcBef>
                <a:spcPct val="0"/>
              </a:spcBef>
              <a:spcAft>
                <a:spcPct val="0"/>
              </a:spcAft>
            </a:pPr>
            <a:r>
              <a:rPr sz="2400" b="1" u="sng">
                <a:solidFill>
                  <a:srgbClr val="000000"/>
                </a:solidFill>
                <a:latin typeface="Times New Roman"/>
                <a:cs typeface="Times New Roman"/>
              </a:rPr>
              <a:t>Use Cases</a:t>
            </a:r>
            <a:r>
              <a:rPr sz="2400" b="1" u="sng" spc="1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b="1" u="sng">
                <a:solidFill>
                  <a:srgbClr val="000000"/>
                </a:solidFill>
                <a:latin typeface="Times New Roman"/>
                <a:cs typeface="Times New Roman"/>
              </a:rPr>
              <a:t>for Naive User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76732" y="746462"/>
            <a:ext cx="8527153" cy="12386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41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000" spc="150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>
                <a:solidFill>
                  <a:srgbClr val="000000"/>
                </a:solidFill>
                <a:latin typeface="Times New Roman"/>
                <a:cs typeface="Times New Roman"/>
              </a:rPr>
              <a:t>Start:</a:t>
            </a:r>
            <a:r>
              <a:rPr sz="2000" b="1" spc="-4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User initiates</a:t>
            </a:r>
            <a:r>
              <a:rPr sz="2000" spc="-2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2000" spc="-1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system</a:t>
            </a:r>
            <a:r>
              <a:rPr sz="2000" spc="-2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to begin</a:t>
            </a:r>
            <a:r>
              <a:rPr sz="2000" spc="-3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2000" spc="-1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classification</a:t>
            </a:r>
            <a:r>
              <a:rPr sz="2000" spc="-3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workflow.</a:t>
            </a:r>
          </a:p>
          <a:p>
            <a:pPr marL="0" marR="0">
              <a:lnSpc>
                <a:spcPts val="2238"/>
              </a:lnSpc>
              <a:spcBef>
                <a:spcPts val="1354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000" spc="150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>
                <a:solidFill>
                  <a:srgbClr val="000000"/>
                </a:solidFill>
                <a:latin typeface="Times New Roman"/>
                <a:cs typeface="Times New Roman"/>
              </a:rPr>
              <a:t>Select</a:t>
            </a:r>
            <a:r>
              <a:rPr sz="2000" b="1" spc="-1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>
                <a:solidFill>
                  <a:srgbClr val="000000"/>
                </a:solidFill>
                <a:latin typeface="Times New Roman"/>
                <a:cs typeface="Times New Roman"/>
              </a:rPr>
              <a:t>Image:</a:t>
            </a:r>
            <a:r>
              <a:rPr sz="2000" b="1" spc="-2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User</a:t>
            </a:r>
            <a:r>
              <a:rPr sz="2000" spc="-1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chooses</a:t>
            </a:r>
            <a:r>
              <a:rPr sz="2000" spc="-3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the image to</a:t>
            </a:r>
            <a:r>
              <a:rPr sz="2000" spc="-1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be classified</a:t>
            </a:r>
            <a:r>
              <a:rPr sz="2000" spc="-2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from</a:t>
            </a:r>
            <a:r>
              <a:rPr sz="2000" spc="-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the local</a:t>
            </a:r>
            <a:r>
              <a:rPr sz="2000" spc="-2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system</a:t>
            </a:r>
            <a:r>
              <a:rPr sz="2000" spc="-1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or</a:t>
            </a:r>
          </a:p>
          <a:p>
            <a:pPr marL="342900" marR="0">
              <a:lnSpc>
                <a:spcPts val="2219"/>
              </a:lnSpc>
              <a:spcBef>
                <a:spcPts val="138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another</a:t>
            </a:r>
            <a:r>
              <a:rPr sz="2000" spc="-3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source.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76732" y="2118443"/>
            <a:ext cx="8374418" cy="12384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41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000" spc="150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>
                <a:solidFill>
                  <a:srgbClr val="000000"/>
                </a:solidFill>
                <a:latin typeface="Times New Roman"/>
                <a:cs typeface="Times New Roman"/>
              </a:rPr>
              <a:t>Upload</a:t>
            </a:r>
            <a:r>
              <a:rPr sz="2000" b="1" spc="-3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>
                <a:solidFill>
                  <a:srgbClr val="000000"/>
                </a:solidFill>
                <a:latin typeface="Times New Roman"/>
                <a:cs typeface="Times New Roman"/>
              </a:rPr>
              <a:t>Image:</a:t>
            </a:r>
            <a:r>
              <a:rPr sz="2000" b="1" spc="-2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User</a:t>
            </a:r>
            <a:r>
              <a:rPr sz="2000" spc="-1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uploads</a:t>
            </a:r>
            <a:r>
              <a:rPr sz="2000" spc="-3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2000" spc="-2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selected image for</a:t>
            </a:r>
            <a:r>
              <a:rPr sz="2000" spc="-2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processing.</a:t>
            </a:r>
          </a:p>
          <a:p>
            <a:pPr marL="0" marR="0">
              <a:lnSpc>
                <a:spcPts val="2238"/>
              </a:lnSpc>
              <a:spcBef>
                <a:spcPts val="1353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000" spc="150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>
                <a:solidFill>
                  <a:srgbClr val="000000"/>
                </a:solidFill>
                <a:latin typeface="Times New Roman"/>
                <a:cs typeface="Times New Roman"/>
              </a:rPr>
              <a:t>Predict</a:t>
            </a:r>
            <a:r>
              <a:rPr sz="2000" b="1" spc="-1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>
                <a:solidFill>
                  <a:srgbClr val="000000"/>
                </a:solidFill>
                <a:latin typeface="Times New Roman"/>
                <a:cs typeface="Times New Roman"/>
              </a:rPr>
              <a:t>Output:</a:t>
            </a:r>
            <a:r>
              <a:rPr sz="2000" b="1" spc="-3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User</a:t>
            </a:r>
            <a:r>
              <a:rPr sz="2000" spc="-1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requests</a:t>
            </a:r>
            <a:r>
              <a:rPr sz="2000" spc="-3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2000" spc="-2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system to</a:t>
            </a:r>
            <a:r>
              <a:rPr sz="2000" spc="-1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classify</a:t>
            </a:r>
            <a:r>
              <a:rPr sz="2000" spc="-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the uploaded</a:t>
            </a:r>
            <a:r>
              <a:rPr sz="2000" spc="-3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image and</a:t>
            </a:r>
          </a:p>
          <a:p>
            <a:pPr marL="342900" marR="0">
              <a:lnSpc>
                <a:spcPts val="2219"/>
              </a:lnSpc>
              <a:spcBef>
                <a:spcPts val="138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produce</a:t>
            </a:r>
            <a:r>
              <a:rPr sz="2000" spc="-3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 result.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76732" y="3490573"/>
            <a:ext cx="8003659" cy="7808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8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000" spc="150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>
                <a:solidFill>
                  <a:srgbClr val="000000"/>
                </a:solidFill>
                <a:latin typeface="Times New Roman"/>
                <a:cs typeface="Times New Roman"/>
              </a:rPr>
              <a:t>Get</a:t>
            </a:r>
            <a:r>
              <a:rPr sz="2000" b="1" spc="-1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>
                <a:solidFill>
                  <a:srgbClr val="000000"/>
                </a:solidFill>
                <a:latin typeface="Times New Roman"/>
                <a:cs typeface="Times New Roman"/>
              </a:rPr>
              <a:t>Result:</a:t>
            </a:r>
            <a:r>
              <a:rPr sz="2000" b="1" spc="-2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User</a:t>
            </a:r>
            <a:r>
              <a:rPr sz="2000" spc="-1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receives</a:t>
            </a:r>
            <a:r>
              <a:rPr sz="2000" spc="-2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the final</a:t>
            </a:r>
            <a:r>
              <a:rPr sz="2000" spc="-3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classification</a:t>
            </a:r>
            <a:r>
              <a:rPr sz="2000" spc="-3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result</a:t>
            </a:r>
            <a:r>
              <a:rPr sz="2000" spc="-4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or output</a:t>
            </a:r>
            <a:r>
              <a:rPr sz="2000" spc="-5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from</a:t>
            </a:r>
            <a:r>
              <a:rPr sz="2000" spc="-2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</a:p>
          <a:p>
            <a:pPr marL="342900" marR="0">
              <a:lnSpc>
                <a:spcPts val="2221"/>
              </a:lnSpc>
              <a:spcBef>
                <a:spcPts val="1378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system.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79145" y="6472150"/>
            <a:ext cx="1281881" cy="193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2"/>
              </a:lnSpc>
              <a:spcBef>
                <a:spcPct val="0"/>
              </a:spcBef>
              <a:spcAft>
                <a:spcPct val="0"/>
              </a:spcAft>
            </a:pP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Dept</a:t>
            </a:r>
            <a:r>
              <a:rPr sz="1100" i="1" spc="-2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1100" i="1" spc="-3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CSE,</a:t>
            </a:r>
            <a:r>
              <a:rPr sz="1100" i="1" spc="-1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 spc="-30">
                <a:solidFill>
                  <a:srgbClr val="000000"/>
                </a:solidFill>
                <a:latin typeface="Times New Roman"/>
                <a:cs typeface="Times New Roman"/>
              </a:rPr>
              <a:t>EWCE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884162" y="6472150"/>
            <a:ext cx="1793581" cy="193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2"/>
              </a:lnSpc>
              <a:spcBef>
                <a:spcPct val="0"/>
              </a:spcBef>
              <a:spcAft>
                <a:spcPct val="0"/>
              </a:spcAft>
            </a:pP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Image Classification</a:t>
            </a:r>
            <a:r>
              <a:rPr sz="1100" i="1" spc="-6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using</a:t>
            </a:r>
            <a:r>
              <a:rPr sz="1100" i="1" spc="-10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 spc="-24">
                <a:solidFill>
                  <a:srgbClr val="000000"/>
                </a:solidFill>
                <a:latin typeface="Times New Roman"/>
                <a:cs typeface="Times New Roman"/>
              </a:rPr>
              <a:t>AI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76732" y="207559"/>
            <a:ext cx="3895041" cy="3756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57"/>
              </a:lnSpc>
              <a:spcBef>
                <a:spcPct val="0"/>
              </a:spcBef>
              <a:spcAft>
                <a:spcPct val="0"/>
              </a:spcAft>
            </a:pPr>
            <a:r>
              <a:rPr sz="2400" b="1" u="sng">
                <a:solidFill>
                  <a:srgbClr val="000000"/>
                </a:solidFill>
                <a:latin typeface="Times New Roman"/>
                <a:cs typeface="Times New Roman"/>
              </a:rPr>
              <a:t>Use Cases</a:t>
            </a:r>
            <a:r>
              <a:rPr sz="2400" b="1" u="sng" spc="1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b="1" u="sng">
                <a:solidFill>
                  <a:srgbClr val="000000"/>
                </a:solidFill>
                <a:latin typeface="Times New Roman"/>
                <a:cs typeface="Times New Roman"/>
              </a:rPr>
              <a:t>for System Expert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76732" y="691325"/>
            <a:ext cx="8535188" cy="11177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1800" spc="162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b="1">
                <a:solidFill>
                  <a:srgbClr val="000000"/>
                </a:solidFill>
                <a:latin typeface="Times New Roman"/>
                <a:cs typeface="Times New Roman"/>
              </a:rPr>
              <a:t>Preprocess</a:t>
            </a:r>
            <a:r>
              <a:rPr sz="1800" b="1" spc="-2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b="1">
                <a:solidFill>
                  <a:srgbClr val="000000"/>
                </a:solidFill>
                <a:latin typeface="Times New Roman"/>
                <a:cs typeface="Times New Roman"/>
              </a:rPr>
              <a:t>Image:</a:t>
            </a:r>
            <a:r>
              <a:rPr sz="1800" b="1" spc="1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System</a:t>
            </a:r>
            <a:r>
              <a:rPr sz="1800" spc="-2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Expert handles image preprocessing steps, such as resizing,</a:t>
            </a:r>
          </a:p>
          <a:p>
            <a:pPr marL="342900" marR="0">
              <a:lnSpc>
                <a:spcPts val="1996"/>
              </a:lnSpc>
              <a:spcBef>
                <a:spcPts val="1294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normalization,</a:t>
            </a:r>
            <a:r>
              <a:rPr sz="1800" spc="-2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or filtering,</a:t>
            </a:r>
            <a:r>
              <a:rPr sz="1800" spc="-2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to make the image suitable</a:t>
            </a:r>
            <a:r>
              <a:rPr sz="1800" spc="-1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for feature</a:t>
            </a:r>
            <a:r>
              <a:rPr sz="1800" spc="-1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extraction</a:t>
            </a:r>
            <a:r>
              <a:rPr sz="1800" spc="-3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and CNN</a:t>
            </a:r>
          </a:p>
          <a:p>
            <a:pPr marL="342900" marR="0">
              <a:lnSpc>
                <a:spcPts val="1993"/>
              </a:lnSpc>
              <a:spcBef>
                <a:spcPts val="1248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input.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76732" y="1926019"/>
            <a:ext cx="8449769" cy="7059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1800" spc="162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b="1">
                <a:solidFill>
                  <a:srgbClr val="000000"/>
                </a:solidFill>
                <a:latin typeface="Times New Roman"/>
                <a:cs typeface="Times New Roman"/>
              </a:rPr>
              <a:t>Extract Features: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Expert</a:t>
            </a:r>
            <a:r>
              <a:rPr sz="1800" spc="-1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engineers</a:t>
            </a:r>
            <a:r>
              <a:rPr sz="1800" spc="-1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extract</a:t>
            </a:r>
            <a:r>
              <a:rPr sz="1800" spc="-1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critical</a:t>
            </a:r>
            <a:r>
              <a:rPr sz="1800" spc="-3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features</a:t>
            </a:r>
            <a:r>
              <a:rPr sz="1800" spc="-2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from the image needed for</a:t>
            </a:r>
          </a:p>
          <a:p>
            <a:pPr marL="342900" marR="0">
              <a:lnSpc>
                <a:spcPts val="1993"/>
              </a:lnSpc>
              <a:spcBef>
                <a:spcPts val="1296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effective</a:t>
            </a:r>
            <a:r>
              <a:rPr sz="1800" spc="-2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classification.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76732" y="2749360"/>
            <a:ext cx="8120051" cy="7059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1800" spc="162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b="1">
                <a:solidFill>
                  <a:srgbClr val="000000"/>
                </a:solidFill>
                <a:latin typeface="Times New Roman"/>
                <a:cs typeface="Times New Roman"/>
              </a:rPr>
              <a:t>Build</a:t>
            </a:r>
            <a:r>
              <a:rPr sz="1800" b="1" spc="-1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b="1">
                <a:solidFill>
                  <a:srgbClr val="000000"/>
                </a:solidFill>
                <a:latin typeface="Times New Roman"/>
                <a:cs typeface="Times New Roman"/>
              </a:rPr>
              <a:t>CNN</a:t>
            </a:r>
            <a:r>
              <a:rPr sz="1800" b="1" spc="1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b="1">
                <a:solidFill>
                  <a:srgbClr val="000000"/>
                </a:solidFill>
                <a:latin typeface="Times New Roman"/>
                <a:cs typeface="Times New Roman"/>
              </a:rPr>
              <a:t>Model: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Expert</a:t>
            </a:r>
            <a:r>
              <a:rPr sz="1800" spc="-1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designs and develops the CNN architecture,</a:t>
            </a:r>
            <a:r>
              <a:rPr sz="1800" spc="-4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optimizing</a:t>
            </a:r>
          </a:p>
          <a:p>
            <a:pPr marL="342900" marR="0">
              <a:lnSpc>
                <a:spcPts val="1993"/>
              </a:lnSpc>
              <a:spcBef>
                <a:spcPts val="1296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layers</a:t>
            </a:r>
            <a:r>
              <a:rPr sz="1800" spc="-3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and parameters for high performance.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76732" y="3572320"/>
            <a:ext cx="8474114" cy="7059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1800" spc="162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b="1">
                <a:solidFill>
                  <a:srgbClr val="000000"/>
                </a:solidFill>
                <a:latin typeface="Times New Roman"/>
                <a:cs typeface="Times New Roman"/>
              </a:rPr>
              <a:t>Train</a:t>
            </a:r>
            <a:r>
              <a:rPr sz="1800" b="1" spc="-1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b="1">
                <a:solidFill>
                  <a:srgbClr val="000000"/>
                </a:solidFill>
                <a:latin typeface="Times New Roman"/>
                <a:cs typeface="Times New Roman"/>
              </a:rPr>
              <a:t>Model: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Expert trains</a:t>
            </a:r>
            <a:r>
              <a:rPr sz="1800" spc="-2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the CNN model using labeled</a:t>
            </a:r>
            <a:r>
              <a:rPr sz="1800" spc="-2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datasets to learn</a:t>
            </a:r>
            <a:r>
              <a:rPr sz="1800" spc="-1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the patterns</a:t>
            </a:r>
          </a:p>
          <a:p>
            <a:pPr marL="342900" marR="0">
              <a:lnSpc>
                <a:spcPts val="1993"/>
              </a:lnSpc>
              <a:spcBef>
                <a:spcPts val="1296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needed</a:t>
            </a:r>
            <a:r>
              <a:rPr sz="1800" spc="-1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for efficient</a:t>
            </a:r>
            <a:r>
              <a:rPr sz="1800" spc="-1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image classification.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76732" y="4395534"/>
            <a:ext cx="8456738" cy="7059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1800" spc="162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b="1">
                <a:solidFill>
                  <a:srgbClr val="000000"/>
                </a:solidFill>
                <a:latin typeface="Times New Roman"/>
                <a:cs typeface="Times New Roman"/>
              </a:rPr>
              <a:t>Predict</a:t>
            </a:r>
            <a:r>
              <a:rPr sz="1800" b="1" spc="-2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b="1">
                <a:solidFill>
                  <a:srgbClr val="000000"/>
                </a:solidFill>
                <a:latin typeface="Times New Roman"/>
                <a:cs typeface="Times New Roman"/>
              </a:rPr>
              <a:t>Output:</a:t>
            </a:r>
            <a:r>
              <a:rPr sz="1800" b="1" spc="1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Expert can also</a:t>
            </a:r>
            <a:r>
              <a:rPr sz="1800" spc="-1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run the model</a:t>
            </a:r>
            <a:r>
              <a:rPr sz="1800" spc="1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to predict</a:t>
            </a:r>
            <a:r>
              <a:rPr sz="1800" spc="-1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the class</a:t>
            </a:r>
            <a:r>
              <a:rPr sz="1800" spc="-1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of uploaded</a:t>
            </a:r>
            <a:r>
              <a:rPr sz="1800" spc="-1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images</a:t>
            </a:r>
          </a:p>
          <a:p>
            <a:pPr marL="342900" marR="0">
              <a:lnSpc>
                <a:spcPts val="1993"/>
              </a:lnSpc>
              <a:spcBef>
                <a:spcPts val="1296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and validate</a:t>
            </a:r>
            <a:r>
              <a:rPr sz="1800" spc="-1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or interpret</a:t>
            </a:r>
            <a:r>
              <a:rPr sz="1800" spc="-1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results.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76732" y="5218494"/>
            <a:ext cx="7994777" cy="7059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1800" spc="162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b="1">
                <a:solidFill>
                  <a:srgbClr val="000000"/>
                </a:solidFill>
                <a:latin typeface="Times New Roman"/>
                <a:cs typeface="Times New Roman"/>
              </a:rPr>
              <a:t>Get Result: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System</a:t>
            </a:r>
            <a:r>
              <a:rPr sz="1800" spc="-2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Expert</a:t>
            </a:r>
            <a:r>
              <a:rPr sz="1800" spc="-1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verifies or interprets the</a:t>
            </a:r>
            <a:r>
              <a:rPr sz="1800" spc="-1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output from the classification</a:t>
            </a:r>
          </a:p>
          <a:p>
            <a:pPr marL="342900" marR="0">
              <a:lnSpc>
                <a:spcPts val="1993"/>
              </a:lnSpc>
              <a:spcBef>
                <a:spcPts val="1296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process.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79145" y="6472150"/>
            <a:ext cx="1281881" cy="193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2"/>
              </a:lnSpc>
              <a:spcBef>
                <a:spcPct val="0"/>
              </a:spcBef>
              <a:spcAft>
                <a:spcPct val="0"/>
              </a:spcAft>
            </a:pP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Dept</a:t>
            </a:r>
            <a:r>
              <a:rPr sz="1100" i="1" spc="-2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1100" i="1" spc="-3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CSE,</a:t>
            </a:r>
            <a:r>
              <a:rPr sz="1100" i="1" spc="-1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 spc="-30">
                <a:solidFill>
                  <a:srgbClr val="000000"/>
                </a:solidFill>
                <a:latin typeface="Times New Roman"/>
                <a:cs typeface="Times New Roman"/>
              </a:rPr>
              <a:t>EWCE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884162" y="6472150"/>
            <a:ext cx="1793581" cy="193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2"/>
              </a:lnSpc>
              <a:spcBef>
                <a:spcPct val="0"/>
              </a:spcBef>
              <a:spcAft>
                <a:spcPct val="0"/>
              </a:spcAft>
            </a:pP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Image Classification</a:t>
            </a:r>
            <a:r>
              <a:rPr sz="1100" i="1" spc="-6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using</a:t>
            </a:r>
            <a:r>
              <a:rPr sz="1100" i="1" spc="-10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 spc="-24">
                <a:solidFill>
                  <a:srgbClr val="000000"/>
                </a:solidFill>
                <a:latin typeface="Times New Roman"/>
                <a:cs typeface="Times New Roman"/>
              </a:rPr>
              <a:t>AI</a:t>
            </a: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515489" y="255889"/>
            <a:ext cx="4277291" cy="4887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48"/>
              </a:lnSpc>
              <a:spcBef>
                <a:spcPct val="0"/>
              </a:spcBef>
              <a:spcAft>
                <a:spcPct val="0"/>
              </a:spcAft>
            </a:pPr>
            <a:r>
              <a:rPr sz="3200" spc="-22">
                <a:solidFill>
                  <a:srgbClr val="DA1F28"/>
                </a:solidFill>
                <a:latin typeface="Times New Roman"/>
                <a:cs typeface="Times New Roman"/>
              </a:rPr>
              <a:t>SEQUENCE </a:t>
            </a:r>
            <a:r>
              <a:rPr sz="3200" spc="-21">
                <a:solidFill>
                  <a:srgbClr val="DA1F28"/>
                </a:solidFill>
                <a:latin typeface="Times New Roman"/>
                <a:cs typeface="Times New Roman"/>
              </a:rPr>
              <a:t>DIAGRAM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53439" y="1024307"/>
            <a:ext cx="569638" cy="2444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24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DUIRPG+Arial Rounded MT Bold"/>
                <a:cs typeface="DUIRPG+Arial Rounded MT Bold"/>
              </a:rPr>
              <a:t>User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021070" y="1010590"/>
            <a:ext cx="1120968" cy="2444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24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DUIRPG+Arial Rounded MT Bold"/>
                <a:cs typeface="DUIRPG+Arial Rounded MT Bold"/>
              </a:rPr>
              <a:t>CNN</a:t>
            </a:r>
            <a:r>
              <a:rPr sz="1400" spc="-13">
                <a:solidFill>
                  <a:srgbClr val="000000"/>
                </a:solidFill>
                <a:latin typeface="DUIRPG+Arial Rounded MT Bold"/>
                <a:cs typeface="DUIRPG+Arial Rounded MT Bold"/>
              </a:rPr>
              <a:t> </a:t>
            </a:r>
            <a:r>
              <a:rPr sz="1400">
                <a:solidFill>
                  <a:srgbClr val="000000"/>
                </a:solidFill>
                <a:latin typeface="DUIRPG+Arial Rounded MT Bold"/>
                <a:cs typeface="DUIRPG+Arial Rounded MT Bold"/>
              </a:rPr>
              <a:t>Model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585083" y="1044627"/>
            <a:ext cx="485477" cy="2444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24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DUIRPG+Arial Rounded MT Bold"/>
                <a:cs typeface="DUIRPG+Arial Rounded MT Bold"/>
              </a:rPr>
              <a:t>GUI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79145" y="6472150"/>
            <a:ext cx="1281881" cy="193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2"/>
              </a:lnSpc>
              <a:spcBef>
                <a:spcPct val="0"/>
              </a:spcBef>
              <a:spcAft>
                <a:spcPct val="0"/>
              </a:spcAft>
            </a:pP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Dept</a:t>
            </a:r>
            <a:r>
              <a:rPr sz="1100" i="1" spc="-2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1100" i="1" spc="-3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CSE,</a:t>
            </a:r>
            <a:r>
              <a:rPr sz="1100" i="1" spc="-1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 spc="-30">
                <a:solidFill>
                  <a:srgbClr val="000000"/>
                </a:solidFill>
                <a:latin typeface="Times New Roman"/>
                <a:cs typeface="Times New Roman"/>
              </a:rPr>
              <a:t>EWCE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884162" y="6472150"/>
            <a:ext cx="1793581" cy="193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2"/>
              </a:lnSpc>
              <a:spcBef>
                <a:spcPct val="0"/>
              </a:spcBef>
              <a:spcAft>
                <a:spcPct val="0"/>
              </a:spcAft>
            </a:pP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Image Classification</a:t>
            </a:r>
            <a:r>
              <a:rPr sz="1100" i="1" spc="-6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using</a:t>
            </a:r>
            <a:r>
              <a:rPr sz="1100" i="1" spc="-10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 spc="-24">
                <a:solidFill>
                  <a:srgbClr val="000000"/>
                </a:solidFill>
                <a:latin typeface="Times New Roman"/>
                <a:cs typeface="Times New Roman"/>
              </a:rPr>
              <a:t>AI</a:t>
            </a: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76732" y="378685"/>
            <a:ext cx="3172178" cy="3199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14"/>
              </a:lnSpc>
              <a:spcBef>
                <a:spcPct val="0"/>
              </a:spcBef>
              <a:spcAft>
                <a:spcPct val="0"/>
              </a:spcAft>
            </a:pPr>
            <a:r>
              <a:rPr sz="2000" b="1" u="sng">
                <a:solidFill>
                  <a:srgbClr val="000000"/>
                </a:solidFill>
                <a:latin typeface="Times New Roman"/>
                <a:cs typeface="Times New Roman"/>
              </a:rPr>
              <a:t>Key</a:t>
            </a:r>
            <a:r>
              <a:rPr sz="2000" b="1" u="sng" spc="-1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 u="sng">
                <a:solidFill>
                  <a:srgbClr val="000000"/>
                </a:solidFill>
                <a:latin typeface="Times New Roman"/>
                <a:cs typeface="Times New Roman"/>
              </a:rPr>
              <a:t>Actors</a:t>
            </a:r>
            <a:r>
              <a:rPr sz="2000" b="1" u="sng" spc="-1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 u="sng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sz="2000" b="1" u="sng" spc="-2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 u="sng">
                <a:solidFill>
                  <a:srgbClr val="000000"/>
                </a:solidFill>
                <a:latin typeface="Times New Roman"/>
                <a:cs typeface="Times New Roman"/>
              </a:rPr>
              <a:t>Their Roles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76732" y="810717"/>
            <a:ext cx="8505261" cy="33491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18"/>
              </a:lnSpc>
              <a:spcBef>
                <a:spcPct val="0"/>
              </a:spcBef>
              <a:spcAft>
                <a:spcPct val="0"/>
              </a:spcAft>
            </a:pPr>
            <a:r>
              <a:rPr sz="19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1900" spc="156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900" b="1">
                <a:solidFill>
                  <a:srgbClr val="000000"/>
                </a:solidFill>
                <a:latin typeface="Times New Roman"/>
                <a:cs typeface="Times New Roman"/>
              </a:rPr>
              <a:t>User: </a:t>
            </a:r>
            <a:r>
              <a:rPr sz="1900">
                <a:solidFill>
                  <a:srgbClr val="000000"/>
                </a:solidFill>
                <a:latin typeface="Times New Roman"/>
                <a:cs typeface="Times New Roman"/>
              </a:rPr>
              <a:t>Initiates</a:t>
            </a:r>
            <a:r>
              <a:rPr sz="1900" spc="-1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900">
                <a:solidFill>
                  <a:srgbClr val="000000"/>
                </a:solidFill>
                <a:latin typeface="Times New Roman"/>
                <a:cs typeface="Times New Roman"/>
              </a:rPr>
              <a:t>interaction by uploading or browsing</a:t>
            </a:r>
            <a:r>
              <a:rPr sz="1900" spc="1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900">
                <a:solidFill>
                  <a:srgbClr val="000000"/>
                </a:solidFill>
                <a:latin typeface="Times New Roman"/>
                <a:cs typeface="Times New Roman"/>
              </a:rPr>
              <a:t>images,</a:t>
            </a:r>
            <a:r>
              <a:rPr sz="1900" spc="2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900">
                <a:solidFill>
                  <a:srgbClr val="000000"/>
                </a:solidFill>
                <a:latin typeface="Times New Roman"/>
                <a:cs typeface="Times New Roman"/>
              </a:rPr>
              <a:t>receives</a:t>
            </a:r>
            <a:r>
              <a:rPr sz="1900" spc="-1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900">
                <a:solidFill>
                  <a:srgbClr val="000000"/>
                </a:solidFill>
                <a:latin typeface="Times New Roman"/>
                <a:cs typeface="Times New Roman"/>
              </a:rPr>
              <a:t>classification</a:t>
            </a:r>
          </a:p>
          <a:p>
            <a:pPr marL="342900" marR="0">
              <a:lnSpc>
                <a:spcPts val="2099"/>
              </a:lnSpc>
              <a:spcBef>
                <a:spcPts val="1320"/>
              </a:spcBef>
              <a:spcAft>
                <a:spcPct val="0"/>
              </a:spcAft>
            </a:pPr>
            <a:r>
              <a:rPr sz="1900">
                <a:solidFill>
                  <a:srgbClr val="000000"/>
                </a:solidFill>
                <a:latin typeface="Times New Roman"/>
                <a:cs typeface="Times New Roman"/>
              </a:rPr>
              <a:t>results or error messages,</a:t>
            </a:r>
            <a:r>
              <a:rPr sz="1900" spc="3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900">
                <a:solidFill>
                  <a:srgbClr val="000000"/>
                </a:solidFill>
                <a:latin typeface="Times New Roman"/>
                <a:cs typeface="Times New Roman"/>
              </a:rPr>
              <a:t>and uses the output for</a:t>
            </a:r>
            <a:r>
              <a:rPr sz="1900" spc="1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900">
                <a:solidFill>
                  <a:srgbClr val="000000"/>
                </a:solidFill>
                <a:latin typeface="Times New Roman"/>
                <a:cs typeface="Times New Roman"/>
              </a:rPr>
              <a:t>further decisions.</a:t>
            </a:r>
          </a:p>
          <a:p>
            <a:pPr marL="0" marR="0">
              <a:lnSpc>
                <a:spcPts val="2120"/>
              </a:lnSpc>
              <a:spcBef>
                <a:spcPts val="1341"/>
              </a:spcBef>
              <a:spcAft>
                <a:spcPct val="0"/>
              </a:spcAft>
            </a:pPr>
            <a:r>
              <a:rPr sz="19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1900" spc="156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900" b="1">
                <a:solidFill>
                  <a:srgbClr val="000000"/>
                </a:solidFill>
                <a:latin typeface="Times New Roman"/>
                <a:cs typeface="Times New Roman"/>
              </a:rPr>
              <a:t>GUI (Graphical User Interface):</a:t>
            </a:r>
            <a:r>
              <a:rPr sz="1900" b="1" spc="1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900">
                <a:solidFill>
                  <a:srgbClr val="000000"/>
                </a:solidFill>
                <a:latin typeface="Times New Roman"/>
                <a:cs typeface="Times New Roman"/>
              </a:rPr>
              <a:t>Acts as the intermediary layer between the user</a:t>
            </a:r>
          </a:p>
          <a:p>
            <a:pPr marL="342900" marR="0">
              <a:lnSpc>
                <a:spcPts val="2099"/>
              </a:lnSpc>
              <a:spcBef>
                <a:spcPts val="1321"/>
              </a:spcBef>
              <a:spcAft>
                <a:spcPct val="0"/>
              </a:spcAft>
            </a:pPr>
            <a:r>
              <a:rPr sz="1900">
                <a:solidFill>
                  <a:srgbClr val="000000"/>
                </a:solidFill>
                <a:latin typeface="Times New Roman"/>
                <a:cs typeface="Times New Roman"/>
              </a:rPr>
              <a:t>and the underlying CNN</a:t>
            </a:r>
            <a:r>
              <a:rPr sz="1900" spc="1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900">
                <a:solidFill>
                  <a:srgbClr val="000000"/>
                </a:solidFill>
                <a:latin typeface="Times New Roman"/>
                <a:cs typeface="Times New Roman"/>
              </a:rPr>
              <a:t>model,</a:t>
            </a:r>
            <a:r>
              <a:rPr sz="1900" spc="2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900">
                <a:solidFill>
                  <a:srgbClr val="000000"/>
                </a:solidFill>
                <a:latin typeface="Times New Roman"/>
                <a:cs typeface="Times New Roman"/>
              </a:rPr>
              <a:t>displaying menus,</a:t>
            </a:r>
            <a:r>
              <a:rPr sz="1900" spc="3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900">
                <a:solidFill>
                  <a:srgbClr val="000000"/>
                </a:solidFill>
                <a:latin typeface="Times New Roman"/>
                <a:cs typeface="Times New Roman"/>
              </a:rPr>
              <a:t>handling uploads, triggering</a:t>
            </a:r>
          </a:p>
          <a:p>
            <a:pPr marL="342900" marR="0">
              <a:lnSpc>
                <a:spcPts val="2099"/>
              </a:lnSpc>
              <a:spcBef>
                <a:spcPts val="1320"/>
              </a:spcBef>
              <a:spcAft>
                <a:spcPct val="0"/>
              </a:spcAft>
            </a:pPr>
            <a:r>
              <a:rPr sz="1900">
                <a:solidFill>
                  <a:srgbClr val="000000"/>
                </a:solidFill>
                <a:latin typeface="Times New Roman"/>
                <a:cs typeface="Times New Roman"/>
              </a:rPr>
              <a:t>processing,</a:t>
            </a:r>
            <a:r>
              <a:rPr sz="1900" spc="1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900">
                <a:solidFill>
                  <a:srgbClr val="000000"/>
                </a:solidFill>
                <a:latin typeface="Times New Roman"/>
                <a:cs typeface="Times New Roman"/>
              </a:rPr>
              <a:t>showing</a:t>
            </a:r>
            <a:r>
              <a:rPr sz="1900" spc="1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900">
                <a:solidFill>
                  <a:srgbClr val="000000"/>
                </a:solidFill>
                <a:latin typeface="Times New Roman"/>
                <a:cs typeface="Times New Roman"/>
              </a:rPr>
              <a:t>outputs, and managing</a:t>
            </a:r>
            <a:r>
              <a:rPr sz="1900" spc="1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900">
                <a:solidFill>
                  <a:srgbClr val="000000"/>
                </a:solidFill>
                <a:latin typeface="Times New Roman"/>
                <a:cs typeface="Times New Roman"/>
              </a:rPr>
              <a:t>error messaging.</a:t>
            </a:r>
          </a:p>
          <a:p>
            <a:pPr marL="0" marR="0">
              <a:lnSpc>
                <a:spcPts val="2118"/>
              </a:lnSpc>
              <a:spcBef>
                <a:spcPts val="1293"/>
              </a:spcBef>
              <a:spcAft>
                <a:spcPct val="0"/>
              </a:spcAft>
            </a:pPr>
            <a:r>
              <a:rPr sz="19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1900" spc="156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900" b="1">
                <a:solidFill>
                  <a:srgbClr val="000000"/>
                </a:solidFill>
                <a:latin typeface="Times New Roman"/>
                <a:cs typeface="Times New Roman"/>
              </a:rPr>
              <a:t>CNN</a:t>
            </a:r>
            <a:r>
              <a:rPr sz="1900" b="1" spc="1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900" b="1">
                <a:solidFill>
                  <a:srgbClr val="000000"/>
                </a:solidFill>
                <a:latin typeface="Times New Roman"/>
                <a:cs typeface="Times New Roman"/>
              </a:rPr>
              <a:t>Model:</a:t>
            </a:r>
            <a:r>
              <a:rPr sz="1900" b="1" spc="1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900">
                <a:solidFill>
                  <a:srgbClr val="000000"/>
                </a:solidFill>
                <a:latin typeface="Times New Roman"/>
                <a:cs typeface="Times New Roman"/>
              </a:rPr>
              <a:t>Responsible</a:t>
            </a:r>
            <a:r>
              <a:rPr sz="1900" spc="1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900">
                <a:solidFill>
                  <a:srgbClr val="000000"/>
                </a:solidFill>
                <a:latin typeface="Times New Roman"/>
                <a:cs typeface="Times New Roman"/>
              </a:rPr>
              <a:t>for the technical</a:t>
            </a:r>
            <a:r>
              <a:rPr sz="1900" spc="-1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900">
                <a:solidFill>
                  <a:srgbClr val="000000"/>
                </a:solidFill>
                <a:latin typeface="Times New Roman"/>
                <a:cs typeface="Times New Roman"/>
              </a:rPr>
              <a:t>core tasks such as image</a:t>
            </a:r>
          </a:p>
          <a:p>
            <a:pPr marL="342900" marR="0">
              <a:lnSpc>
                <a:spcPts val="2099"/>
              </a:lnSpc>
              <a:spcBef>
                <a:spcPts val="1323"/>
              </a:spcBef>
              <a:spcAft>
                <a:spcPct val="0"/>
              </a:spcAft>
            </a:pPr>
            <a:r>
              <a:rPr sz="1900">
                <a:solidFill>
                  <a:srgbClr val="000000"/>
                </a:solidFill>
                <a:latin typeface="Times New Roman"/>
                <a:cs typeface="Times New Roman"/>
              </a:rPr>
              <a:t>preprocessing, segmentation,</a:t>
            </a:r>
            <a:r>
              <a:rPr sz="1900" spc="2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900">
                <a:solidFill>
                  <a:srgbClr val="000000"/>
                </a:solidFill>
                <a:latin typeface="Times New Roman"/>
                <a:cs typeface="Times New Roman"/>
              </a:rPr>
              <a:t>image</a:t>
            </a:r>
            <a:r>
              <a:rPr sz="1900" spc="1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900">
                <a:solidFill>
                  <a:srgbClr val="000000"/>
                </a:solidFill>
                <a:latin typeface="Times New Roman"/>
                <a:cs typeface="Times New Roman"/>
              </a:rPr>
              <a:t>recognition, and error detection</a:t>
            </a:r>
            <a:r>
              <a:rPr sz="1900" spc="-2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900">
                <a:solidFill>
                  <a:srgbClr val="000000"/>
                </a:solidFill>
                <a:latin typeface="Times New Roman"/>
                <a:cs typeface="Times New Roman"/>
              </a:rPr>
              <a:t>during</a:t>
            </a:r>
          </a:p>
          <a:p>
            <a:pPr marL="342900" marR="0">
              <a:lnSpc>
                <a:spcPts val="2099"/>
              </a:lnSpc>
              <a:spcBef>
                <a:spcPts val="1320"/>
              </a:spcBef>
              <a:spcAft>
                <a:spcPct val="0"/>
              </a:spcAft>
            </a:pPr>
            <a:r>
              <a:rPr sz="1900">
                <a:solidFill>
                  <a:srgbClr val="000000"/>
                </a:solidFill>
                <a:latin typeface="Times New Roman"/>
                <a:cs typeface="Times New Roman"/>
              </a:rPr>
              <a:t>processing.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76732" y="4349340"/>
            <a:ext cx="2211921" cy="3199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14"/>
              </a:lnSpc>
              <a:spcBef>
                <a:spcPct val="0"/>
              </a:spcBef>
              <a:spcAft>
                <a:spcPct val="0"/>
              </a:spcAft>
            </a:pPr>
            <a:r>
              <a:rPr sz="2000" b="1" u="sng">
                <a:solidFill>
                  <a:srgbClr val="000000"/>
                </a:solidFill>
                <a:latin typeface="Times New Roman"/>
                <a:cs typeface="Times New Roman"/>
              </a:rPr>
              <a:t>Main</a:t>
            </a:r>
            <a:r>
              <a:rPr sz="2000" b="1" u="sng" spc="-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 u="sng">
                <a:solidFill>
                  <a:srgbClr val="000000"/>
                </a:solidFill>
                <a:latin typeface="Times New Roman"/>
                <a:cs typeface="Times New Roman"/>
              </a:rPr>
              <a:t>Process</a:t>
            </a:r>
            <a:r>
              <a:rPr sz="2000" b="1" u="sng" spc="-2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 u="sng">
                <a:solidFill>
                  <a:srgbClr val="000000"/>
                </a:solidFill>
                <a:latin typeface="Times New Roman"/>
                <a:cs typeface="Times New Roman"/>
              </a:rPr>
              <a:t>Flow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76732" y="4781096"/>
            <a:ext cx="8404927" cy="3085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20"/>
              </a:lnSpc>
              <a:spcBef>
                <a:spcPct val="0"/>
              </a:spcBef>
              <a:spcAft>
                <a:spcPct val="0"/>
              </a:spcAft>
            </a:pPr>
            <a:r>
              <a:rPr sz="19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1900" spc="156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900">
                <a:solidFill>
                  <a:srgbClr val="000000"/>
                </a:solidFill>
                <a:latin typeface="Times New Roman"/>
                <a:cs typeface="Times New Roman"/>
              </a:rPr>
              <a:t>The User</a:t>
            </a:r>
            <a:r>
              <a:rPr sz="1900" spc="2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900">
                <a:solidFill>
                  <a:srgbClr val="000000"/>
                </a:solidFill>
                <a:latin typeface="Times New Roman"/>
                <a:cs typeface="Times New Roman"/>
              </a:rPr>
              <a:t>starts by viewing the menu,</a:t>
            </a:r>
            <a:r>
              <a:rPr sz="1900" spc="2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900">
                <a:solidFill>
                  <a:srgbClr val="000000"/>
                </a:solidFill>
                <a:latin typeface="Times New Roman"/>
                <a:cs typeface="Times New Roman"/>
              </a:rPr>
              <a:t>then uploads or browses images</a:t>
            </a:r>
            <a:r>
              <a:rPr sz="1900" spc="2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900">
                <a:solidFill>
                  <a:srgbClr val="000000"/>
                </a:solidFill>
                <a:latin typeface="Times New Roman"/>
                <a:cs typeface="Times New Roman"/>
              </a:rPr>
              <a:t>through the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19632" y="5219376"/>
            <a:ext cx="637794" cy="3047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9"/>
              </a:lnSpc>
              <a:spcBef>
                <a:spcPct val="0"/>
              </a:spcBef>
              <a:spcAft>
                <a:spcPct val="0"/>
              </a:spcAft>
            </a:pPr>
            <a:r>
              <a:rPr sz="1900">
                <a:solidFill>
                  <a:srgbClr val="000000"/>
                </a:solidFill>
                <a:latin typeface="Times New Roman"/>
                <a:cs typeface="Times New Roman"/>
              </a:rPr>
              <a:t>GUI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205788" y="5230240"/>
            <a:ext cx="152401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​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79145" y="6472150"/>
            <a:ext cx="1281881" cy="193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2"/>
              </a:lnSpc>
              <a:spcBef>
                <a:spcPct val="0"/>
              </a:spcBef>
              <a:spcAft>
                <a:spcPct val="0"/>
              </a:spcAft>
            </a:pP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Dept</a:t>
            </a:r>
            <a:r>
              <a:rPr sz="1100" i="1" spc="-2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1100" i="1" spc="-3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CSE,</a:t>
            </a:r>
            <a:r>
              <a:rPr sz="1100" i="1" spc="-1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 spc="-30">
                <a:solidFill>
                  <a:srgbClr val="000000"/>
                </a:solidFill>
                <a:latin typeface="Times New Roman"/>
                <a:cs typeface="Times New Roman"/>
              </a:rPr>
              <a:t>EWCE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884162" y="6472150"/>
            <a:ext cx="1793581" cy="193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2"/>
              </a:lnSpc>
              <a:spcBef>
                <a:spcPct val="0"/>
              </a:spcBef>
              <a:spcAft>
                <a:spcPct val="0"/>
              </a:spcAft>
            </a:pP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Image Classification</a:t>
            </a:r>
            <a:r>
              <a:rPr sz="1100" i="1" spc="-6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using</a:t>
            </a:r>
            <a:r>
              <a:rPr sz="1100" i="1" spc="-10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 spc="-24">
                <a:solidFill>
                  <a:srgbClr val="000000"/>
                </a:solidFill>
                <a:latin typeface="Times New Roman"/>
                <a:cs typeface="Times New Roman"/>
              </a:rPr>
              <a:t>AI</a:t>
            </a: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76732" y="454839"/>
            <a:ext cx="8214572" cy="1446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03"/>
              </a:lnSpc>
              <a:spcBef>
                <a:spcPct val="0"/>
              </a:spcBef>
              <a:spcAft>
                <a:spcPct val="0"/>
              </a:spcAft>
            </a:pPr>
            <a:r>
              <a:rPr sz="17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1700" spc="167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1700" spc="-1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000000"/>
                </a:solidFill>
                <a:latin typeface="Times New Roman"/>
                <a:cs typeface="Times New Roman"/>
              </a:rPr>
              <a:t>GUI</a:t>
            </a:r>
            <a:r>
              <a:rPr sz="1700" spc="-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000000"/>
                </a:solidFill>
                <a:latin typeface="Times New Roman"/>
                <a:cs typeface="Times New Roman"/>
              </a:rPr>
              <a:t>receives</a:t>
            </a:r>
            <a:r>
              <a:rPr sz="1700" spc="-2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000000"/>
                </a:solidFill>
                <a:latin typeface="Times New Roman"/>
                <a:cs typeface="Times New Roman"/>
              </a:rPr>
              <a:t>the image, processes</a:t>
            </a:r>
            <a:r>
              <a:rPr sz="1700" spc="-2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000000"/>
                </a:solidFill>
                <a:latin typeface="Times New Roman"/>
                <a:cs typeface="Times New Roman"/>
              </a:rPr>
              <a:t>it,</a:t>
            </a:r>
            <a:r>
              <a:rPr sz="1700" spc="1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sz="1700" spc="-1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000000"/>
                </a:solidFill>
                <a:latin typeface="Times New Roman"/>
                <a:cs typeface="Times New Roman"/>
              </a:rPr>
              <a:t>sends</a:t>
            </a:r>
            <a:r>
              <a:rPr sz="1700" spc="-1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000000"/>
                </a:solidFill>
                <a:latin typeface="Times New Roman"/>
                <a:cs typeface="Times New Roman"/>
              </a:rPr>
              <a:t>it</a:t>
            </a:r>
            <a:r>
              <a:rPr sz="1700" spc="1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000000"/>
                </a:solidFill>
                <a:latin typeface="Times New Roman"/>
                <a:cs typeface="Times New Roman"/>
              </a:rPr>
              <a:t>to</a:t>
            </a:r>
            <a:r>
              <a:rPr sz="1700" spc="1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000000"/>
                </a:solidFill>
                <a:latin typeface="Times New Roman"/>
                <a:cs typeface="Times New Roman"/>
              </a:rPr>
              <a:t>the CNN</a:t>
            </a:r>
            <a:r>
              <a:rPr sz="1700" spc="-3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000000"/>
                </a:solidFill>
                <a:latin typeface="Times New Roman"/>
                <a:cs typeface="Times New Roman"/>
              </a:rPr>
              <a:t>Model.</a:t>
            </a:r>
          </a:p>
          <a:p>
            <a:pPr marL="0" marR="0">
              <a:lnSpc>
                <a:spcPts val="1903"/>
              </a:lnSpc>
              <a:spcBef>
                <a:spcPts val="1198"/>
              </a:spcBef>
              <a:spcAft>
                <a:spcPct val="0"/>
              </a:spcAft>
            </a:pPr>
            <a:r>
              <a:rPr sz="17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1700" spc="167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1700" spc="-1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000000"/>
                </a:solidFill>
                <a:latin typeface="Times New Roman"/>
                <a:cs typeface="Times New Roman"/>
              </a:rPr>
              <a:t>CNN</a:t>
            </a:r>
            <a:r>
              <a:rPr sz="1700" spc="-1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000000"/>
                </a:solidFill>
                <a:latin typeface="Times New Roman"/>
                <a:cs typeface="Times New Roman"/>
              </a:rPr>
              <a:t>Model</a:t>
            </a:r>
            <a:r>
              <a:rPr sz="1700" spc="-1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000000"/>
                </a:solidFill>
                <a:latin typeface="Times New Roman"/>
                <a:cs typeface="Times New Roman"/>
              </a:rPr>
              <a:t>undertakes</a:t>
            </a:r>
            <a:r>
              <a:rPr sz="1700" spc="-2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000000"/>
                </a:solidFill>
                <a:latin typeface="Times New Roman"/>
                <a:cs typeface="Times New Roman"/>
              </a:rPr>
              <a:t>a series of</a:t>
            </a:r>
            <a:r>
              <a:rPr sz="1700" spc="-1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000000"/>
                </a:solidFill>
                <a:latin typeface="Times New Roman"/>
                <a:cs typeface="Times New Roman"/>
              </a:rPr>
              <a:t>tasks: preprocessing</a:t>
            </a:r>
            <a:r>
              <a:rPr sz="1700" spc="-1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000000"/>
                </a:solidFill>
                <a:latin typeface="Times New Roman"/>
                <a:cs typeface="Times New Roman"/>
              </a:rPr>
              <a:t>(cleaning and</a:t>
            </a:r>
            <a:r>
              <a:rPr sz="1700" spc="-1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000000"/>
                </a:solidFill>
                <a:latin typeface="Times New Roman"/>
                <a:cs typeface="Times New Roman"/>
              </a:rPr>
              <a:t>preparing</a:t>
            </a:r>
            <a:r>
              <a:rPr sz="1700" spc="-1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</a:p>
          <a:p>
            <a:pPr marL="342900" marR="0">
              <a:lnSpc>
                <a:spcPts val="1887"/>
              </a:lnSpc>
              <a:spcBef>
                <a:spcPts val="1122"/>
              </a:spcBef>
              <a:spcAft>
                <a:spcPct val="0"/>
              </a:spcAft>
            </a:pPr>
            <a:r>
              <a:rPr sz="1700">
                <a:solidFill>
                  <a:srgbClr val="000000"/>
                </a:solidFill>
                <a:latin typeface="Times New Roman"/>
                <a:cs typeface="Times New Roman"/>
              </a:rPr>
              <a:t>image data),</a:t>
            </a:r>
            <a:r>
              <a:rPr sz="1700" spc="-1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000000"/>
                </a:solidFill>
                <a:latin typeface="Times New Roman"/>
                <a:cs typeface="Times New Roman"/>
              </a:rPr>
              <a:t>segmentation (dividing the image into</a:t>
            </a:r>
            <a:r>
              <a:rPr sz="1700" spc="1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000000"/>
                </a:solidFill>
                <a:latin typeface="Times New Roman"/>
                <a:cs typeface="Times New Roman"/>
              </a:rPr>
              <a:t>meaningful</a:t>
            </a:r>
            <a:r>
              <a:rPr sz="1700" spc="-1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000000"/>
                </a:solidFill>
                <a:latin typeface="Times New Roman"/>
                <a:cs typeface="Times New Roman"/>
              </a:rPr>
              <a:t>sections), and recognition</a:t>
            </a:r>
          </a:p>
          <a:p>
            <a:pPr marL="342900" marR="0">
              <a:lnSpc>
                <a:spcPts val="1887"/>
              </a:lnSpc>
              <a:spcBef>
                <a:spcPts val="1172"/>
              </a:spcBef>
              <a:spcAft>
                <a:spcPct val="0"/>
              </a:spcAft>
            </a:pPr>
            <a:r>
              <a:rPr sz="1700">
                <a:solidFill>
                  <a:srgbClr val="000000"/>
                </a:solidFill>
                <a:latin typeface="Times New Roman"/>
                <a:cs typeface="Times New Roman"/>
              </a:rPr>
              <a:t>(identifying objects or</a:t>
            </a:r>
            <a:r>
              <a:rPr sz="1700" spc="-1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000000"/>
                </a:solidFill>
                <a:latin typeface="Times New Roman"/>
                <a:cs typeface="Times New Roman"/>
              </a:rPr>
              <a:t>classifying the image).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76732" y="2009573"/>
            <a:ext cx="8440937" cy="10580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03"/>
              </a:lnSpc>
              <a:spcBef>
                <a:spcPct val="0"/>
              </a:spcBef>
              <a:spcAft>
                <a:spcPct val="0"/>
              </a:spcAft>
            </a:pPr>
            <a:r>
              <a:rPr sz="17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1700" spc="167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000000"/>
                </a:solidFill>
                <a:latin typeface="Times New Roman"/>
                <a:cs typeface="Times New Roman"/>
              </a:rPr>
              <a:t>Once</a:t>
            </a:r>
            <a:r>
              <a:rPr sz="1700" spc="-3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000000"/>
                </a:solidFill>
                <a:latin typeface="Times New Roman"/>
                <a:cs typeface="Times New Roman"/>
              </a:rPr>
              <a:t>processing is complete, the output is generated</a:t>
            </a:r>
            <a:r>
              <a:rPr sz="1700" spc="-1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sz="1700" spc="-1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000000"/>
                </a:solidFill>
                <a:latin typeface="Times New Roman"/>
                <a:cs typeface="Times New Roman"/>
              </a:rPr>
              <a:t>displayed to</a:t>
            </a:r>
            <a:r>
              <a:rPr sz="1700" spc="1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000000"/>
                </a:solidFill>
                <a:latin typeface="Times New Roman"/>
                <a:cs typeface="Times New Roman"/>
              </a:rPr>
              <a:t>the User</a:t>
            </a:r>
            <a:r>
              <a:rPr sz="1700" spc="-1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000000"/>
                </a:solidFill>
                <a:latin typeface="Times New Roman"/>
                <a:cs typeface="Times New Roman"/>
              </a:rPr>
              <a:t>via the GUI.</a:t>
            </a:r>
          </a:p>
          <a:p>
            <a:pPr marL="0" marR="0">
              <a:lnSpc>
                <a:spcPts val="1903"/>
              </a:lnSpc>
              <a:spcBef>
                <a:spcPts val="1198"/>
              </a:spcBef>
              <a:spcAft>
                <a:spcPct val="0"/>
              </a:spcAft>
            </a:pPr>
            <a:r>
              <a:rPr sz="17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1700" spc="167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000000"/>
                </a:solidFill>
                <a:latin typeface="Times New Roman"/>
                <a:cs typeface="Times New Roman"/>
              </a:rPr>
              <a:t>If</a:t>
            </a:r>
            <a:r>
              <a:rPr sz="1700" spc="-1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000000"/>
                </a:solidFill>
                <a:latin typeface="Times New Roman"/>
                <a:cs typeface="Times New Roman"/>
              </a:rPr>
              <a:t>an error</a:t>
            </a:r>
            <a:r>
              <a:rPr sz="1700" spc="-2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000000"/>
                </a:solidFill>
                <a:latin typeface="Times New Roman"/>
                <a:cs typeface="Times New Roman"/>
              </a:rPr>
              <a:t>is detected during processing,</a:t>
            </a:r>
            <a:r>
              <a:rPr sz="1700" spc="-1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000000"/>
                </a:solidFill>
                <a:latin typeface="Times New Roman"/>
                <a:cs typeface="Times New Roman"/>
              </a:rPr>
              <a:t>the system</a:t>
            </a:r>
            <a:r>
              <a:rPr sz="1700" spc="1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000000"/>
                </a:solidFill>
                <a:latin typeface="Times New Roman"/>
                <a:cs typeface="Times New Roman"/>
              </a:rPr>
              <a:t>sends</a:t>
            </a:r>
            <a:r>
              <a:rPr sz="1700" spc="-1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000000"/>
                </a:solidFill>
                <a:latin typeface="Times New Roman"/>
                <a:cs typeface="Times New Roman"/>
              </a:rPr>
              <a:t>an</a:t>
            </a:r>
            <a:r>
              <a:rPr sz="1700" spc="-1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000000"/>
                </a:solidFill>
                <a:latin typeface="Times New Roman"/>
                <a:cs typeface="Times New Roman"/>
              </a:rPr>
              <a:t>error message</a:t>
            </a:r>
            <a:r>
              <a:rPr sz="1700" spc="-1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000000"/>
                </a:solidFill>
                <a:latin typeface="Times New Roman"/>
                <a:cs typeface="Times New Roman"/>
              </a:rPr>
              <a:t>back</a:t>
            </a:r>
            <a:r>
              <a:rPr sz="1700" spc="-1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000000"/>
                </a:solidFill>
                <a:latin typeface="Times New Roman"/>
                <a:cs typeface="Times New Roman"/>
              </a:rPr>
              <a:t>to</a:t>
            </a:r>
            <a:r>
              <a:rPr sz="1700" spc="1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000000"/>
                </a:solidFill>
                <a:latin typeface="Times New Roman"/>
                <a:cs typeface="Times New Roman"/>
              </a:rPr>
              <a:t>the GUI</a:t>
            </a:r>
          </a:p>
          <a:p>
            <a:pPr marL="342900" marR="0">
              <a:lnSpc>
                <a:spcPts val="1887"/>
              </a:lnSpc>
              <a:spcBef>
                <a:spcPts val="1122"/>
              </a:spcBef>
              <a:spcAft>
                <a:spcPct val="0"/>
              </a:spcAft>
            </a:pPr>
            <a:r>
              <a:rPr sz="1700">
                <a:solidFill>
                  <a:srgbClr val="000000"/>
                </a:solidFill>
                <a:latin typeface="Times New Roman"/>
                <a:cs typeface="Times New Roman"/>
              </a:rPr>
              <a:t>and notifies the User.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76732" y="3251679"/>
            <a:ext cx="2164186" cy="320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14"/>
              </a:lnSpc>
              <a:spcBef>
                <a:spcPct val="0"/>
              </a:spcBef>
              <a:spcAft>
                <a:spcPct val="0"/>
              </a:spcAft>
            </a:pPr>
            <a:r>
              <a:rPr sz="2000" b="1" u="sng">
                <a:solidFill>
                  <a:srgbClr val="000000"/>
                </a:solidFill>
                <a:latin typeface="Times New Roman"/>
                <a:cs typeface="Times New Roman"/>
              </a:rPr>
              <a:t>Technologies</a:t>
            </a:r>
            <a:r>
              <a:rPr sz="2000" b="1" u="sng" spc="-3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 u="sng">
                <a:solidFill>
                  <a:srgbClr val="000000"/>
                </a:solidFill>
                <a:latin typeface="Times New Roman"/>
                <a:cs typeface="Times New Roman"/>
              </a:rPr>
              <a:t>Used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76732" y="3671114"/>
            <a:ext cx="7979844" cy="14467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03"/>
              </a:lnSpc>
              <a:spcBef>
                <a:spcPct val="0"/>
              </a:spcBef>
              <a:spcAft>
                <a:spcPct val="0"/>
              </a:spcAft>
            </a:pPr>
            <a:r>
              <a:rPr sz="17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1700" spc="167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b="1">
                <a:solidFill>
                  <a:srgbClr val="000000"/>
                </a:solidFill>
                <a:latin typeface="Times New Roman"/>
                <a:cs typeface="Times New Roman"/>
              </a:rPr>
              <a:t>GUI Layer:</a:t>
            </a:r>
            <a:r>
              <a:rPr sz="1700" b="1" spc="-4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000000"/>
                </a:solidFill>
                <a:latin typeface="Times New Roman"/>
                <a:cs typeface="Times New Roman"/>
              </a:rPr>
              <a:t>Typically built</a:t>
            </a:r>
            <a:r>
              <a:rPr sz="1700" spc="1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000000"/>
                </a:solidFill>
                <a:latin typeface="Times New Roman"/>
                <a:cs typeface="Times New Roman"/>
              </a:rPr>
              <a:t>with web</a:t>
            </a:r>
            <a:r>
              <a:rPr sz="1700" spc="-2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000000"/>
                </a:solidFill>
                <a:latin typeface="Times New Roman"/>
                <a:cs typeface="Times New Roman"/>
              </a:rPr>
              <a:t>frameworks</a:t>
            </a:r>
            <a:r>
              <a:rPr sz="1700" spc="-2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000000"/>
                </a:solidFill>
                <a:latin typeface="Times New Roman"/>
                <a:cs typeface="Times New Roman"/>
              </a:rPr>
              <a:t>such</a:t>
            </a:r>
            <a:r>
              <a:rPr sz="1700" spc="-2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000000"/>
                </a:solidFill>
                <a:latin typeface="Times New Roman"/>
                <a:cs typeface="Times New Roman"/>
              </a:rPr>
              <a:t>as Streamlit,</a:t>
            </a:r>
            <a:r>
              <a:rPr sz="1700" spc="1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000000"/>
                </a:solidFill>
                <a:latin typeface="Times New Roman"/>
                <a:cs typeface="Times New Roman"/>
              </a:rPr>
              <a:t>Flask, Django,</a:t>
            </a:r>
            <a:r>
              <a:rPr sz="1700" spc="-2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000000"/>
                </a:solidFill>
                <a:latin typeface="Times New Roman"/>
                <a:cs typeface="Times New Roman"/>
              </a:rPr>
              <a:t>or</a:t>
            </a:r>
          </a:p>
          <a:p>
            <a:pPr marL="342900" marR="0">
              <a:lnSpc>
                <a:spcPts val="1887"/>
              </a:lnSpc>
              <a:spcBef>
                <a:spcPts val="1172"/>
              </a:spcBef>
              <a:spcAft>
                <a:spcPct val="0"/>
              </a:spcAft>
            </a:pPr>
            <a:r>
              <a:rPr sz="1700">
                <a:solidFill>
                  <a:srgbClr val="000000"/>
                </a:solidFill>
                <a:latin typeface="Times New Roman"/>
                <a:cs typeface="Times New Roman"/>
              </a:rPr>
              <a:t>desktop frameworks</a:t>
            </a:r>
            <a:r>
              <a:rPr sz="1700" spc="-3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000000"/>
                </a:solidFill>
                <a:latin typeface="Times New Roman"/>
                <a:cs typeface="Times New Roman"/>
              </a:rPr>
              <a:t>like</a:t>
            </a:r>
            <a:r>
              <a:rPr sz="1700" spc="1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000000"/>
                </a:solidFill>
                <a:latin typeface="Times New Roman"/>
                <a:cs typeface="Times New Roman"/>
              </a:rPr>
              <a:t>Tkinter or PyQt,</a:t>
            </a:r>
            <a:r>
              <a:rPr sz="1700" spc="-1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000000"/>
                </a:solidFill>
                <a:latin typeface="Times New Roman"/>
                <a:cs typeface="Times New Roman"/>
              </a:rPr>
              <a:t>allowing image uploads</a:t>
            </a:r>
            <a:r>
              <a:rPr sz="1700" spc="-1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sz="1700" spc="-1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000000"/>
                </a:solidFill>
                <a:latin typeface="Times New Roman"/>
                <a:cs typeface="Times New Roman"/>
              </a:rPr>
              <a:t>result display.</a:t>
            </a:r>
          </a:p>
          <a:p>
            <a:pPr marL="0" marR="0">
              <a:lnSpc>
                <a:spcPts val="1903"/>
              </a:lnSpc>
              <a:spcBef>
                <a:spcPts val="1148"/>
              </a:spcBef>
              <a:spcAft>
                <a:spcPct val="0"/>
              </a:spcAft>
            </a:pPr>
            <a:r>
              <a:rPr sz="17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1700" spc="167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b="1">
                <a:solidFill>
                  <a:srgbClr val="000000"/>
                </a:solidFill>
                <a:latin typeface="Times New Roman"/>
                <a:cs typeface="Times New Roman"/>
              </a:rPr>
              <a:t>CNN</a:t>
            </a:r>
            <a:r>
              <a:rPr sz="1700" b="1" spc="-3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b="1">
                <a:solidFill>
                  <a:srgbClr val="000000"/>
                </a:solidFill>
                <a:latin typeface="Times New Roman"/>
                <a:cs typeface="Times New Roman"/>
              </a:rPr>
              <a:t>Model:</a:t>
            </a:r>
            <a:r>
              <a:rPr sz="1700" b="1" spc="-1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000000"/>
                </a:solidFill>
                <a:latin typeface="Times New Roman"/>
                <a:cs typeface="Times New Roman"/>
              </a:rPr>
              <a:t>Implemented using deep</a:t>
            </a:r>
            <a:r>
              <a:rPr sz="1700" spc="-1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000000"/>
                </a:solidFill>
                <a:latin typeface="Times New Roman"/>
                <a:cs typeface="Times New Roman"/>
              </a:rPr>
              <a:t>learning libraries like TensorFlow</a:t>
            </a:r>
            <a:r>
              <a:rPr sz="1700" spc="-1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000000"/>
                </a:solidFill>
                <a:latin typeface="Times New Roman"/>
                <a:cs typeface="Times New Roman"/>
              </a:rPr>
              <a:t>or</a:t>
            </a:r>
            <a:r>
              <a:rPr sz="1700" spc="-1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000000"/>
                </a:solidFill>
                <a:latin typeface="Times New Roman"/>
                <a:cs typeface="Times New Roman"/>
              </a:rPr>
              <a:t>Keras</a:t>
            </a:r>
            <a:r>
              <a:rPr sz="1700" spc="-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000000"/>
                </a:solidFill>
                <a:latin typeface="Times New Roman"/>
                <a:cs typeface="Times New Roman"/>
              </a:rPr>
              <a:t>to</a:t>
            </a:r>
          </a:p>
          <a:p>
            <a:pPr marL="342900" marR="0">
              <a:lnSpc>
                <a:spcPts val="1889"/>
              </a:lnSpc>
              <a:spcBef>
                <a:spcPts val="1170"/>
              </a:spcBef>
              <a:spcAft>
                <a:spcPct val="0"/>
              </a:spcAft>
            </a:pPr>
            <a:r>
              <a:rPr sz="1700">
                <a:solidFill>
                  <a:srgbClr val="000000"/>
                </a:solidFill>
                <a:latin typeface="Times New Roman"/>
                <a:cs typeface="Times New Roman"/>
              </a:rPr>
              <a:t>perform</a:t>
            </a:r>
            <a:r>
              <a:rPr sz="1700" spc="-1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000000"/>
                </a:solidFill>
                <a:latin typeface="Times New Roman"/>
                <a:cs typeface="Times New Roman"/>
              </a:rPr>
              <a:t>image preprocessing,</a:t>
            </a:r>
            <a:r>
              <a:rPr sz="1700" spc="-2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000000"/>
                </a:solidFill>
                <a:latin typeface="Times New Roman"/>
                <a:cs typeface="Times New Roman"/>
              </a:rPr>
              <a:t>segmentation, and classification.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76732" y="5225848"/>
            <a:ext cx="8520588" cy="669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03"/>
              </a:lnSpc>
              <a:spcBef>
                <a:spcPct val="0"/>
              </a:spcBef>
              <a:spcAft>
                <a:spcPct val="0"/>
              </a:spcAft>
            </a:pPr>
            <a:r>
              <a:rPr sz="17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1700" spc="167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b="1">
                <a:solidFill>
                  <a:srgbClr val="000000"/>
                </a:solidFill>
                <a:latin typeface="Times New Roman"/>
                <a:cs typeface="Times New Roman"/>
              </a:rPr>
              <a:t>Communication:</a:t>
            </a:r>
            <a:r>
              <a:rPr sz="1700" b="1" spc="-1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000000"/>
                </a:solidFill>
                <a:latin typeface="Times New Roman"/>
                <a:cs typeface="Times New Roman"/>
              </a:rPr>
              <a:t>Data</a:t>
            </a:r>
            <a:r>
              <a:rPr sz="1700" spc="-1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000000"/>
                </a:solidFill>
                <a:latin typeface="Times New Roman"/>
                <a:cs typeface="Times New Roman"/>
              </a:rPr>
              <a:t>flow between</a:t>
            </a:r>
            <a:r>
              <a:rPr sz="1700" spc="-2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000000"/>
                </a:solidFill>
                <a:latin typeface="Times New Roman"/>
                <a:cs typeface="Times New Roman"/>
              </a:rPr>
              <a:t>the GUI</a:t>
            </a:r>
            <a:r>
              <a:rPr sz="1700" spc="-3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000000"/>
                </a:solidFill>
                <a:latin typeface="Times New Roman"/>
                <a:cs typeface="Times New Roman"/>
              </a:rPr>
              <a:t>and CNN</a:t>
            </a:r>
            <a:r>
              <a:rPr sz="1700" spc="-3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000000"/>
                </a:solidFill>
                <a:latin typeface="Times New Roman"/>
                <a:cs typeface="Times New Roman"/>
              </a:rPr>
              <a:t>Model</a:t>
            </a:r>
            <a:r>
              <a:rPr sz="1700" spc="-1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000000"/>
                </a:solidFill>
                <a:latin typeface="Times New Roman"/>
                <a:cs typeface="Times New Roman"/>
              </a:rPr>
              <a:t>can use REST</a:t>
            </a:r>
            <a:r>
              <a:rPr sz="1700" spc="-1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000000"/>
                </a:solidFill>
                <a:latin typeface="Times New Roman"/>
                <a:cs typeface="Times New Roman"/>
              </a:rPr>
              <a:t>APIs</a:t>
            </a:r>
            <a:r>
              <a:rPr sz="1700" spc="-1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000000"/>
                </a:solidFill>
                <a:latin typeface="Times New Roman"/>
                <a:cs typeface="Times New Roman"/>
              </a:rPr>
              <a:t>or</a:t>
            </a:r>
            <a:r>
              <a:rPr sz="1700" spc="-1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000000"/>
                </a:solidFill>
                <a:latin typeface="Times New Roman"/>
                <a:cs typeface="Times New Roman"/>
              </a:rPr>
              <a:t>direct</a:t>
            </a:r>
          </a:p>
          <a:p>
            <a:pPr marL="342900" marR="0">
              <a:lnSpc>
                <a:spcPts val="1887"/>
              </a:lnSpc>
              <a:spcBef>
                <a:spcPts val="1173"/>
              </a:spcBef>
              <a:spcAft>
                <a:spcPct val="0"/>
              </a:spcAft>
            </a:pPr>
            <a:r>
              <a:rPr sz="1700">
                <a:solidFill>
                  <a:srgbClr val="000000"/>
                </a:solidFill>
                <a:latin typeface="Times New Roman"/>
                <a:cs typeface="Times New Roman"/>
              </a:rPr>
              <a:t>function calls in Python-based</a:t>
            </a:r>
            <a:r>
              <a:rPr sz="1700" spc="-2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>
                <a:solidFill>
                  <a:srgbClr val="000000"/>
                </a:solidFill>
                <a:latin typeface="Times New Roman"/>
                <a:cs typeface="Times New Roman"/>
              </a:rPr>
              <a:t>platforms.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79145" y="6472150"/>
            <a:ext cx="1281881" cy="193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2"/>
              </a:lnSpc>
              <a:spcBef>
                <a:spcPct val="0"/>
              </a:spcBef>
              <a:spcAft>
                <a:spcPct val="0"/>
              </a:spcAft>
            </a:pP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Dept</a:t>
            </a:r>
            <a:r>
              <a:rPr sz="1100" i="1" spc="-2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1100" i="1" spc="-3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CSE,</a:t>
            </a:r>
            <a:r>
              <a:rPr sz="1100" i="1" spc="-1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 spc="-30">
                <a:solidFill>
                  <a:srgbClr val="000000"/>
                </a:solidFill>
                <a:latin typeface="Times New Roman"/>
                <a:cs typeface="Times New Roman"/>
              </a:rPr>
              <a:t>EWCE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884162" y="6472150"/>
            <a:ext cx="1793581" cy="193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2"/>
              </a:lnSpc>
              <a:spcBef>
                <a:spcPct val="0"/>
              </a:spcBef>
              <a:spcAft>
                <a:spcPct val="0"/>
              </a:spcAft>
            </a:pP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Image Classification</a:t>
            </a:r>
            <a:r>
              <a:rPr sz="1100" i="1" spc="-6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using</a:t>
            </a:r>
            <a:r>
              <a:rPr sz="1100" i="1" spc="-10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 spc="-24">
                <a:solidFill>
                  <a:srgbClr val="000000"/>
                </a:solidFill>
                <a:latin typeface="Times New Roman"/>
                <a:cs typeface="Times New Roman"/>
              </a:rPr>
              <a:t>AI</a:t>
            </a: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978785" y="255889"/>
            <a:ext cx="3349948" cy="4887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48"/>
              </a:lnSpc>
              <a:spcBef>
                <a:spcPct val="0"/>
              </a:spcBef>
              <a:spcAft>
                <a:spcPct val="0"/>
              </a:spcAft>
            </a:pPr>
            <a:r>
              <a:rPr sz="3200">
                <a:solidFill>
                  <a:srgbClr val="DA1F28"/>
                </a:solidFill>
                <a:latin typeface="Times New Roman"/>
                <a:cs typeface="Times New Roman"/>
              </a:rPr>
              <a:t>FLOW</a:t>
            </a:r>
            <a:r>
              <a:rPr sz="3200" spc="-10">
                <a:solidFill>
                  <a:srgbClr val="DA1F28"/>
                </a:solidFill>
                <a:latin typeface="Times New Roman"/>
                <a:cs typeface="Times New Roman"/>
              </a:rPr>
              <a:t> </a:t>
            </a:r>
            <a:r>
              <a:rPr sz="3200">
                <a:solidFill>
                  <a:srgbClr val="DA1F28"/>
                </a:solidFill>
                <a:latin typeface="Times New Roman"/>
                <a:cs typeface="Times New Roman"/>
              </a:rPr>
              <a:t>DIAGRAM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9145" y="6472150"/>
            <a:ext cx="1281881" cy="193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2"/>
              </a:lnSpc>
              <a:spcBef>
                <a:spcPct val="0"/>
              </a:spcBef>
              <a:spcAft>
                <a:spcPct val="0"/>
              </a:spcAft>
            </a:pP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Dept</a:t>
            </a:r>
            <a:r>
              <a:rPr sz="1100" i="1" spc="-2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1100" i="1" spc="-3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CSE,</a:t>
            </a:r>
            <a:r>
              <a:rPr sz="1100" i="1" spc="-1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 spc="-30">
                <a:solidFill>
                  <a:srgbClr val="000000"/>
                </a:solidFill>
                <a:latin typeface="Times New Roman"/>
                <a:cs typeface="Times New Roman"/>
              </a:rPr>
              <a:t>EWCE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884162" y="6472150"/>
            <a:ext cx="1793581" cy="193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2"/>
              </a:lnSpc>
              <a:spcBef>
                <a:spcPct val="0"/>
              </a:spcBef>
              <a:spcAft>
                <a:spcPct val="0"/>
              </a:spcAft>
            </a:pP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Image Classification</a:t>
            </a:r>
            <a:r>
              <a:rPr sz="1100" i="1" spc="-6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using</a:t>
            </a:r>
            <a:r>
              <a:rPr sz="1100" i="1" spc="-10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 spc="-24">
                <a:solidFill>
                  <a:srgbClr val="000000"/>
                </a:solidFill>
                <a:latin typeface="Times New Roman"/>
                <a:cs typeface="Times New Roman"/>
              </a:rPr>
              <a:t>AI</a:t>
            </a: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78866" y="261534"/>
            <a:ext cx="3156815" cy="3759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57"/>
              </a:lnSpc>
              <a:spcBef>
                <a:spcPct val="0"/>
              </a:spcBef>
              <a:spcAft>
                <a:spcPct val="0"/>
              </a:spcAft>
            </a:pPr>
            <a:r>
              <a:rPr sz="2400" b="1" u="sng">
                <a:solidFill>
                  <a:srgbClr val="000000"/>
                </a:solidFill>
                <a:latin typeface="Times New Roman"/>
                <a:cs typeface="Times New Roman"/>
              </a:rPr>
              <a:t>How the Process</a:t>
            </a:r>
            <a:r>
              <a:rPr sz="2400" b="1" u="sng" spc="-2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b="1" u="sng">
                <a:solidFill>
                  <a:srgbClr val="000000"/>
                </a:solidFill>
                <a:latin typeface="Times New Roman"/>
                <a:cs typeface="Times New Roman"/>
              </a:rPr>
              <a:t>Starts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78866" y="793728"/>
            <a:ext cx="7795677" cy="7807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8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000" spc="150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>
                <a:solidFill>
                  <a:srgbClr val="000000"/>
                </a:solidFill>
                <a:latin typeface="Times New Roman"/>
                <a:cs typeface="Times New Roman"/>
              </a:rPr>
              <a:t>Start:</a:t>
            </a:r>
            <a:r>
              <a:rPr sz="2000" b="1" spc="-3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The workflow</a:t>
            </a:r>
            <a:r>
              <a:rPr sz="2000" spc="-2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begins</a:t>
            </a:r>
            <a:r>
              <a:rPr sz="2000" spc="-3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when</a:t>
            </a:r>
            <a:r>
              <a:rPr sz="2000" spc="-1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the user</a:t>
            </a:r>
            <a:r>
              <a:rPr sz="2000" spc="-1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or</a:t>
            </a:r>
            <a:r>
              <a:rPr sz="2000" spc="-1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system</a:t>
            </a:r>
            <a:r>
              <a:rPr sz="2000" spc="-1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initiates</a:t>
            </a:r>
            <a:r>
              <a:rPr sz="2000" spc="-1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2000" spc="-2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image</a:t>
            </a:r>
          </a:p>
          <a:p>
            <a:pPr marL="342900" marR="0">
              <a:lnSpc>
                <a:spcPts val="2219"/>
              </a:lnSpc>
              <a:spcBef>
                <a:spcPts val="138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classification</a:t>
            </a:r>
            <a:r>
              <a:rPr sz="2000" spc="-3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process.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78866" y="1708128"/>
            <a:ext cx="8386336" cy="781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8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000" spc="150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>
                <a:solidFill>
                  <a:srgbClr val="000000"/>
                </a:solidFill>
                <a:latin typeface="Times New Roman"/>
                <a:cs typeface="Times New Roman"/>
              </a:rPr>
              <a:t>Upload</a:t>
            </a:r>
            <a:r>
              <a:rPr sz="2000" b="1" spc="-3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>
                <a:solidFill>
                  <a:srgbClr val="000000"/>
                </a:solidFill>
                <a:latin typeface="Times New Roman"/>
                <a:cs typeface="Times New Roman"/>
              </a:rPr>
              <a:t>Image:</a:t>
            </a:r>
            <a:r>
              <a:rPr sz="2000" b="1" spc="-2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The user</a:t>
            </a:r>
            <a:r>
              <a:rPr sz="2000" spc="-1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uploads</a:t>
            </a:r>
            <a:r>
              <a:rPr sz="2000" spc="-4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an image to the system, which</a:t>
            </a:r>
            <a:r>
              <a:rPr sz="2000" spc="-3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serves</a:t>
            </a:r>
            <a:r>
              <a:rPr sz="2000" spc="-2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as</a:t>
            </a:r>
            <a:r>
              <a:rPr sz="2000" spc="-1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</a:p>
          <a:p>
            <a:pPr marL="342900" marR="0">
              <a:lnSpc>
                <a:spcPts val="2219"/>
              </a:lnSpc>
              <a:spcBef>
                <a:spcPts val="1382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input</a:t>
            </a:r>
            <a:r>
              <a:rPr sz="2000" spc="-3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for</a:t>
            </a:r>
            <a:r>
              <a:rPr sz="2000" spc="-1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the entire</a:t>
            </a:r>
            <a:r>
              <a:rPr sz="2000" spc="-3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pipeline.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78866" y="2913802"/>
            <a:ext cx="1566111" cy="3756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57"/>
              </a:lnSpc>
              <a:spcBef>
                <a:spcPct val="0"/>
              </a:spcBef>
              <a:spcAft>
                <a:spcPct val="0"/>
              </a:spcAft>
            </a:pPr>
            <a:r>
              <a:rPr sz="2400" b="1" u="sng">
                <a:solidFill>
                  <a:srgbClr val="000000"/>
                </a:solidFill>
                <a:latin typeface="Times New Roman"/>
                <a:cs typeface="Times New Roman"/>
              </a:rPr>
              <a:t>Core Steps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78866" y="3445467"/>
            <a:ext cx="8151760" cy="12386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41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000" spc="150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>
                <a:solidFill>
                  <a:srgbClr val="000000"/>
                </a:solidFill>
                <a:latin typeface="Times New Roman"/>
                <a:cs typeface="Times New Roman"/>
              </a:rPr>
              <a:t>Preprocess</a:t>
            </a:r>
            <a:r>
              <a:rPr sz="2000" b="1" spc="-2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>
                <a:solidFill>
                  <a:srgbClr val="000000"/>
                </a:solidFill>
                <a:latin typeface="Times New Roman"/>
                <a:cs typeface="Times New Roman"/>
              </a:rPr>
              <a:t>Image:</a:t>
            </a:r>
            <a:r>
              <a:rPr sz="2000" b="1" spc="-3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The system preprocesses</a:t>
            </a:r>
            <a:r>
              <a:rPr sz="2000" spc="-4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2000" spc="-1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uploaded</a:t>
            </a:r>
            <a:r>
              <a:rPr sz="2000" spc="-4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image, typically</a:t>
            </a:r>
          </a:p>
          <a:p>
            <a:pPr marL="342900" marR="0">
              <a:lnSpc>
                <a:spcPts val="2219"/>
              </a:lnSpc>
              <a:spcBef>
                <a:spcPts val="1383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involving</a:t>
            </a:r>
            <a:r>
              <a:rPr sz="2000" spc="-3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resizing,</a:t>
            </a:r>
            <a:r>
              <a:rPr sz="2000" spc="-3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normalization,</a:t>
            </a:r>
            <a:r>
              <a:rPr sz="2000" spc="-3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sz="2000" spc="-1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noise</a:t>
            </a:r>
            <a:r>
              <a:rPr sz="2000" spc="-2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reduction</a:t>
            </a:r>
            <a:r>
              <a:rPr sz="2000" spc="-3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to</a:t>
            </a:r>
            <a:r>
              <a:rPr sz="2000" spc="-1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ensure</a:t>
            </a:r>
            <a:r>
              <a:rPr sz="2000" spc="-3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consistent</a:t>
            </a:r>
          </a:p>
          <a:p>
            <a:pPr marL="342900" marR="0">
              <a:lnSpc>
                <a:spcPts val="2219"/>
              </a:lnSpc>
              <a:spcBef>
                <a:spcPts val="138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input</a:t>
            </a:r>
            <a:r>
              <a:rPr sz="2000" spc="-3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for</a:t>
            </a:r>
            <a:r>
              <a:rPr sz="2000" spc="-1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feature</a:t>
            </a:r>
            <a:r>
              <a:rPr sz="2000" spc="-3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extraction.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78866" y="4817723"/>
            <a:ext cx="8507947" cy="7810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8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000" spc="150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>
                <a:solidFill>
                  <a:srgbClr val="000000"/>
                </a:solidFill>
                <a:latin typeface="Times New Roman"/>
                <a:cs typeface="Times New Roman"/>
              </a:rPr>
              <a:t>Extract</a:t>
            </a:r>
            <a:r>
              <a:rPr sz="2000" b="1" spc="-3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>
                <a:solidFill>
                  <a:srgbClr val="000000"/>
                </a:solidFill>
                <a:latin typeface="Times New Roman"/>
                <a:cs typeface="Times New Roman"/>
              </a:rPr>
              <a:t>Features:</a:t>
            </a:r>
            <a:r>
              <a:rPr sz="2000" b="1" spc="-2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Crucial</a:t>
            </a:r>
            <a:r>
              <a:rPr sz="2000" spc="-2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image features</a:t>
            </a:r>
            <a:r>
              <a:rPr sz="2000" spc="-3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are</a:t>
            </a:r>
            <a:r>
              <a:rPr sz="2000" spc="-1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extracted,</a:t>
            </a:r>
            <a:r>
              <a:rPr sz="2000" spc="-2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capturing</a:t>
            </a:r>
            <a:r>
              <a:rPr sz="2000" spc="-3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patterns</a:t>
            </a:r>
            <a:r>
              <a:rPr sz="2000" spc="-3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</a:p>
          <a:p>
            <a:pPr marL="342900" marR="0">
              <a:lnSpc>
                <a:spcPts val="2219"/>
              </a:lnSpc>
              <a:spcBef>
                <a:spcPts val="1382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data</a:t>
            </a:r>
            <a:r>
              <a:rPr sz="2000" spc="-1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needed</a:t>
            </a:r>
            <a:r>
              <a:rPr sz="2000" spc="-2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for</a:t>
            </a:r>
            <a:r>
              <a:rPr sz="2000" spc="-1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effective</a:t>
            </a:r>
            <a:r>
              <a:rPr sz="2000" spc="-3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discrimination</a:t>
            </a:r>
            <a:r>
              <a:rPr sz="2000" spc="-2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between</a:t>
            </a:r>
            <a:r>
              <a:rPr sz="2000" spc="-1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classes.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79145" y="6472150"/>
            <a:ext cx="1281881" cy="193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2"/>
              </a:lnSpc>
              <a:spcBef>
                <a:spcPct val="0"/>
              </a:spcBef>
              <a:spcAft>
                <a:spcPct val="0"/>
              </a:spcAft>
            </a:pP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Dept</a:t>
            </a:r>
            <a:r>
              <a:rPr sz="1100" i="1" spc="-2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1100" i="1" spc="-3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CSE,</a:t>
            </a:r>
            <a:r>
              <a:rPr sz="1100" i="1" spc="-1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 spc="-30">
                <a:solidFill>
                  <a:srgbClr val="000000"/>
                </a:solidFill>
                <a:latin typeface="Times New Roman"/>
                <a:cs typeface="Times New Roman"/>
              </a:rPr>
              <a:t>EWCE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884162" y="6472150"/>
            <a:ext cx="1793581" cy="193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2"/>
              </a:lnSpc>
              <a:spcBef>
                <a:spcPct val="0"/>
              </a:spcBef>
              <a:spcAft>
                <a:spcPct val="0"/>
              </a:spcAft>
            </a:pP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Image Classification</a:t>
            </a:r>
            <a:r>
              <a:rPr sz="1100" i="1" spc="-6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using</a:t>
            </a:r>
            <a:r>
              <a:rPr sz="1100" i="1" spc="-10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 spc="-24">
                <a:solidFill>
                  <a:srgbClr val="000000"/>
                </a:solidFill>
                <a:latin typeface="Times New Roman"/>
                <a:cs typeface="Times New Roman"/>
              </a:rPr>
              <a:t>AI</a:t>
            </a: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76732" y="297539"/>
            <a:ext cx="7737551" cy="7807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8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000" spc="150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>
                <a:solidFill>
                  <a:srgbClr val="000000"/>
                </a:solidFill>
                <a:latin typeface="Times New Roman"/>
                <a:cs typeface="Times New Roman"/>
              </a:rPr>
              <a:t>Build CNN Model:</a:t>
            </a:r>
            <a:r>
              <a:rPr sz="2000" b="1" spc="-2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The system constructs</a:t>
            </a:r>
            <a:r>
              <a:rPr sz="2000" spc="-5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the architecture</a:t>
            </a:r>
            <a:r>
              <a:rPr sz="2000" spc="-3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2000" spc="-1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the CNN</a:t>
            </a:r>
          </a:p>
          <a:p>
            <a:pPr marL="342900" marR="0">
              <a:lnSpc>
                <a:spcPts val="2219"/>
              </a:lnSpc>
              <a:spcBef>
                <a:spcPts val="138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(designing</a:t>
            </a:r>
            <a:r>
              <a:rPr sz="2000" spc="-3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layers,</a:t>
            </a:r>
            <a:r>
              <a:rPr sz="2000" spc="-1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nodes,</a:t>
            </a:r>
            <a:r>
              <a:rPr sz="2000" spc="-2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sz="2000" spc="-1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configuration</a:t>
            </a:r>
            <a:r>
              <a:rPr sz="2000" spc="-3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suitable</a:t>
            </a:r>
            <a:r>
              <a:rPr sz="2000" spc="-3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for</a:t>
            </a:r>
            <a:r>
              <a:rPr sz="2000" spc="-3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the task).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76732" y="1212193"/>
            <a:ext cx="8082522" cy="3235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8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000" spc="150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>
                <a:solidFill>
                  <a:srgbClr val="000000"/>
                </a:solidFill>
                <a:latin typeface="Times New Roman"/>
                <a:cs typeface="Times New Roman"/>
              </a:rPr>
              <a:t>Train Model:</a:t>
            </a:r>
            <a:r>
              <a:rPr sz="2000" b="1" spc="-3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The CNN</a:t>
            </a:r>
            <a:r>
              <a:rPr sz="2000" spc="1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model</a:t>
            </a:r>
            <a:r>
              <a:rPr sz="2000" spc="-1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is</a:t>
            </a:r>
            <a:r>
              <a:rPr sz="2000" spc="-1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trained</a:t>
            </a:r>
            <a:r>
              <a:rPr sz="2000" spc="-2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using</a:t>
            </a:r>
            <a:r>
              <a:rPr sz="2000" spc="-2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labeled</a:t>
            </a:r>
            <a:r>
              <a:rPr sz="2000" spc="-1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data, allowing</a:t>
            </a:r>
            <a:r>
              <a:rPr sz="2000" spc="-2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it</a:t>
            </a:r>
            <a:r>
              <a:rPr sz="2000" spc="-1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to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19632" y="1696761"/>
            <a:ext cx="5404688" cy="3756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57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learn</a:t>
            </a:r>
            <a:r>
              <a:rPr sz="2000" spc="-1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feature</a:t>
            </a:r>
            <a:r>
              <a:rPr sz="2000" spc="-3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representations</a:t>
            </a:r>
            <a:r>
              <a:rPr sz="2000" spc="-3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sz="2000" spc="-1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improve</a:t>
            </a:r>
            <a:r>
              <a:rPr sz="2000" spc="-1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accuracy</a:t>
            </a:r>
            <a:r>
              <a:rPr sz="2400">
                <a:solidFill>
                  <a:srgbClr val="000000"/>
                </a:solidFill>
                <a:latin typeface="Times New Roman"/>
                <a:cs typeface="Times New Roman"/>
              </a:rPr>
              <a:t>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76732" y="2493813"/>
            <a:ext cx="3037520" cy="3759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57"/>
              </a:lnSpc>
              <a:spcBef>
                <a:spcPct val="0"/>
              </a:spcBef>
              <a:spcAft>
                <a:spcPct val="0"/>
              </a:spcAft>
            </a:pPr>
            <a:r>
              <a:rPr sz="2400" b="1" u="sng">
                <a:solidFill>
                  <a:srgbClr val="000000"/>
                </a:solidFill>
                <a:latin typeface="Times New Roman"/>
                <a:cs typeface="Times New Roman"/>
              </a:rPr>
              <a:t>How the Process</a:t>
            </a:r>
            <a:r>
              <a:rPr sz="2400" b="1" u="sng" spc="-2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b="1" u="sng">
                <a:solidFill>
                  <a:srgbClr val="000000"/>
                </a:solidFill>
                <a:latin typeface="Times New Roman"/>
                <a:cs typeface="Times New Roman"/>
              </a:rPr>
              <a:t>Ends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76732" y="3026134"/>
            <a:ext cx="8369528" cy="7807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8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000" spc="150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>
                <a:solidFill>
                  <a:srgbClr val="000000"/>
                </a:solidFill>
                <a:latin typeface="Times New Roman"/>
                <a:cs typeface="Times New Roman"/>
              </a:rPr>
              <a:t>Predict</a:t>
            </a:r>
            <a:r>
              <a:rPr sz="2000" b="1" spc="-1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>
                <a:solidFill>
                  <a:srgbClr val="000000"/>
                </a:solidFill>
                <a:latin typeface="Times New Roman"/>
                <a:cs typeface="Times New Roman"/>
              </a:rPr>
              <a:t>Model:</a:t>
            </a:r>
            <a:r>
              <a:rPr sz="2000" b="1" spc="-3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After</a:t>
            </a:r>
            <a:r>
              <a:rPr sz="2000" spc="-1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training,</a:t>
            </a:r>
            <a:r>
              <a:rPr sz="2000" spc="-3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the CNN model</a:t>
            </a:r>
            <a:r>
              <a:rPr sz="2000" spc="-1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makes predictions</a:t>
            </a:r>
            <a:r>
              <a:rPr sz="2000" spc="-4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(classifies)</a:t>
            </a:r>
          </a:p>
          <a:p>
            <a:pPr marL="342900" marR="0">
              <a:lnSpc>
                <a:spcPts val="2219"/>
              </a:lnSpc>
              <a:spcBef>
                <a:spcPts val="138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on new images based</a:t>
            </a:r>
            <a:r>
              <a:rPr sz="2000" spc="-3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on learned</a:t>
            </a:r>
            <a:r>
              <a:rPr sz="2000" spc="-2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patterns.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76732" y="3940534"/>
            <a:ext cx="8214746" cy="7810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8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000" spc="150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>
                <a:solidFill>
                  <a:srgbClr val="000000"/>
                </a:solidFill>
                <a:latin typeface="Times New Roman"/>
                <a:cs typeface="Times New Roman"/>
              </a:rPr>
              <a:t>End: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The workflow</a:t>
            </a:r>
            <a:r>
              <a:rPr sz="2000" spc="-3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concludes,</a:t>
            </a:r>
            <a:r>
              <a:rPr sz="2000" spc="-4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and the</a:t>
            </a:r>
            <a:r>
              <a:rPr sz="2000" spc="-2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final</a:t>
            </a:r>
            <a:r>
              <a:rPr sz="2000" spc="-2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result—classification</a:t>
            </a:r>
            <a:r>
              <a:rPr sz="2000" spc="-3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output</a:t>
            </a:r>
            <a:r>
              <a:rPr sz="2000" spc="-4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or</a:t>
            </a:r>
          </a:p>
          <a:p>
            <a:pPr marL="342900" marR="0">
              <a:lnSpc>
                <a:spcPts val="2219"/>
              </a:lnSpc>
              <a:spcBef>
                <a:spcPts val="1382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prediction—</a:t>
            </a:r>
            <a:r>
              <a:rPr sz="2000" spc="-17">
                <a:solidFill>
                  <a:srgbClr val="000000"/>
                </a:solidFill>
                <a:latin typeface="Times New Roman"/>
                <a:cs typeface="Times New Roman"/>
              </a:rPr>
              <a:t>is</a:t>
            </a:r>
            <a:r>
              <a:rPr sz="2000" spc="-1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delivered,</a:t>
            </a:r>
            <a:r>
              <a:rPr sz="2000" spc="-3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completing</a:t>
            </a:r>
            <a:r>
              <a:rPr sz="2000" spc="-1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the process.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79145" y="6472150"/>
            <a:ext cx="1281881" cy="193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2"/>
              </a:lnSpc>
              <a:spcBef>
                <a:spcPct val="0"/>
              </a:spcBef>
              <a:spcAft>
                <a:spcPct val="0"/>
              </a:spcAft>
            </a:pP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Dept</a:t>
            </a:r>
            <a:r>
              <a:rPr sz="1100" i="1" spc="-2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1100" i="1" spc="-3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CSE,</a:t>
            </a:r>
            <a:r>
              <a:rPr sz="1100" i="1" spc="-1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 spc="-30">
                <a:solidFill>
                  <a:srgbClr val="000000"/>
                </a:solidFill>
                <a:latin typeface="Times New Roman"/>
                <a:cs typeface="Times New Roman"/>
              </a:rPr>
              <a:t>EWCE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884162" y="6472150"/>
            <a:ext cx="1793581" cy="193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2"/>
              </a:lnSpc>
              <a:spcBef>
                <a:spcPct val="0"/>
              </a:spcBef>
              <a:spcAft>
                <a:spcPct val="0"/>
              </a:spcAft>
            </a:pP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Image Classification</a:t>
            </a:r>
            <a:r>
              <a:rPr sz="1100" i="1" spc="-6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using</a:t>
            </a:r>
            <a:r>
              <a:rPr sz="1100" i="1" spc="-10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 spc="-24">
                <a:solidFill>
                  <a:srgbClr val="000000"/>
                </a:solidFill>
                <a:latin typeface="Times New Roman"/>
                <a:cs typeface="Times New Roman"/>
              </a:rPr>
              <a:t>AI</a:t>
            </a: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260981" y="255889"/>
            <a:ext cx="4784706" cy="4887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48"/>
              </a:lnSpc>
              <a:spcBef>
                <a:spcPct val="0"/>
              </a:spcBef>
              <a:spcAft>
                <a:spcPct val="0"/>
              </a:spcAft>
            </a:pPr>
            <a:r>
              <a:rPr sz="3200">
                <a:solidFill>
                  <a:srgbClr val="DA1F28"/>
                </a:solidFill>
                <a:latin typeface="Times New Roman"/>
                <a:cs typeface="Times New Roman"/>
              </a:rPr>
              <a:t>Algorithms</a:t>
            </a:r>
            <a:r>
              <a:rPr sz="3200" spc="-39">
                <a:solidFill>
                  <a:srgbClr val="DA1F28"/>
                </a:solidFill>
                <a:latin typeface="Times New Roman"/>
                <a:cs typeface="Times New Roman"/>
              </a:rPr>
              <a:t> </a:t>
            </a:r>
            <a:r>
              <a:rPr sz="3200">
                <a:solidFill>
                  <a:srgbClr val="DA1F28"/>
                </a:solidFill>
                <a:latin typeface="Times New Roman"/>
                <a:cs typeface="Times New Roman"/>
              </a:rPr>
              <a:t>And Techniques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9145" y="6472150"/>
            <a:ext cx="1281881" cy="193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2"/>
              </a:lnSpc>
              <a:spcBef>
                <a:spcPct val="0"/>
              </a:spcBef>
              <a:spcAft>
                <a:spcPct val="0"/>
              </a:spcAft>
            </a:pP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Dept</a:t>
            </a:r>
            <a:r>
              <a:rPr sz="1100" i="1" spc="-2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1100" i="1" spc="-3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CSE,</a:t>
            </a:r>
            <a:r>
              <a:rPr sz="1100" i="1" spc="-1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 spc="-30">
                <a:solidFill>
                  <a:srgbClr val="000000"/>
                </a:solidFill>
                <a:latin typeface="Times New Roman"/>
                <a:cs typeface="Times New Roman"/>
              </a:rPr>
              <a:t>EWCE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884162" y="6472150"/>
            <a:ext cx="1793581" cy="193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2"/>
              </a:lnSpc>
              <a:spcBef>
                <a:spcPct val="0"/>
              </a:spcBef>
              <a:spcAft>
                <a:spcPct val="0"/>
              </a:spcAft>
            </a:pP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Image Classification</a:t>
            </a:r>
            <a:r>
              <a:rPr sz="1100" i="1" spc="-6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using</a:t>
            </a:r>
            <a:r>
              <a:rPr sz="1100" i="1" spc="-10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 spc="-24">
                <a:solidFill>
                  <a:srgbClr val="000000"/>
                </a:solidFill>
                <a:latin typeface="Times New Roman"/>
                <a:cs typeface="Times New Roman"/>
              </a:rPr>
              <a:t>AI</a:t>
            </a: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294253" y="255889"/>
            <a:ext cx="2717206" cy="4887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48"/>
              </a:lnSpc>
              <a:spcBef>
                <a:spcPct val="0"/>
              </a:spcBef>
              <a:spcAft>
                <a:spcPct val="0"/>
              </a:spcAft>
            </a:pPr>
            <a:r>
              <a:rPr sz="3200">
                <a:solidFill>
                  <a:srgbClr val="DA1F28"/>
                </a:solidFill>
                <a:latin typeface="Times New Roman"/>
                <a:cs typeface="Times New Roman"/>
              </a:rPr>
              <a:t>ER</a:t>
            </a:r>
            <a:r>
              <a:rPr sz="3200" spc="-12">
                <a:solidFill>
                  <a:srgbClr val="DA1F28"/>
                </a:solidFill>
                <a:latin typeface="Times New Roman"/>
                <a:cs typeface="Times New Roman"/>
              </a:rPr>
              <a:t> </a:t>
            </a:r>
            <a:r>
              <a:rPr sz="3200">
                <a:solidFill>
                  <a:srgbClr val="DA1F28"/>
                </a:solidFill>
                <a:latin typeface="Times New Roman"/>
                <a:cs typeface="Times New Roman"/>
              </a:rPr>
              <a:t>DIAGRAM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9145" y="6472150"/>
            <a:ext cx="1281881" cy="193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2"/>
              </a:lnSpc>
              <a:spcBef>
                <a:spcPct val="0"/>
              </a:spcBef>
              <a:spcAft>
                <a:spcPct val="0"/>
              </a:spcAft>
            </a:pP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Dept</a:t>
            </a:r>
            <a:r>
              <a:rPr sz="1100" i="1" spc="-2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1100" i="1" spc="-3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CSE,</a:t>
            </a:r>
            <a:r>
              <a:rPr sz="1100" i="1" spc="-1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 spc="-30">
                <a:solidFill>
                  <a:srgbClr val="000000"/>
                </a:solidFill>
                <a:latin typeface="Times New Roman"/>
                <a:cs typeface="Times New Roman"/>
              </a:rPr>
              <a:t>EWCE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884162" y="6472150"/>
            <a:ext cx="1793581" cy="193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2"/>
              </a:lnSpc>
              <a:spcBef>
                <a:spcPct val="0"/>
              </a:spcBef>
              <a:spcAft>
                <a:spcPct val="0"/>
              </a:spcAft>
            </a:pP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Image Classification</a:t>
            </a:r>
            <a:r>
              <a:rPr sz="1100" i="1" spc="-6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using</a:t>
            </a:r>
            <a:r>
              <a:rPr sz="1100" i="1" spc="-10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 spc="-24">
                <a:solidFill>
                  <a:srgbClr val="000000"/>
                </a:solidFill>
                <a:latin typeface="Times New Roman"/>
                <a:cs typeface="Times New Roman"/>
              </a:rPr>
              <a:t>AI</a:t>
            </a: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423793" y="255889"/>
            <a:ext cx="2463292" cy="4887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48"/>
              </a:lnSpc>
              <a:spcBef>
                <a:spcPct val="0"/>
              </a:spcBef>
              <a:spcAft>
                <a:spcPct val="0"/>
              </a:spcAft>
            </a:pPr>
            <a:r>
              <a:rPr sz="3200" spc="-24">
                <a:solidFill>
                  <a:srgbClr val="DA1F28"/>
                </a:solidFill>
                <a:latin typeface="Times New Roman"/>
                <a:cs typeface="Times New Roman"/>
              </a:rPr>
              <a:t>TEST</a:t>
            </a:r>
            <a:r>
              <a:rPr sz="3200" spc="-20">
                <a:solidFill>
                  <a:srgbClr val="DA1F28"/>
                </a:solidFill>
                <a:latin typeface="Times New Roman"/>
                <a:cs typeface="Times New Roman"/>
              </a:rPr>
              <a:t> </a:t>
            </a:r>
            <a:r>
              <a:rPr sz="3200" spc="-23">
                <a:solidFill>
                  <a:srgbClr val="DA1F28"/>
                </a:solidFill>
                <a:latin typeface="Times New Roman"/>
                <a:cs typeface="Times New Roman"/>
              </a:rPr>
              <a:t>CASES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0591" y="1186541"/>
            <a:ext cx="2573623" cy="5921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FFFFFF"/>
                </a:solidFill>
                <a:latin typeface="Calibri"/>
                <a:cs typeface="Calibri"/>
              </a:rPr>
              <a:t>Test Case</a:t>
            </a:r>
            <a:r>
              <a:rPr sz="1800" b="1" spc="167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>
                <a:solidFill>
                  <a:srgbClr val="FFFFFF"/>
                </a:solidFill>
                <a:latin typeface="Calibri"/>
                <a:cs typeface="Calibri"/>
              </a:rPr>
              <a:t>Test</a:t>
            </a:r>
            <a:r>
              <a:rPr sz="1800" b="1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>
                <a:solidFill>
                  <a:srgbClr val="FFFFFF"/>
                </a:solidFill>
                <a:latin typeface="Calibri"/>
                <a:cs typeface="Calibri"/>
              </a:rPr>
              <a:t>Scenario</a:t>
            </a:r>
          </a:p>
          <a:p>
            <a:pPr marL="277672" marR="0">
              <a:lnSpc>
                <a:spcPts val="2163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FFFFFF"/>
                </a:solidFill>
                <a:latin typeface="Calibri"/>
                <a:cs typeface="Calibri"/>
              </a:rPr>
              <a:t>No.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688969" y="1186541"/>
            <a:ext cx="1121794" cy="3175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FFFFFF"/>
                </a:solidFill>
                <a:latin typeface="Calibri"/>
                <a:cs typeface="Calibri"/>
              </a:rPr>
              <a:t>Test Steps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558282" y="1186541"/>
            <a:ext cx="1661724" cy="3175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FFFFFF"/>
                </a:solidFill>
                <a:latin typeface="Calibri"/>
                <a:cs typeface="Calibri"/>
              </a:rPr>
              <a:t>Expected</a:t>
            </a:r>
            <a:r>
              <a:rPr sz="1800" b="1" spc="-29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>
                <a:solidFill>
                  <a:srgbClr val="FFFFFF"/>
                </a:solidFill>
                <a:latin typeface="Calibri"/>
                <a:cs typeface="Calibri"/>
              </a:rPr>
              <a:t>Result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538974" y="1186541"/>
            <a:ext cx="1185936" cy="5921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FFFFFF"/>
                </a:solidFill>
                <a:latin typeface="Calibri"/>
                <a:cs typeface="Calibri"/>
              </a:rPr>
              <a:t>Approved/</a:t>
            </a:r>
          </a:p>
          <a:p>
            <a:pPr marL="100583" marR="0">
              <a:lnSpc>
                <a:spcPts val="2163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FFFFFF"/>
                </a:solidFill>
                <a:latin typeface="Calibri"/>
                <a:cs typeface="Calibri"/>
              </a:rPr>
              <a:t>Rejected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54736" y="1931142"/>
            <a:ext cx="553632" cy="29393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Calibri"/>
                <a:cs typeface="Calibri"/>
              </a:rPr>
              <a:t>TC 1</a:t>
            </a:r>
          </a:p>
          <a:p>
            <a:pPr marL="0" marR="0">
              <a:lnSpc>
                <a:spcPts val="2197"/>
              </a:lnSpc>
              <a:spcBef>
                <a:spcPts val="8125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Calibri"/>
                <a:cs typeface="Calibri"/>
              </a:rPr>
              <a:t>TC 2</a:t>
            </a:r>
          </a:p>
          <a:p>
            <a:pPr marL="0" marR="0">
              <a:lnSpc>
                <a:spcPts val="2197"/>
              </a:lnSpc>
              <a:spcBef>
                <a:spcPts val="8124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Calibri"/>
                <a:cs typeface="Calibri"/>
              </a:rPr>
              <a:t>TC 3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384427" y="1932951"/>
            <a:ext cx="1344927" cy="5300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719" marR="0">
              <a:lnSpc>
                <a:spcPts val="1951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Image Upload</a:t>
            </a:r>
          </a:p>
          <a:p>
            <a:pPr marL="0" marR="0">
              <a:lnSpc>
                <a:spcPts val="1922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Functionality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995549" y="1932951"/>
            <a:ext cx="3893529" cy="2858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1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Upload a valid</a:t>
            </a:r>
            <a:r>
              <a:rPr sz="1600" spc="-2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image</a:t>
            </a:r>
            <a:r>
              <a:rPr sz="1600" spc="-13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file</a:t>
            </a:r>
            <a:r>
              <a:rPr sz="1600" spc="-16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via</a:t>
            </a:r>
            <a:r>
              <a:rPr sz="1600" spc="1524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Image</a:t>
            </a:r>
            <a:r>
              <a:rPr sz="1600" spc="-18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uploads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651750" y="1932951"/>
            <a:ext cx="960323" cy="2858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1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Approved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995549" y="2177462"/>
            <a:ext cx="2064044" cy="2855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48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the Streamlit interface.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534914" y="2177462"/>
            <a:ext cx="1702759" cy="10170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48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successfully,</a:t>
            </a:r>
          </a:p>
          <a:p>
            <a:pPr marL="0" marR="0">
              <a:lnSpc>
                <a:spcPts val="1920"/>
              </a:lnSpc>
              <a:spcBef>
                <a:spcPts val="5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thumbnail</a:t>
            </a:r>
            <a:r>
              <a:rPr sz="1600" spc="-34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preview</a:t>
            </a:r>
          </a:p>
          <a:p>
            <a:pPr marL="0" marR="0">
              <a:lnSpc>
                <a:spcPts val="1919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displays</a:t>
            </a:r>
            <a:r>
              <a:rPr sz="1600" spc="-27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without</a:t>
            </a:r>
          </a:p>
          <a:p>
            <a:pPr marL="0" marR="0">
              <a:lnSpc>
                <a:spcPts val="192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errors.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384427" y="3244262"/>
            <a:ext cx="1307935" cy="5294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48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Image</a:t>
            </a:r>
          </a:p>
          <a:p>
            <a:pPr marL="0" marR="0">
              <a:lnSpc>
                <a:spcPts val="1920"/>
              </a:lnSpc>
              <a:spcBef>
                <a:spcPts val="5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Preprocessing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995549" y="3244262"/>
            <a:ext cx="3550887" cy="2855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48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Check if</a:t>
            </a:r>
            <a:r>
              <a:rPr sz="1600" spc="-1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the uploaded</a:t>
            </a:r>
            <a:r>
              <a:rPr sz="1600" spc="-12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image</a:t>
            </a:r>
            <a:r>
              <a:rPr sz="1600" spc="1202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Image</a:t>
            </a:r>
            <a:r>
              <a:rPr sz="1600" spc="-13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size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651750" y="3244262"/>
            <a:ext cx="959110" cy="2855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48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Approved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995549" y="3487812"/>
            <a:ext cx="4184467" cy="7737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1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is</a:t>
            </a:r>
            <a:r>
              <a:rPr sz="1600" spc="-1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resized</a:t>
            </a:r>
            <a:r>
              <a:rPr sz="1600" spc="16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and</a:t>
            </a:r>
            <a:r>
              <a:rPr sz="1600" spc="-1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normalized</a:t>
            </a:r>
          </a:p>
          <a:p>
            <a:pPr marL="0" marR="0">
              <a:lnSpc>
                <a:spcPts val="1922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correctly</a:t>
            </a:r>
            <a:r>
              <a:rPr sz="1600" spc="3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before</a:t>
            </a:r>
            <a:r>
              <a:rPr sz="1600" spc="28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prediction.</a:t>
            </a:r>
            <a:r>
              <a:rPr sz="1600" spc="1774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input</a:t>
            </a:r>
            <a:r>
              <a:rPr sz="1600" spc="-12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size;</a:t>
            </a:r>
            <a:r>
              <a:rPr sz="1600" spc="-13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pixel</a:t>
            </a:r>
          </a:p>
          <a:p>
            <a:pPr marL="2539365" marR="0">
              <a:lnSpc>
                <a:spcPts val="192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values normalized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5534914" y="3487812"/>
            <a:ext cx="1420824" cy="2858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1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matches model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5534914" y="4219876"/>
            <a:ext cx="844908" cy="2855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48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to range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384427" y="4555156"/>
            <a:ext cx="996083" cy="5293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48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Prediction</a:t>
            </a:r>
          </a:p>
          <a:p>
            <a:pPr marL="0" marR="0">
              <a:lnSpc>
                <a:spcPts val="1920"/>
              </a:lnSpc>
              <a:spcBef>
                <a:spcPts val="5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Accuracy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995549" y="4555156"/>
            <a:ext cx="3873888" cy="2855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48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Upload a labeled</a:t>
            </a:r>
            <a:r>
              <a:rPr sz="1600" spc="-13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test image</a:t>
            </a:r>
            <a:r>
              <a:rPr sz="1600" spc="153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Model returns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7392035" y="4555156"/>
            <a:ext cx="1477881" cy="7732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0980" marR="0">
              <a:lnSpc>
                <a:spcPts val="1948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Approved/</a:t>
            </a:r>
          </a:p>
          <a:p>
            <a:pPr marL="0" marR="0">
              <a:lnSpc>
                <a:spcPts val="1920"/>
              </a:lnSpc>
              <a:spcBef>
                <a:spcPts val="5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Rejected</a:t>
            </a:r>
            <a:r>
              <a:rPr sz="1600" spc="33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(Based</a:t>
            </a:r>
          </a:p>
          <a:p>
            <a:pPr marL="274573" marR="0">
              <a:lnSpc>
                <a:spcPts val="1919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on Score)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2995549" y="4798996"/>
            <a:ext cx="2359439" cy="5294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48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(e.g., dandelion)</a:t>
            </a:r>
            <a:r>
              <a:rPr sz="1600" spc="-18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and verify</a:t>
            </a:r>
          </a:p>
          <a:p>
            <a:pPr marL="0" marR="0">
              <a:lnSpc>
                <a:spcPts val="1919"/>
              </a:lnSpc>
              <a:spcBef>
                <a:spcPts val="5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the classification</a:t>
            </a:r>
            <a:r>
              <a:rPr sz="1600" spc="-29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result.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5534914" y="4798996"/>
            <a:ext cx="1599092" cy="5294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48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correct</a:t>
            </a:r>
            <a:r>
              <a:rPr sz="1600" spc="52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label</a:t>
            </a:r>
            <a:r>
              <a:rPr sz="1600" spc="-24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with</a:t>
            </a:r>
          </a:p>
          <a:p>
            <a:pPr marL="0" marR="0">
              <a:lnSpc>
                <a:spcPts val="1919"/>
              </a:lnSpc>
              <a:spcBef>
                <a:spcPts val="5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accuracy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5534914" y="5287057"/>
            <a:ext cx="1608425" cy="2855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48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confidence &gt;90%.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479145" y="6472150"/>
            <a:ext cx="1281881" cy="193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2"/>
              </a:lnSpc>
              <a:spcBef>
                <a:spcPct val="0"/>
              </a:spcBef>
              <a:spcAft>
                <a:spcPct val="0"/>
              </a:spcAft>
            </a:pP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Dept</a:t>
            </a:r>
            <a:r>
              <a:rPr sz="1100" i="1" spc="-2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1100" i="1" spc="-3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CSE,</a:t>
            </a:r>
            <a:r>
              <a:rPr sz="1100" i="1" spc="-1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 spc="-30">
                <a:solidFill>
                  <a:srgbClr val="000000"/>
                </a:solidFill>
                <a:latin typeface="Times New Roman"/>
                <a:cs typeface="Times New Roman"/>
              </a:rPr>
              <a:t>EWCE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6884162" y="6472150"/>
            <a:ext cx="1793581" cy="193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2"/>
              </a:lnSpc>
              <a:spcBef>
                <a:spcPct val="0"/>
              </a:spcBef>
              <a:spcAft>
                <a:spcPct val="0"/>
              </a:spcAft>
            </a:pP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Image Classification</a:t>
            </a:r>
            <a:r>
              <a:rPr sz="1100" i="1" spc="-6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using</a:t>
            </a:r>
            <a:r>
              <a:rPr sz="1100" i="1" spc="-10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 spc="-24">
                <a:solidFill>
                  <a:srgbClr val="000000"/>
                </a:solidFill>
                <a:latin typeface="Times New Roman"/>
                <a:cs typeface="Times New Roman"/>
              </a:rPr>
              <a:t>AI</a:t>
            </a: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423793" y="255889"/>
            <a:ext cx="2463292" cy="4887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48"/>
              </a:lnSpc>
              <a:spcBef>
                <a:spcPct val="0"/>
              </a:spcBef>
              <a:spcAft>
                <a:spcPct val="0"/>
              </a:spcAft>
            </a:pPr>
            <a:r>
              <a:rPr sz="3200" spc="-24">
                <a:solidFill>
                  <a:srgbClr val="DA1F28"/>
                </a:solidFill>
                <a:latin typeface="Times New Roman"/>
                <a:cs typeface="Times New Roman"/>
              </a:rPr>
              <a:t>TEST</a:t>
            </a:r>
            <a:r>
              <a:rPr sz="3200" spc="-20">
                <a:solidFill>
                  <a:srgbClr val="DA1F28"/>
                </a:solidFill>
                <a:latin typeface="Times New Roman"/>
                <a:cs typeface="Times New Roman"/>
              </a:rPr>
              <a:t> </a:t>
            </a:r>
            <a:r>
              <a:rPr sz="3200" spc="-23">
                <a:solidFill>
                  <a:srgbClr val="DA1F28"/>
                </a:solidFill>
                <a:latin typeface="Times New Roman"/>
                <a:cs typeface="Times New Roman"/>
              </a:rPr>
              <a:t>CASES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0591" y="1186541"/>
            <a:ext cx="2573623" cy="5921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FFFFFF"/>
                </a:solidFill>
                <a:latin typeface="Calibri"/>
                <a:cs typeface="Calibri"/>
              </a:rPr>
              <a:t>Test Case</a:t>
            </a:r>
            <a:r>
              <a:rPr sz="1800" b="1" spc="167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>
                <a:solidFill>
                  <a:srgbClr val="FFFFFF"/>
                </a:solidFill>
                <a:latin typeface="Calibri"/>
                <a:cs typeface="Calibri"/>
              </a:rPr>
              <a:t>Test</a:t>
            </a:r>
            <a:r>
              <a:rPr sz="1800" b="1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>
                <a:solidFill>
                  <a:srgbClr val="FFFFFF"/>
                </a:solidFill>
                <a:latin typeface="Calibri"/>
                <a:cs typeface="Calibri"/>
              </a:rPr>
              <a:t>Scenario</a:t>
            </a:r>
          </a:p>
          <a:p>
            <a:pPr marL="277672" marR="0">
              <a:lnSpc>
                <a:spcPts val="2163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FFFFFF"/>
                </a:solidFill>
                <a:latin typeface="Calibri"/>
                <a:cs typeface="Calibri"/>
              </a:rPr>
              <a:t>No.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688969" y="1186541"/>
            <a:ext cx="1121794" cy="3175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FFFFFF"/>
                </a:solidFill>
                <a:latin typeface="Calibri"/>
                <a:cs typeface="Calibri"/>
              </a:rPr>
              <a:t>Test Steps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558282" y="1186541"/>
            <a:ext cx="1661724" cy="3175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FFFFFF"/>
                </a:solidFill>
                <a:latin typeface="Calibri"/>
                <a:cs typeface="Calibri"/>
              </a:rPr>
              <a:t>Expected</a:t>
            </a:r>
            <a:r>
              <a:rPr sz="1800" b="1" spc="-29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>
                <a:solidFill>
                  <a:srgbClr val="FFFFFF"/>
                </a:solidFill>
                <a:latin typeface="Calibri"/>
                <a:cs typeface="Calibri"/>
              </a:rPr>
              <a:t>Result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538974" y="1186541"/>
            <a:ext cx="1185936" cy="5921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FFFFFF"/>
                </a:solidFill>
                <a:latin typeface="Calibri"/>
                <a:cs typeface="Calibri"/>
              </a:rPr>
              <a:t>Approved/</a:t>
            </a:r>
          </a:p>
          <a:p>
            <a:pPr marL="100583" marR="0">
              <a:lnSpc>
                <a:spcPts val="2163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FFFFFF"/>
                </a:solidFill>
                <a:latin typeface="Calibri"/>
                <a:cs typeface="Calibri"/>
              </a:rPr>
              <a:t>Rejected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54736" y="1931142"/>
            <a:ext cx="553632" cy="28790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Calibri"/>
                <a:cs typeface="Calibri"/>
              </a:rPr>
              <a:t>TC 4</a:t>
            </a:r>
          </a:p>
          <a:p>
            <a:pPr marL="0" marR="0">
              <a:lnSpc>
                <a:spcPts val="2197"/>
              </a:lnSpc>
              <a:spcBef>
                <a:spcPts val="7887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Calibri"/>
                <a:cs typeface="Calibri"/>
              </a:rPr>
              <a:t>TC 5</a:t>
            </a:r>
          </a:p>
          <a:p>
            <a:pPr marL="0" marR="0">
              <a:lnSpc>
                <a:spcPts val="2197"/>
              </a:lnSpc>
              <a:spcBef>
                <a:spcPts val="7887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Calibri"/>
                <a:cs typeface="Calibri"/>
              </a:rPr>
              <a:t>TC 6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384427" y="1932951"/>
            <a:ext cx="1335794" cy="7738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1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Data</a:t>
            </a:r>
          </a:p>
          <a:p>
            <a:pPr marL="0" marR="0">
              <a:lnSpc>
                <a:spcPts val="1922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Augmentation</a:t>
            </a:r>
          </a:p>
          <a:p>
            <a:pPr marL="0" marR="0">
              <a:lnSpc>
                <a:spcPts val="192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Effect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995549" y="1932951"/>
            <a:ext cx="4244161" cy="2858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1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Evaluate model</a:t>
            </a:r>
            <a:r>
              <a:rPr sz="1600" spc="16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predictions</a:t>
            </a:r>
            <a:r>
              <a:rPr sz="1600" spc="1924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Predictions remain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651750" y="1932951"/>
            <a:ext cx="960323" cy="2858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1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Approved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995549" y="2177462"/>
            <a:ext cx="365780" cy="2855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48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on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534914" y="2177462"/>
            <a:ext cx="1357078" cy="2855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48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consistent and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995549" y="2421302"/>
            <a:ext cx="4059643" cy="2855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48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augmented/flipped/rotated</a:t>
            </a:r>
            <a:r>
              <a:rPr sz="1600" spc="155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accurate despite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995549" y="2665142"/>
            <a:ext cx="2093468" cy="2855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48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versions</a:t>
            </a:r>
            <a:r>
              <a:rPr sz="1600" spc="22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sz="1600" spc="14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test images.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534914" y="2665142"/>
            <a:ext cx="1446475" cy="2855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48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augmentations.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384427" y="3214036"/>
            <a:ext cx="948363" cy="5293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48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Real-time</a:t>
            </a:r>
          </a:p>
          <a:p>
            <a:pPr marL="0" marR="0">
              <a:lnSpc>
                <a:spcPts val="1920"/>
              </a:lnSpc>
              <a:spcBef>
                <a:spcPts val="5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Response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995549" y="3214036"/>
            <a:ext cx="2325496" cy="1017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48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Measure time taken from</a:t>
            </a:r>
          </a:p>
          <a:p>
            <a:pPr marL="0" marR="0">
              <a:lnSpc>
                <a:spcPts val="1920"/>
              </a:lnSpc>
              <a:spcBef>
                <a:spcPts val="5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image</a:t>
            </a:r>
            <a:r>
              <a:rPr sz="1600" spc="-13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upload to</a:t>
            </a:r>
            <a:r>
              <a:rPr sz="1600" spc="-1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display</a:t>
            </a:r>
            <a:r>
              <a:rPr sz="1600" spc="-1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of</a:t>
            </a:r>
          </a:p>
          <a:p>
            <a:pPr marL="0" marR="0">
              <a:lnSpc>
                <a:spcPts val="1923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prediction result</a:t>
            </a:r>
            <a:r>
              <a:rPr sz="1600" spc="12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in</a:t>
            </a:r>
            <a:r>
              <a:rPr sz="1600" spc="-18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web</a:t>
            </a:r>
          </a:p>
          <a:p>
            <a:pPr marL="0" marR="0">
              <a:lnSpc>
                <a:spcPts val="1919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app.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5534914" y="3214036"/>
            <a:ext cx="1592955" cy="1017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48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Prediction results</a:t>
            </a:r>
          </a:p>
          <a:p>
            <a:pPr marL="0" marR="0">
              <a:lnSpc>
                <a:spcPts val="1920"/>
              </a:lnSpc>
              <a:spcBef>
                <a:spcPts val="5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shown</a:t>
            </a:r>
            <a:r>
              <a:rPr sz="1600" spc="23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within</a:t>
            </a:r>
            <a:r>
              <a:rPr sz="1600" spc="-27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an</a:t>
            </a:r>
          </a:p>
          <a:p>
            <a:pPr marL="0" marR="0">
              <a:lnSpc>
                <a:spcPts val="1923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acceptable time</a:t>
            </a:r>
          </a:p>
          <a:p>
            <a:pPr marL="0" marR="0">
              <a:lnSpc>
                <a:spcPts val="1919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frame.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7392669" y="3214036"/>
            <a:ext cx="1477881" cy="7735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0980" marR="0">
              <a:lnSpc>
                <a:spcPts val="1948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Approved/</a:t>
            </a:r>
          </a:p>
          <a:p>
            <a:pPr marL="0" marR="0">
              <a:lnSpc>
                <a:spcPts val="1920"/>
              </a:lnSpc>
              <a:spcBef>
                <a:spcPts val="5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Rejected</a:t>
            </a:r>
            <a:r>
              <a:rPr sz="1600" spc="33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(Based</a:t>
            </a:r>
          </a:p>
          <a:p>
            <a:pPr marL="274320" marR="0">
              <a:lnSpc>
                <a:spcPts val="1923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on</a:t>
            </a:r>
            <a:r>
              <a:rPr sz="1600" spc="1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Score)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384427" y="4494831"/>
            <a:ext cx="1353087" cy="2855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48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Error</a:t>
            </a:r>
            <a:r>
              <a:rPr sz="1600" spc="42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Handling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995549" y="4494831"/>
            <a:ext cx="3989422" cy="2855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48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Upload invalid</a:t>
            </a:r>
            <a:r>
              <a:rPr sz="1600" spc="-4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or</a:t>
            </a:r>
            <a:r>
              <a:rPr sz="1600" spc="17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corrupted</a:t>
            </a:r>
            <a:r>
              <a:rPr sz="1600" spc="175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System</a:t>
            </a:r>
            <a:r>
              <a:rPr sz="1600" spc="1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displays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7651750" y="4494831"/>
            <a:ext cx="959110" cy="2855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48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Approved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995549" y="4738671"/>
            <a:ext cx="2385749" cy="5293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48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files</a:t>
            </a:r>
            <a:r>
              <a:rPr sz="1600" spc="-2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or</a:t>
            </a:r>
            <a:r>
              <a:rPr sz="1600" spc="17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unsupported</a:t>
            </a:r>
          </a:p>
          <a:p>
            <a:pPr marL="0" marR="0">
              <a:lnSpc>
                <a:spcPts val="1920"/>
              </a:lnSpc>
              <a:spcBef>
                <a:spcPts val="5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formats to test</a:t>
            </a:r>
            <a:r>
              <a:rPr sz="1600" spc="1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robustness.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5534914" y="4738671"/>
            <a:ext cx="1694965" cy="7732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48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incorrect</a:t>
            </a:r>
            <a:r>
              <a:rPr sz="1600" spc="38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label</a:t>
            </a:r>
            <a:r>
              <a:rPr sz="1600" spc="-24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and</a:t>
            </a:r>
          </a:p>
          <a:p>
            <a:pPr marL="0" marR="0">
              <a:lnSpc>
                <a:spcPts val="1920"/>
              </a:lnSpc>
              <a:spcBef>
                <a:spcPts val="5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less accuracy</a:t>
            </a:r>
          </a:p>
          <a:p>
            <a:pPr marL="0" marR="0">
              <a:lnSpc>
                <a:spcPts val="1919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score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5534914" y="5470496"/>
            <a:ext cx="1569360" cy="2855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48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Calibri"/>
                <a:cs typeface="Calibri"/>
              </a:rPr>
              <a:t>Without crashing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479145" y="6472150"/>
            <a:ext cx="1281881" cy="193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2"/>
              </a:lnSpc>
              <a:spcBef>
                <a:spcPct val="0"/>
              </a:spcBef>
              <a:spcAft>
                <a:spcPct val="0"/>
              </a:spcAft>
            </a:pP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Dept</a:t>
            </a:r>
            <a:r>
              <a:rPr sz="1100" i="1" spc="-2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1100" i="1" spc="-3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CSE,</a:t>
            </a:r>
            <a:r>
              <a:rPr sz="1100" i="1" spc="-1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 spc="-30">
                <a:solidFill>
                  <a:srgbClr val="000000"/>
                </a:solidFill>
                <a:latin typeface="Times New Roman"/>
                <a:cs typeface="Times New Roman"/>
              </a:rPr>
              <a:t>EWCE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6884162" y="6472150"/>
            <a:ext cx="1793581" cy="193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2"/>
              </a:lnSpc>
              <a:spcBef>
                <a:spcPct val="0"/>
              </a:spcBef>
              <a:spcAft>
                <a:spcPct val="0"/>
              </a:spcAft>
            </a:pP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Image Classification</a:t>
            </a:r>
            <a:r>
              <a:rPr sz="1100" i="1" spc="-6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using</a:t>
            </a:r>
            <a:r>
              <a:rPr sz="1100" i="1" spc="-10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 spc="-24">
                <a:solidFill>
                  <a:srgbClr val="000000"/>
                </a:solidFill>
                <a:latin typeface="Times New Roman"/>
                <a:cs typeface="Times New Roman"/>
              </a:rPr>
              <a:t>AI</a:t>
            </a: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818509" y="255889"/>
            <a:ext cx="1689630" cy="4887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48"/>
              </a:lnSpc>
              <a:spcBef>
                <a:spcPct val="0"/>
              </a:spcBef>
              <a:spcAft>
                <a:spcPct val="0"/>
              </a:spcAft>
            </a:pPr>
            <a:r>
              <a:rPr sz="3200" spc="-23">
                <a:solidFill>
                  <a:srgbClr val="DA1F28"/>
                </a:solidFill>
                <a:latin typeface="Times New Roman"/>
                <a:cs typeface="Times New Roman"/>
              </a:rPr>
              <a:t>RESULT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1071" y="1313968"/>
            <a:ext cx="8527361" cy="2606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19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2000" spc="34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system</a:t>
            </a:r>
            <a:r>
              <a:rPr sz="2000" spc="31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accurately</a:t>
            </a:r>
            <a:r>
              <a:rPr sz="2000" spc="34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classifies</a:t>
            </a:r>
            <a:r>
              <a:rPr sz="2000" spc="34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any</a:t>
            </a:r>
            <a:r>
              <a:rPr sz="2000" spc="34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uploaded</a:t>
            </a:r>
            <a:r>
              <a:rPr sz="2000" spc="34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flower</a:t>
            </a:r>
            <a:r>
              <a:rPr sz="2000" spc="34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image</a:t>
            </a:r>
            <a:r>
              <a:rPr sz="2000" spc="35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into</a:t>
            </a:r>
            <a:r>
              <a:rPr sz="2000" spc="35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its</a:t>
            </a:r>
            <a:r>
              <a:rPr sz="2000" spc="33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respective</a:t>
            </a:r>
          </a:p>
          <a:p>
            <a:pPr marL="0" marR="0">
              <a:lnSpc>
                <a:spcPts val="2221"/>
              </a:lnSpc>
              <a:spcBef>
                <a:spcPts val="1378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category,</a:t>
            </a:r>
            <a:r>
              <a:rPr sz="2000" spc="19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sz="2000" spc="18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displays</a:t>
            </a:r>
            <a:r>
              <a:rPr sz="2000" spc="18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12">
                <a:solidFill>
                  <a:srgbClr val="000000"/>
                </a:solidFill>
                <a:latin typeface="Times New Roman"/>
                <a:cs typeface="Times New Roman"/>
              </a:rPr>
              <a:t>an</a:t>
            </a:r>
            <a:r>
              <a:rPr sz="2000" spc="21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accuracy</a:t>
            </a:r>
            <a:r>
              <a:rPr sz="2000" spc="19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score</a:t>
            </a:r>
            <a:r>
              <a:rPr sz="2000" spc="19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representing</a:t>
            </a:r>
            <a:r>
              <a:rPr sz="2000" spc="17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1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2000" spc="20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model’s</a:t>
            </a:r>
            <a:r>
              <a:rPr sz="2000" spc="19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confidence</a:t>
            </a:r>
            <a:r>
              <a:rPr sz="2000" spc="19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16">
                <a:solidFill>
                  <a:srgbClr val="000000"/>
                </a:solidFill>
                <a:latin typeface="Times New Roman"/>
                <a:cs typeface="Times New Roman"/>
              </a:rPr>
              <a:t>in</a:t>
            </a:r>
          </a:p>
          <a:p>
            <a:pPr marL="0" marR="0">
              <a:lnSpc>
                <a:spcPts val="2219"/>
              </a:lnSpc>
              <a:spcBef>
                <a:spcPts val="1382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this</a:t>
            </a:r>
            <a:r>
              <a:rPr sz="2000" spc="7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prediction.</a:t>
            </a:r>
            <a:r>
              <a:rPr sz="2000" spc="8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2000" spc="9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accuracy</a:t>
            </a:r>
            <a:r>
              <a:rPr sz="2000" spc="7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score</a:t>
            </a:r>
            <a:r>
              <a:rPr sz="2000" spc="8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(e.g.,</a:t>
            </a:r>
            <a:r>
              <a:rPr sz="2000" spc="66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96.7418%)</a:t>
            </a:r>
            <a:r>
              <a:rPr sz="2000" spc="8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shows</a:t>
            </a:r>
            <a:r>
              <a:rPr sz="2000" spc="8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how</a:t>
            </a:r>
            <a:r>
              <a:rPr sz="2000" spc="9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certain</a:t>
            </a:r>
            <a:r>
              <a:rPr sz="2000" spc="10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2000" spc="10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deep</a:t>
            </a:r>
          </a:p>
          <a:p>
            <a:pPr marL="0" marR="0">
              <a:lnSpc>
                <a:spcPts val="2219"/>
              </a:lnSpc>
              <a:spcBef>
                <a:spcPts val="138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learning</a:t>
            </a:r>
            <a:r>
              <a:rPr sz="2000" spc="60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model</a:t>
            </a:r>
            <a:r>
              <a:rPr sz="2000" spc="58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is</a:t>
            </a:r>
            <a:r>
              <a:rPr sz="2000" spc="58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about</a:t>
            </a:r>
            <a:r>
              <a:rPr sz="2000" spc="57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its</a:t>
            </a:r>
            <a:r>
              <a:rPr sz="2000" spc="57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classification,</a:t>
            </a:r>
            <a:r>
              <a:rPr sz="2000" spc="57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with</a:t>
            </a:r>
            <a:r>
              <a:rPr sz="2000" spc="56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higher</a:t>
            </a:r>
            <a:r>
              <a:rPr sz="2000" spc="57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percentages</a:t>
            </a:r>
            <a:r>
              <a:rPr sz="2000" spc="58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indicating</a:t>
            </a:r>
          </a:p>
          <a:p>
            <a:pPr marL="0" marR="0">
              <a:lnSpc>
                <a:spcPts val="2221"/>
              </a:lnSpc>
              <a:spcBef>
                <a:spcPts val="1378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stronger</a:t>
            </a:r>
            <a:r>
              <a:rPr sz="2000" spc="17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confidence.</a:t>
            </a:r>
            <a:r>
              <a:rPr sz="2000" spc="17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This</a:t>
            </a:r>
            <a:r>
              <a:rPr sz="2000" spc="15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helps</a:t>
            </a:r>
            <a:r>
              <a:rPr sz="2000" spc="16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users</a:t>
            </a:r>
            <a:r>
              <a:rPr sz="2000" spc="17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quickly</a:t>
            </a:r>
            <a:r>
              <a:rPr sz="2000" spc="17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verify</a:t>
            </a:r>
            <a:r>
              <a:rPr sz="2000" spc="17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both</a:t>
            </a:r>
            <a:r>
              <a:rPr sz="2000" spc="17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2000" spc="15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predicted</a:t>
            </a:r>
            <a:r>
              <a:rPr sz="2000" spc="16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label</a:t>
            </a:r>
            <a:r>
              <a:rPr sz="2000" spc="16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</a:p>
          <a:p>
            <a:pPr marL="0" marR="0">
              <a:lnSpc>
                <a:spcPts val="2219"/>
              </a:lnSpc>
              <a:spcBef>
                <a:spcPts val="1383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how</a:t>
            </a:r>
            <a:r>
              <a:rPr sz="2000" spc="-1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reliably</a:t>
            </a:r>
            <a:r>
              <a:rPr sz="2000" spc="-2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the AI</a:t>
            </a:r>
            <a:r>
              <a:rPr sz="2000" spc="-1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recognized</a:t>
            </a:r>
            <a:r>
              <a:rPr sz="2000" spc="-3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2000" spc="-2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object</a:t>
            </a:r>
            <a:r>
              <a:rPr sz="2000" spc="-3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in the image.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79145" y="6472150"/>
            <a:ext cx="1281881" cy="193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2"/>
              </a:lnSpc>
              <a:spcBef>
                <a:spcPct val="0"/>
              </a:spcBef>
              <a:spcAft>
                <a:spcPct val="0"/>
              </a:spcAft>
            </a:pP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Dept</a:t>
            </a:r>
            <a:r>
              <a:rPr sz="1100" i="1" spc="-2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1100" i="1" spc="-3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CSE,</a:t>
            </a:r>
            <a:r>
              <a:rPr sz="1100" i="1" spc="-1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 spc="-30">
                <a:solidFill>
                  <a:srgbClr val="000000"/>
                </a:solidFill>
                <a:latin typeface="Times New Roman"/>
                <a:cs typeface="Times New Roman"/>
              </a:rPr>
              <a:t>EWCE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884162" y="6472150"/>
            <a:ext cx="1793581" cy="193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2"/>
              </a:lnSpc>
              <a:spcBef>
                <a:spcPct val="0"/>
              </a:spcBef>
              <a:spcAft>
                <a:spcPct val="0"/>
              </a:spcAft>
            </a:pP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Image Classification</a:t>
            </a:r>
            <a:r>
              <a:rPr sz="1100" i="1" spc="-6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using</a:t>
            </a:r>
            <a:r>
              <a:rPr sz="1100" i="1" spc="-10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 spc="-24">
                <a:solidFill>
                  <a:srgbClr val="000000"/>
                </a:solidFill>
                <a:latin typeface="Times New Roman"/>
                <a:cs typeface="Times New Roman"/>
              </a:rPr>
              <a:t>AI</a:t>
            </a: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312540" y="255889"/>
            <a:ext cx="2682552" cy="4887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48"/>
              </a:lnSpc>
              <a:spcBef>
                <a:spcPct val="0"/>
              </a:spcBef>
              <a:spcAft>
                <a:spcPct val="0"/>
              </a:spcAft>
            </a:pPr>
            <a:r>
              <a:rPr sz="3200" spc="-19">
                <a:solidFill>
                  <a:srgbClr val="000000"/>
                </a:solidFill>
                <a:latin typeface="Times New Roman"/>
                <a:cs typeface="Times New Roman"/>
              </a:rPr>
              <a:t>Model</a:t>
            </a:r>
            <a:r>
              <a:rPr sz="320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spc="-22">
                <a:solidFill>
                  <a:srgbClr val="000000"/>
                </a:solidFill>
                <a:latin typeface="Times New Roman"/>
                <a:cs typeface="Times New Roman"/>
              </a:rPr>
              <a:t>Creation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9145" y="6472150"/>
            <a:ext cx="1281881" cy="193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2"/>
              </a:lnSpc>
              <a:spcBef>
                <a:spcPct val="0"/>
              </a:spcBef>
              <a:spcAft>
                <a:spcPct val="0"/>
              </a:spcAft>
            </a:pP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Dept</a:t>
            </a:r>
            <a:r>
              <a:rPr sz="1100" i="1" spc="-2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1100" i="1" spc="-3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CSE,</a:t>
            </a:r>
            <a:r>
              <a:rPr sz="1100" i="1" spc="-1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 spc="-30">
                <a:solidFill>
                  <a:srgbClr val="000000"/>
                </a:solidFill>
                <a:latin typeface="Times New Roman"/>
                <a:cs typeface="Times New Roman"/>
              </a:rPr>
              <a:t>EWCE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884162" y="6472150"/>
            <a:ext cx="1793581" cy="193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2"/>
              </a:lnSpc>
              <a:spcBef>
                <a:spcPct val="0"/>
              </a:spcBef>
              <a:spcAft>
                <a:spcPct val="0"/>
              </a:spcAft>
            </a:pP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Image Classification</a:t>
            </a:r>
            <a:r>
              <a:rPr sz="1100" i="1" spc="-6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using</a:t>
            </a:r>
            <a:r>
              <a:rPr sz="1100" i="1" spc="-10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 spc="-24">
                <a:solidFill>
                  <a:srgbClr val="000000"/>
                </a:solidFill>
                <a:latin typeface="Times New Roman"/>
                <a:cs typeface="Times New Roman"/>
              </a:rPr>
              <a:t>AI</a:t>
            </a: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977261" y="255889"/>
            <a:ext cx="3353138" cy="4887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48"/>
              </a:lnSpc>
              <a:spcBef>
                <a:spcPct val="0"/>
              </a:spcBef>
              <a:spcAft>
                <a:spcPct val="0"/>
              </a:spcAft>
            </a:pPr>
            <a:r>
              <a:rPr sz="3200">
                <a:solidFill>
                  <a:srgbClr val="000000"/>
                </a:solidFill>
                <a:latin typeface="Times New Roman"/>
                <a:cs typeface="Times New Roman"/>
              </a:rPr>
              <a:t>Data Augmentation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9145" y="6472150"/>
            <a:ext cx="1281881" cy="193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2"/>
              </a:lnSpc>
              <a:spcBef>
                <a:spcPct val="0"/>
              </a:spcBef>
              <a:spcAft>
                <a:spcPct val="0"/>
              </a:spcAft>
            </a:pP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Dept</a:t>
            </a:r>
            <a:r>
              <a:rPr sz="1100" i="1" spc="-2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1100" i="1" spc="-3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CSE,</a:t>
            </a:r>
            <a:r>
              <a:rPr sz="1100" i="1" spc="-1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 spc="-30">
                <a:solidFill>
                  <a:srgbClr val="000000"/>
                </a:solidFill>
                <a:latin typeface="Times New Roman"/>
                <a:cs typeface="Times New Roman"/>
              </a:rPr>
              <a:t>EWCE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884162" y="6472150"/>
            <a:ext cx="1793581" cy="193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2"/>
              </a:lnSpc>
              <a:spcBef>
                <a:spcPct val="0"/>
              </a:spcBef>
              <a:spcAft>
                <a:spcPct val="0"/>
              </a:spcAft>
            </a:pP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Image Classification</a:t>
            </a:r>
            <a:r>
              <a:rPr sz="1100" i="1" spc="-6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using</a:t>
            </a:r>
            <a:r>
              <a:rPr sz="1100" i="1" spc="-10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 spc="-24">
                <a:solidFill>
                  <a:srgbClr val="000000"/>
                </a:solidFill>
                <a:latin typeface="Times New Roman"/>
                <a:cs typeface="Times New Roman"/>
              </a:rPr>
              <a:t>AI</a:t>
            </a: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95781" y="255889"/>
            <a:ext cx="7314723" cy="4887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48"/>
              </a:lnSpc>
              <a:spcBef>
                <a:spcPct val="0"/>
              </a:spcBef>
              <a:spcAft>
                <a:spcPct val="0"/>
              </a:spcAft>
            </a:pPr>
            <a:r>
              <a:rPr sz="3200" spc="-19">
                <a:solidFill>
                  <a:srgbClr val="000000"/>
                </a:solidFill>
                <a:latin typeface="Times New Roman"/>
                <a:cs typeface="Times New Roman"/>
              </a:rPr>
              <a:t>Various</a:t>
            </a:r>
            <a:r>
              <a:rPr sz="3200" spc="-2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spc="-19">
                <a:solidFill>
                  <a:srgbClr val="000000"/>
                </a:solidFill>
                <a:latin typeface="Times New Roman"/>
                <a:cs typeface="Times New Roman"/>
              </a:rPr>
              <a:t>Layers</a:t>
            </a:r>
            <a:r>
              <a:rPr sz="3200" spc="-2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spc="-19">
                <a:solidFill>
                  <a:srgbClr val="000000"/>
                </a:solidFill>
                <a:latin typeface="Times New Roman"/>
                <a:cs typeface="Times New Roman"/>
              </a:rPr>
              <a:t>implemented</a:t>
            </a:r>
            <a:r>
              <a:rPr sz="3200" spc="-2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spc="-24">
                <a:solidFill>
                  <a:srgbClr val="000000"/>
                </a:solidFill>
                <a:latin typeface="Times New Roman"/>
                <a:cs typeface="Times New Roman"/>
              </a:rPr>
              <a:t>in</a:t>
            </a:r>
            <a:r>
              <a:rPr sz="3200" spc="-1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spc="-22">
                <a:solidFill>
                  <a:srgbClr val="000000"/>
                </a:solidFill>
                <a:latin typeface="Times New Roman"/>
                <a:cs typeface="Times New Roman"/>
              </a:rPr>
              <a:t>CNN</a:t>
            </a:r>
            <a:r>
              <a:rPr sz="3200" spc="-2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spc="-19">
                <a:solidFill>
                  <a:srgbClr val="000000"/>
                </a:solidFill>
                <a:latin typeface="Times New Roman"/>
                <a:cs typeface="Times New Roman"/>
              </a:rPr>
              <a:t>Model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9145" y="6472150"/>
            <a:ext cx="1281881" cy="193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2"/>
              </a:lnSpc>
              <a:spcBef>
                <a:spcPct val="0"/>
              </a:spcBef>
              <a:spcAft>
                <a:spcPct val="0"/>
              </a:spcAft>
            </a:pP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Dept</a:t>
            </a:r>
            <a:r>
              <a:rPr sz="1100" i="1" spc="-2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1100" i="1" spc="-3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CSE,</a:t>
            </a:r>
            <a:r>
              <a:rPr sz="1100" i="1" spc="-1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 spc="-30">
                <a:solidFill>
                  <a:srgbClr val="000000"/>
                </a:solidFill>
                <a:latin typeface="Times New Roman"/>
                <a:cs typeface="Times New Roman"/>
              </a:rPr>
              <a:t>EWCE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884162" y="6472150"/>
            <a:ext cx="1793581" cy="193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2"/>
              </a:lnSpc>
              <a:spcBef>
                <a:spcPct val="0"/>
              </a:spcBef>
              <a:spcAft>
                <a:spcPct val="0"/>
              </a:spcAft>
            </a:pP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Image Classification</a:t>
            </a:r>
            <a:r>
              <a:rPr sz="1100" i="1" spc="-6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using</a:t>
            </a:r>
            <a:r>
              <a:rPr sz="1100" i="1" spc="-10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 spc="-24">
                <a:solidFill>
                  <a:srgbClr val="000000"/>
                </a:solidFill>
                <a:latin typeface="Times New Roman"/>
                <a:cs typeface="Times New Roman"/>
              </a:rPr>
              <a:t>AI</a:t>
            </a: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312540" y="255889"/>
            <a:ext cx="2682553" cy="4887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48"/>
              </a:lnSpc>
              <a:spcBef>
                <a:spcPct val="0"/>
              </a:spcBef>
              <a:spcAft>
                <a:spcPct val="0"/>
              </a:spcAft>
            </a:pPr>
            <a:r>
              <a:rPr sz="3200" spc="-19">
                <a:solidFill>
                  <a:srgbClr val="000000"/>
                </a:solidFill>
                <a:latin typeface="Times New Roman"/>
                <a:cs typeface="Times New Roman"/>
              </a:rPr>
              <a:t>Model</a:t>
            </a:r>
            <a:r>
              <a:rPr sz="320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spc="-22">
                <a:solidFill>
                  <a:srgbClr val="000000"/>
                </a:solidFill>
                <a:latin typeface="Times New Roman"/>
                <a:cs typeface="Times New Roman"/>
              </a:rPr>
              <a:t>Training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9145" y="6472150"/>
            <a:ext cx="1281881" cy="193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2"/>
              </a:lnSpc>
              <a:spcBef>
                <a:spcPct val="0"/>
              </a:spcBef>
              <a:spcAft>
                <a:spcPct val="0"/>
              </a:spcAft>
            </a:pP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Dept</a:t>
            </a:r>
            <a:r>
              <a:rPr sz="1100" i="1" spc="-2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1100" i="1" spc="-3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CSE,</a:t>
            </a:r>
            <a:r>
              <a:rPr sz="1100" i="1" spc="-1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 spc="-30">
                <a:solidFill>
                  <a:srgbClr val="000000"/>
                </a:solidFill>
                <a:latin typeface="Times New Roman"/>
                <a:cs typeface="Times New Roman"/>
              </a:rPr>
              <a:t>EWCE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884162" y="6472150"/>
            <a:ext cx="1793581" cy="193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2"/>
              </a:lnSpc>
              <a:spcBef>
                <a:spcPct val="0"/>
              </a:spcBef>
              <a:spcAft>
                <a:spcPct val="0"/>
              </a:spcAft>
            </a:pP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Image Classification</a:t>
            </a:r>
            <a:r>
              <a:rPr sz="1100" i="1" spc="-6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using</a:t>
            </a:r>
            <a:r>
              <a:rPr sz="1100" i="1" spc="-10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 spc="-24">
                <a:solidFill>
                  <a:srgbClr val="000000"/>
                </a:solidFill>
                <a:latin typeface="Times New Roman"/>
                <a:cs typeface="Times New Roman"/>
              </a:rPr>
              <a:t>AI</a:t>
            </a: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50289" y="255889"/>
            <a:ext cx="6805283" cy="4887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48"/>
              </a:lnSpc>
              <a:spcBef>
                <a:spcPct val="0"/>
              </a:spcBef>
              <a:spcAft>
                <a:spcPct val="0"/>
              </a:spcAft>
            </a:pPr>
            <a:r>
              <a:rPr sz="3200" spc="-21">
                <a:solidFill>
                  <a:srgbClr val="000000"/>
                </a:solidFill>
                <a:latin typeface="Times New Roman"/>
                <a:cs typeface="Times New Roman"/>
              </a:rPr>
              <a:t>Classification</a:t>
            </a:r>
            <a:r>
              <a:rPr sz="320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spc="-18">
                <a:solidFill>
                  <a:srgbClr val="000000"/>
                </a:solidFill>
                <a:latin typeface="Times New Roman"/>
                <a:cs typeface="Times New Roman"/>
              </a:rPr>
              <a:t>along</a:t>
            </a:r>
            <a:r>
              <a:rPr sz="3200" spc="-2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spc="-23">
                <a:solidFill>
                  <a:srgbClr val="000000"/>
                </a:solidFill>
                <a:latin typeface="Times New Roman"/>
                <a:cs typeface="Times New Roman"/>
              </a:rPr>
              <a:t>with</a:t>
            </a:r>
            <a:r>
              <a:rPr sz="3200" spc="-1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spc="-18">
                <a:solidFill>
                  <a:srgbClr val="000000"/>
                </a:solidFill>
                <a:latin typeface="Times New Roman"/>
                <a:cs typeface="Times New Roman"/>
              </a:rPr>
              <a:t>Accuracy</a:t>
            </a:r>
            <a:r>
              <a:rPr sz="3200" spc="-21">
                <a:solidFill>
                  <a:srgbClr val="000000"/>
                </a:solidFill>
                <a:latin typeface="Times New Roman"/>
                <a:cs typeface="Times New Roman"/>
              </a:rPr>
              <a:t> Score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9145" y="6472150"/>
            <a:ext cx="1281881" cy="193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2"/>
              </a:lnSpc>
              <a:spcBef>
                <a:spcPct val="0"/>
              </a:spcBef>
              <a:spcAft>
                <a:spcPct val="0"/>
              </a:spcAft>
            </a:pP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Dept</a:t>
            </a:r>
            <a:r>
              <a:rPr sz="1100" i="1" spc="-2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1100" i="1" spc="-3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CSE,</a:t>
            </a:r>
            <a:r>
              <a:rPr sz="1100" i="1" spc="-1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 spc="-30">
                <a:solidFill>
                  <a:srgbClr val="000000"/>
                </a:solidFill>
                <a:latin typeface="Times New Roman"/>
                <a:cs typeface="Times New Roman"/>
              </a:rPr>
              <a:t>EWCE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884162" y="6472150"/>
            <a:ext cx="1793581" cy="193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2"/>
              </a:lnSpc>
              <a:spcBef>
                <a:spcPct val="0"/>
              </a:spcBef>
              <a:spcAft>
                <a:spcPct val="0"/>
              </a:spcAft>
            </a:pP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Image Classification</a:t>
            </a:r>
            <a:r>
              <a:rPr sz="1100" i="1" spc="-6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using</a:t>
            </a:r>
            <a:r>
              <a:rPr sz="1100" i="1" spc="-10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 spc="-24">
                <a:solidFill>
                  <a:srgbClr val="000000"/>
                </a:solidFill>
                <a:latin typeface="Times New Roman"/>
                <a:cs typeface="Times New Roman"/>
              </a:rPr>
              <a:t>AI</a:t>
            </a: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280537" y="255889"/>
            <a:ext cx="2774850" cy="4887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48"/>
              </a:lnSpc>
              <a:spcBef>
                <a:spcPct val="0"/>
              </a:spcBef>
              <a:spcAft>
                <a:spcPct val="0"/>
              </a:spcAft>
            </a:pPr>
            <a:r>
              <a:rPr sz="3200" spc="-22">
                <a:solidFill>
                  <a:srgbClr val="DA1F28"/>
                </a:solidFill>
                <a:latin typeface="Times New Roman"/>
                <a:cs typeface="Times New Roman"/>
              </a:rPr>
              <a:t>CONCLUSION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1071" y="1313968"/>
            <a:ext cx="8526896" cy="30637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19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This</a:t>
            </a:r>
            <a:r>
              <a:rPr sz="2000" spc="10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project</a:t>
            </a:r>
            <a:r>
              <a:rPr sz="2000" spc="11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demonstrates</a:t>
            </a:r>
            <a:r>
              <a:rPr sz="2000" spc="11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2000" spc="10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robust</a:t>
            </a:r>
            <a:r>
              <a:rPr sz="2000" spc="10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AI-powered</a:t>
            </a:r>
            <a:r>
              <a:rPr sz="2000" spc="12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image</a:t>
            </a:r>
            <a:r>
              <a:rPr sz="2000" spc="12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classification</a:t>
            </a:r>
            <a:r>
              <a:rPr sz="2000" spc="11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system</a:t>
            </a:r>
            <a:r>
              <a:rPr sz="2000" spc="9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using</a:t>
            </a:r>
          </a:p>
          <a:p>
            <a:pPr marL="0" marR="0">
              <a:lnSpc>
                <a:spcPts val="2221"/>
              </a:lnSpc>
              <a:spcBef>
                <a:spcPts val="1378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TensorFlow</a:t>
            </a:r>
            <a:r>
              <a:rPr sz="2000" spc="18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sz="2000" spc="18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Keras,</a:t>
            </a:r>
            <a:r>
              <a:rPr sz="2000" spc="16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deployed</a:t>
            </a:r>
            <a:r>
              <a:rPr sz="2000" spc="18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with</a:t>
            </a:r>
            <a:r>
              <a:rPr sz="2000" spc="18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Streamlit</a:t>
            </a:r>
            <a:r>
              <a:rPr sz="2000" spc="17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for</a:t>
            </a:r>
            <a:r>
              <a:rPr sz="2000" spc="17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user-friendly</a:t>
            </a:r>
            <a:r>
              <a:rPr sz="2000" spc="17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interaction.</a:t>
            </a:r>
            <a:r>
              <a:rPr sz="2000" spc="17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10">
                <a:solidFill>
                  <a:srgbClr val="000000"/>
                </a:solidFill>
                <a:latin typeface="Times New Roman"/>
                <a:cs typeface="Times New Roman"/>
              </a:rPr>
              <a:t>By</a:t>
            </a:r>
          </a:p>
          <a:p>
            <a:pPr marL="0" marR="0">
              <a:lnSpc>
                <a:spcPts val="2219"/>
              </a:lnSpc>
              <a:spcBef>
                <a:spcPts val="1382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uploading</a:t>
            </a:r>
            <a:r>
              <a:rPr sz="2000" spc="39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2000" spc="36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flower</a:t>
            </a:r>
            <a:r>
              <a:rPr sz="2000" spc="38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image,</a:t>
            </a:r>
            <a:r>
              <a:rPr sz="2000" spc="38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users</a:t>
            </a:r>
            <a:r>
              <a:rPr sz="2000" spc="38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receive</a:t>
            </a:r>
            <a:r>
              <a:rPr sz="2000" spc="38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12">
                <a:solidFill>
                  <a:srgbClr val="000000"/>
                </a:solidFill>
                <a:latin typeface="Times New Roman"/>
                <a:cs typeface="Times New Roman"/>
              </a:rPr>
              <a:t>an</a:t>
            </a:r>
            <a:r>
              <a:rPr sz="2000" spc="39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instant</a:t>
            </a:r>
            <a:r>
              <a:rPr sz="2000" spc="38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category</a:t>
            </a:r>
            <a:r>
              <a:rPr sz="2000" spc="36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prediction</a:t>
            </a:r>
            <a:r>
              <a:rPr sz="2000" spc="39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sz="2000" spc="39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12">
                <a:solidFill>
                  <a:srgbClr val="000000"/>
                </a:solidFill>
                <a:latin typeface="Times New Roman"/>
                <a:cs typeface="Times New Roman"/>
              </a:rPr>
              <a:t>an</a:t>
            </a:r>
          </a:p>
          <a:p>
            <a:pPr marL="0" marR="0">
              <a:lnSpc>
                <a:spcPts val="2219"/>
              </a:lnSpc>
              <a:spcBef>
                <a:spcPts val="138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accuracy</a:t>
            </a:r>
            <a:r>
              <a:rPr sz="2000" spc="91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score,</a:t>
            </a:r>
            <a:r>
              <a:rPr sz="2000" spc="91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reflecting</a:t>
            </a:r>
            <a:r>
              <a:rPr sz="2000" spc="91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2000" spc="90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model’s</a:t>
            </a:r>
            <a:r>
              <a:rPr sz="2000" spc="90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confidence.</a:t>
            </a:r>
            <a:r>
              <a:rPr sz="2000" spc="90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2000" spc="91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project</a:t>
            </a:r>
            <a:r>
              <a:rPr sz="2000" spc="88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showcases</a:t>
            </a:r>
          </a:p>
          <a:p>
            <a:pPr marL="0" marR="0">
              <a:lnSpc>
                <a:spcPts val="2221"/>
              </a:lnSpc>
              <a:spcBef>
                <a:spcPts val="1378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effective</a:t>
            </a:r>
            <a:r>
              <a:rPr sz="2000" spc="3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application</a:t>
            </a:r>
            <a:r>
              <a:rPr sz="2000" spc="2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2000" spc="4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deep learning</a:t>
            </a:r>
            <a:r>
              <a:rPr sz="2000" spc="2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for</a:t>
            </a:r>
            <a:r>
              <a:rPr sz="2000" spc="4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automated</a:t>
            </a:r>
            <a:r>
              <a:rPr sz="2000" spc="2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visual</a:t>
            </a:r>
            <a:r>
              <a:rPr sz="2000" spc="1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recognition,</a:t>
            </a:r>
            <a:r>
              <a:rPr sz="2000" spc="3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paving</a:t>
            </a:r>
            <a:r>
              <a:rPr sz="2000" spc="2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</a:p>
          <a:p>
            <a:pPr marL="0" marR="0">
              <a:lnSpc>
                <a:spcPts val="2219"/>
              </a:lnSpc>
              <a:spcBef>
                <a:spcPts val="1383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way</a:t>
            </a:r>
            <a:r>
              <a:rPr sz="2000" spc="24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for</a:t>
            </a:r>
            <a:r>
              <a:rPr sz="2000" spc="24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intelligent,</a:t>
            </a:r>
            <a:r>
              <a:rPr sz="2000" spc="24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real-time</a:t>
            </a:r>
            <a:r>
              <a:rPr sz="2000" spc="26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classification</a:t>
            </a:r>
            <a:r>
              <a:rPr sz="2000" spc="24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in</a:t>
            </a:r>
            <a:r>
              <a:rPr sz="2000" spc="25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areas</a:t>
            </a:r>
            <a:r>
              <a:rPr sz="2000" spc="24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like</a:t>
            </a:r>
            <a:r>
              <a:rPr sz="2000" spc="24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botany,</a:t>
            </a:r>
            <a:r>
              <a:rPr sz="2000" spc="25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agriculture,</a:t>
            </a:r>
            <a:r>
              <a:rPr sz="2000" spc="24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</a:p>
          <a:p>
            <a:pPr marL="0" marR="0">
              <a:lnSpc>
                <a:spcPts val="2219"/>
              </a:lnSpc>
              <a:spcBef>
                <a:spcPts val="138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educational</a:t>
            </a:r>
            <a:r>
              <a:rPr sz="2000" spc="-4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tools.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79145" y="6472150"/>
            <a:ext cx="1281881" cy="193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2"/>
              </a:lnSpc>
              <a:spcBef>
                <a:spcPct val="0"/>
              </a:spcBef>
              <a:spcAft>
                <a:spcPct val="0"/>
              </a:spcAft>
            </a:pP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Dept</a:t>
            </a:r>
            <a:r>
              <a:rPr sz="1100" i="1" spc="-2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1100" i="1" spc="-3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CSE,</a:t>
            </a:r>
            <a:r>
              <a:rPr sz="1100" i="1" spc="-1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 spc="-30">
                <a:solidFill>
                  <a:srgbClr val="000000"/>
                </a:solidFill>
                <a:latin typeface="Times New Roman"/>
                <a:cs typeface="Times New Roman"/>
              </a:rPr>
              <a:t>EWCE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884162" y="6472150"/>
            <a:ext cx="1793581" cy="193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2"/>
              </a:lnSpc>
              <a:spcBef>
                <a:spcPct val="0"/>
              </a:spcBef>
              <a:spcAft>
                <a:spcPct val="0"/>
              </a:spcAft>
            </a:pP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Image Classification</a:t>
            </a:r>
            <a:r>
              <a:rPr sz="1100" i="1" spc="-6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using</a:t>
            </a:r>
            <a:r>
              <a:rPr sz="1100" i="1" spc="-10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 spc="-24">
                <a:solidFill>
                  <a:srgbClr val="000000"/>
                </a:solidFill>
                <a:latin typeface="Times New Roman"/>
                <a:cs typeface="Times New Roman"/>
              </a:rPr>
              <a:t>AI</a:t>
            </a: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213737" y="255889"/>
            <a:ext cx="4880199" cy="4887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48"/>
              </a:lnSpc>
              <a:spcBef>
                <a:spcPct val="0"/>
              </a:spcBef>
              <a:spcAft>
                <a:spcPct val="0"/>
              </a:spcAft>
            </a:pPr>
            <a:r>
              <a:rPr sz="3200" spc="-23">
                <a:solidFill>
                  <a:srgbClr val="DA1F28"/>
                </a:solidFill>
                <a:latin typeface="Times New Roman"/>
                <a:cs typeface="Times New Roman"/>
              </a:rPr>
              <a:t>FUTURE</a:t>
            </a:r>
            <a:r>
              <a:rPr sz="3200" spc="-22">
                <a:solidFill>
                  <a:srgbClr val="DA1F28"/>
                </a:solidFill>
                <a:latin typeface="Times New Roman"/>
                <a:cs typeface="Times New Roman"/>
              </a:rPr>
              <a:t> ENHANCEMENT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17271" y="1091447"/>
            <a:ext cx="3357800" cy="320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1"/>
              </a:lnSpc>
              <a:spcBef>
                <a:spcPct val="0"/>
              </a:spcBef>
              <a:spcAft>
                <a:spcPct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  <a:cs typeface="Times New Roman"/>
              </a:rPr>
              <a:t>Advanced</a:t>
            </a:r>
            <a:r>
              <a:rPr sz="2000" b="1" spc="-2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>
                <a:solidFill>
                  <a:srgbClr val="000000"/>
                </a:solidFill>
                <a:latin typeface="Times New Roman"/>
                <a:cs typeface="Times New Roman"/>
              </a:rPr>
              <a:t>Model</a:t>
            </a:r>
            <a:r>
              <a:rPr sz="2000" b="1" spc="-2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>
                <a:solidFill>
                  <a:srgbClr val="000000"/>
                </a:solidFill>
                <a:latin typeface="Times New Roman"/>
                <a:cs typeface="Times New Roman"/>
              </a:rPr>
              <a:t>Capabilities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17271" y="1595987"/>
            <a:ext cx="8035340" cy="3235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8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000" spc="150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Attention</a:t>
            </a:r>
            <a:r>
              <a:rPr sz="2000" spc="-2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sz="2000" spc="-1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feature</a:t>
            </a:r>
            <a:r>
              <a:rPr sz="2000" spc="-2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fusion</a:t>
            </a:r>
            <a:r>
              <a:rPr sz="2000" spc="-2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modules</a:t>
            </a:r>
            <a:r>
              <a:rPr sz="2000" spc="-1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boost</a:t>
            </a:r>
            <a:r>
              <a:rPr sz="2000" spc="-3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accuracy</a:t>
            </a:r>
            <a:r>
              <a:rPr sz="2000" spc="-2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for</a:t>
            </a:r>
            <a:r>
              <a:rPr sz="2000" spc="-1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complex</a:t>
            </a:r>
            <a:r>
              <a:rPr sz="2000" spc="-1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flowers.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17271" y="2105004"/>
            <a:ext cx="8526530" cy="3235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8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000" spc="150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Self-supervised</a:t>
            </a:r>
            <a:r>
              <a:rPr sz="2000" spc="33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sz="2000" spc="33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transfer</a:t>
            </a:r>
            <a:r>
              <a:rPr sz="2000" spc="32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learning</a:t>
            </a:r>
            <a:r>
              <a:rPr sz="2000" spc="33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let</a:t>
            </a:r>
            <a:r>
              <a:rPr sz="2000" spc="30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models</a:t>
            </a:r>
            <a:r>
              <a:rPr sz="2000" spc="33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adapt</a:t>
            </a:r>
            <a:r>
              <a:rPr sz="2000" spc="31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to</a:t>
            </a:r>
            <a:r>
              <a:rPr sz="2000" spc="33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new</a:t>
            </a:r>
            <a:r>
              <a:rPr sz="2000" spc="3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species</a:t>
            </a:r>
            <a:r>
              <a:rPr sz="2000" spc="33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using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60476" y="2565536"/>
            <a:ext cx="1689811" cy="320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1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unlabeled</a:t>
            </a:r>
            <a:r>
              <a:rPr sz="2000" spc="-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data.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17271" y="3069949"/>
            <a:ext cx="8055152" cy="8310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8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000" spc="150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Deploying</a:t>
            </a:r>
            <a:r>
              <a:rPr sz="2000" spc="-1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on</a:t>
            </a:r>
            <a:r>
              <a:rPr sz="2000" spc="-2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edge</a:t>
            </a:r>
            <a:r>
              <a:rPr sz="2000" spc="-2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devices</a:t>
            </a:r>
            <a:r>
              <a:rPr sz="2000" spc="-2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enables</a:t>
            </a:r>
            <a:r>
              <a:rPr sz="2000" spc="-1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instant</a:t>
            </a:r>
            <a:r>
              <a:rPr sz="2000" spc="-3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predictions</a:t>
            </a:r>
            <a:r>
              <a:rPr sz="2000" spc="-4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for</a:t>
            </a:r>
            <a:r>
              <a:rPr sz="2000" spc="-1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mobile</a:t>
            </a:r>
            <a:r>
              <a:rPr sz="2000" spc="-1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sz="2000" spc="-1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IoT.</a:t>
            </a:r>
          </a:p>
          <a:p>
            <a:pPr marL="0" marR="0">
              <a:lnSpc>
                <a:spcPts val="2219"/>
              </a:lnSpc>
              <a:spcBef>
                <a:spcPts val="1776"/>
              </a:spcBef>
              <a:spcAft>
                <a:spcPct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  <a:cs typeface="Times New Roman"/>
              </a:rPr>
              <a:t>User Interaction</a:t>
            </a:r>
            <a:r>
              <a:rPr sz="2000" b="1" spc="-4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>
                <a:solidFill>
                  <a:srgbClr val="000000"/>
                </a:solidFill>
                <a:latin typeface="Times New Roman"/>
                <a:cs typeface="Times New Roman"/>
              </a:rPr>
              <a:t>and Experience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17271" y="4086182"/>
            <a:ext cx="8172500" cy="13391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41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000" spc="150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Batch image</a:t>
            </a:r>
            <a:r>
              <a:rPr sz="2000" spc="1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upload</a:t>
            </a:r>
            <a:r>
              <a:rPr sz="2000" spc="-2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accelerates</a:t>
            </a:r>
            <a:r>
              <a:rPr sz="2000" spc="-2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classification</a:t>
            </a:r>
            <a:r>
              <a:rPr sz="2000" spc="-3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for</a:t>
            </a:r>
            <a:r>
              <a:rPr sz="2000" spc="-2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groups.</a:t>
            </a:r>
          </a:p>
          <a:p>
            <a:pPr marL="0" marR="0">
              <a:lnSpc>
                <a:spcPts val="2238"/>
              </a:lnSpc>
              <a:spcBef>
                <a:spcPts val="1750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000" spc="150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Multimodal</a:t>
            </a:r>
            <a:r>
              <a:rPr sz="2000" spc="-2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input</a:t>
            </a:r>
            <a:r>
              <a:rPr sz="2000" spc="-3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supports</a:t>
            </a:r>
            <a:r>
              <a:rPr sz="2000" spc="-4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both</a:t>
            </a:r>
            <a:r>
              <a:rPr sz="2000" spc="-3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image</a:t>
            </a:r>
            <a:r>
              <a:rPr sz="2000" spc="1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sz="2000" spc="-1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text/audio</a:t>
            </a:r>
            <a:r>
              <a:rPr sz="2000" spc="-2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for</a:t>
            </a:r>
            <a:r>
              <a:rPr sz="2000" spc="-2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richer</a:t>
            </a:r>
            <a:r>
              <a:rPr sz="2000" spc="-2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predictions.</a:t>
            </a:r>
          </a:p>
          <a:p>
            <a:pPr marL="0" marR="0">
              <a:lnSpc>
                <a:spcPts val="2238"/>
              </a:lnSpc>
              <a:spcBef>
                <a:spcPts val="1798"/>
              </a:spcBef>
              <a:spcAft>
                <a:spcPct val="0"/>
              </a:spcAft>
            </a:pPr>
            <a:r>
              <a:rPr sz="20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000" spc="150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Explainable</a:t>
            </a:r>
            <a:r>
              <a:rPr sz="2000" spc="-4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AI</a:t>
            </a:r>
            <a:r>
              <a:rPr sz="2000" spc="-1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tools</a:t>
            </a:r>
            <a:r>
              <a:rPr sz="2000" spc="-2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help</a:t>
            </a:r>
            <a:r>
              <a:rPr sz="2000" spc="-1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users</a:t>
            </a:r>
            <a:r>
              <a:rPr sz="2000" spc="-2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see</a:t>
            </a:r>
            <a:r>
              <a:rPr sz="2000" spc="-1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and trust</a:t>
            </a:r>
            <a:r>
              <a:rPr sz="2000" spc="-3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how</a:t>
            </a:r>
            <a:r>
              <a:rPr sz="2000" spc="-2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predictions</a:t>
            </a:r>
            <a:r>
              <a:rPr sz="2000" spc="-3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are</a:t>
            </a:r>
            <a:r>
              <a:rPr sz="2000" spc="-1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00000"/>
                </a:solidFill>
                <a:latin typeface="Times New Roman"/>
                <a:cs typeface="Times New Roman"/>
              </a:rPr>
              <a:t>made.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79145" y="6472150"/>
            <a:ext cx="1281881" cy="193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2"/>
              </a:lnSpc>
              <a:spcBef>
                <a:spcPct val="0"/>
              </a:spcBef>
              <a:spcAft>
                <a:spcPct val="0"/>
              </a:spcAft>
            </a:pP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Dept</a:t>
            </a:r>
            <a:r>
              <a:rPr sz="1100" i="1" spc="-2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1100" i="1" spc="-3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CSE,</a:t>
            </a:r>
            <a:r>
              <a:rPr sz="1100" i="1" spc="-1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 spc="-30">
                <a:solidFill>
                  <a:srgbClr val="000000"/>
                </a:solidFill>
                <a:latin typeface="Times New Roman"/>
                <a:cs typeface="Times New Roman"/>
              </a:rPr>
              <a:t>EWCE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884162" y="6472150"/>
            <a:ext cx="1793581" cy="193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2"/>
              </a:lnSpc>
              <a:spcBef>
                <a:spcPct val="0"/>
              </a:spcBef>
              <a:spcAft>
                <a:spcPct val="0"/>
              </a:spcAft>
            </a:pP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Image Classification</a:t>
            </a:r>
            <a:r>
              <a:rPr sz="1100" i="1" spc="-6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using</a:t>
            </a:r>
            <a:r>
              <a:rPr sz="1100" i="1" spc="-10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 spc="-24">
                <a:solidFill>
                  <a:srgbClr val="000000"/>
                </a:solidFill>
                <a:latin typeface="Times New Roman"/>
                <a:cs typeface="Times New Roman"/>
              </a:rPr>
              <a:t>AI</a:t>
            </a: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330828" y="255889"/>
            <a:ext cx="2707297" cy="4887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48"/>
              </a:lnSpc>
              <a:spcBef>
                <a:spcPct val="0"/>
              </a:spcBef>
              <a:spcAft>
                <a:spcPct val="0"/>
              </a:spcAft>
            </a:pPr>
            <a:r>
              <a:rPr sz="3200" spc="-46">
                <a:solidFill>
                  <a:srgbClr val="DA1F28"/>
                </a:solidFill>
                <a:latin typeface="Times New Roman"/>
                <a:cs typeface="Times New Roman"/>
              </a:rPr>
              <a:t>REFERENCES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1914" y="1020063"/>
            <a:ext cx="7108232" cy="5655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[1] TensorFlow</a:t>
            </a:r>
            <a:r>
              <a:rPr sz="1800" spc="-2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Core</a:t>
            </a:r>
            <a:r>
              <a:rPr sz="1800" spc="-8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Documentation:</a:t>
            </a:r>
            <a:r>
              <a:rPr sz="1800" spc="-2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Convolutional Neural</a:t>
            </a:r>
            <a:r>
              <a:rPr sz="1800" spc="-3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Networks,</a:t>
            </a:r>
            <a:r>
              <a:rPr sz="1800" spc="-10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spc="-22">
                <a:solidFill>
                  <a:srgbClr val="000000"/>
                </a:solidFill>
                <a:latin typeface="Times New Roman"/>
                <a:cs typeface="Times New Roman"/>
              </a:rPr>
              <a:t>Data</a:t>
            </a:r>
          </a:p>
          <a:p>
            <a:pPr marL="0" marR="0">
              <a:lnSpc>
                <a:spcPts val="1993"/>
              </a:lnSpc>
              <a:spcBef>
                <a:spcPts val="166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Augmentation,</a:t>
            </a:r>
            <a:r>
              <a:rPr sz="1800" spc="-1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sz="1800" spc="-7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Image</a:t>
            </a:r>
            <a:r>
              <a:rPr sz="1800" spc="-6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Classification</a:t>
            </a:r>
            <a:r>
              <a:rPr sz="1800" spc="-1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Tutorials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1914" y="1644903"/>
            <a:ext cx="8253591" cy="5656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[2] IRJMETS.</a:t>
            </a:r>
            <a:r>
              <a:rPr sz="1800" spc="-7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"Image</a:t>
            </a:r>
            <a:r>
              <a:rPr sz="1800" spc="1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spc="-10">
                <a:solidFill>
                  <a:srgbClr val="000000"/>
                </a:solidFill>
                <a:latin typeface="Times New Roman"/>
                <a:cs typeface="Times New Roman"/>
              </a:rPr>
              <a:t>Classification</a:t>
            </a:r>
            <a:r>
              <a:rPr sz="1800" spc="3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1800" spc="-10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CIFAR10 Using</a:t>
            </a:r>
            <a:r>
              <a:rPr sz="1800" spc="3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CNN",</a:t>
            </a:r>
            <a:r>
              <a:rPr sz="1800" spc="-3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International</a:t>
            </a:r>
            <a:r>
              <a:rPr sz="1800" spc="-3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spc="-10">
                <a:solidFill>
                  <a:srgbClr val="000000"/>
                </a:solidFill>
                <a:latin typeface="Times New Roman"/>
                <a:cs typeface="Times New Roman"/>
              </a:rPr>
              <a:t>Research</a:t>
            </a:r>
          </a:p>
          <a:p>
            <a:pPr marL="0" marR="0">
              <a:lnSpc>
                <a:spcPts val="1996"/>
              </a:lnSpc>
              <a:spcBef>
                <a:spcPts val="164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Journal</a:t>
            </a:r>
            <a:r>
              <a:rPr sz="1800" spc="-4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1800" spc="-9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Modernization in</a:t>
            </a:r>
            <a:r>
              <a:rPr sz="1800" spc="-3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Engineering,</a:t>
            </a:r>
            <a:r>
              <a:rPr sz="1800" spc="7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Technology</a:t>
            </a:r>
            <a:r>
              <a:rPr sz="1800" spc="-2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sz="1800" spc="-1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Science,</a:t>
            </a:r>
            <a:r>
              <a:rPr sz="1800" spc="1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Vol</a:t>
            </a:r>
            <a:r>
              <a:rPr sz="1800" spc="-7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4,</a:t>
            </a:r>
            <a:r>
              <a:rPr sz="1800" spc="-6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Issue</a:t>
            </a:r>
            <a:r>
              <a:rPr sz="1800" spc="-4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3</a:t>
            </a:r>
            <a:r>
              <a:rPr sz="1800" spc="-5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spc="-12">
                <a:solidFill>
                  <a:srgbClr val="000000"/>
                </a:solidFill>
                <a:latin typeface="Times New Roman"/>
                <a:cs typeface="Times New Roman"/>
              </a:rPr>
              <a:t>(2022)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81914" y="2269997"/>
            <a:ext cx="8233634" cy="13428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[3] Neptune.ai,</a:t>
            </a:r>
            <a:r>
              <a:rPr sz="1800" spc="-3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"Data</a:t>
            </a:r>
            <a:r>
              <a:rPr sz="1800" spc="-8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Augmentation</a:t>
            </a:r>
            <a:r>
              <a:rPr sz="1800" spc="3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in</a:t>
            </a:r>
            <a:r>
              <a:rPr sz="1800" spc="-3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Python:</a:t>
            </a:r>
            <a:r>
              <a:rPr sz="1800" spc="-3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Everything</a:t>
            </a:r>
            <a:r>
              <a:rPr sz="1800" spc="3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You</a:t>
            </a:r>
            <a:r>
              <a:rPr sz="1800" spc="-8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Need</a:t>
            </a:r>
            <a:r>
              <a:rPr sz="1800" spc="-5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to</a:t>
            </a:r>
            <a:r>
              <a:rPr sz="1800" spc="-13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Know"</a:t>
            </a:r>
            <a:r>
              <a:rPr sz="1800" spc="-1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spc="-11">
                <a:solidFill>
                  <a:srgbClr val="000000"/>
                </a:solidFill>
                <a:latin typeface="Times New Roman"/>
                <a:cs typeface="Times New Roman"/>
              </a:rPr>
              <a:t>(2025)</a:t>
            </a:r>
          </a:p>
          <a:p>
            <a:pPr marL="0" marR="0">
              <a:lnSpc>
                <a:spcPts val="1993"/>
              </a:lnSpc>
              <a:spcBef>
                <a:spcPts val="766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[4] GitHub,</a:t>
            </a:r>
            <a:r>
              <a:rPr sz="1800" spc="-2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"Image Classification</a:t>
            </a:r>
            <a:r>
              <a:rPr sz="1800" spc="1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using</a:t>
            </a:r>
            <a:r>
              <a:rPr sz="1800" spc="1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CNN</a:t>
            </a:r>
            <a:r>
              <a:rPr sz="1800" spc="-3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Keras</a:t>
            </a:r>
            <a:r>
              <a:rPr sz="1800" spc="-5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sz="1800" spc="-2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TensorFlow</a:t>
            </a:r>
            <a:r>
              <a:rPr sz="1800" spc="-3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in</a:t>
            </a:r>
            <a:r>
              <a:rPr sz="1800" spc="-2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Python"</a:t>
            </a:r>
          </a:p>
          <a:p>
            <a:pPr marL="0" marR="0">
              <a:lnSpc>
                <a:spcPts val="1993"/>
              </a:lnSpc>
              <a:spcBef>
                <a:spcPts val="716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[5] Pluralsight, "Deploying</a:t>
            </a:r>
            <a:r>
              <a:rPr sz="1800" spc="6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Image</a:t>
            </a:r>
            <a:r>
              <a:rPr sz="1800" spc="-4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spc="-10">
                <a:solidFill>
                  <a:srgbClr val="000000"/>
                </a:solidFill>
                <a:latin typeface="Times New Roman"/>
                <a:cs typeface="Times New Roman"/>
              </a:rPr>
              <a:t>Classification</a:t>
            </a:r>
            <a:r>
              <a:rPr sz="1800" spc="6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on</a:t>
            </a:r>
            <a:r>
              <a:rPr sz="1800" spc="-11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1800" spc="-8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Web</a:t>
            </a:r>
            <a:r>
              <a:rPr sz="1800" spc="-2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with</a:t>
            </a:r>
            <a:r>
              <a:rPr sz="1800" spc="-1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Streamlit</a:t>
            </a:r>
            <a:r>
              <a:rPr sz="1800" spc="5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sz="1800" spc="-3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spc="-12">
                <a:solidFill>
                  <a:srgbClr val="000000"/>
                </a:solidFill>
                <a:latin typeface="Times New Roman"/>
                <a:cs typeface="Times New Roman"/>
              </a:rPr>
              <a:t>Heroku"</a:t>
            </a:r>
          </a:p>
          <a:p>
            <a:pPr marL="0" marR="0">
              <a:lnSpc>
                <a:spcPts val="1993"/>
              </a:lnSpc>
              <a:spcBef>
                <a:spcPts val="766"/>
              </a:spcBef>
              <a:spcAft>
                <a:spcPct val="0"/>
              </a:spcAft>
            </a:pPr>
            <a:r>
              <a:rPr sz="1800" spc="-12">
                <a:solidFill>
                  <a:srgbClr val="000000"/>
                </a:solidFill>
                <a:latin typeface="Times New Roman"/>
                <a:cs typeface="Times New Roman"/>
              </a:rPr>
              <a:t>[6]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spc="-10">
                <a:solidFill>
                  <a:srgbClr val="000000"/>
                </a:solidFill>
                <a:latin typeface="Times New Roman"/>
                <a:cs typeface="Times New Roman"/>
              </a:rPr>
              <a:t>PyImageSearch,</a:t>
            </a:r>
            <a:r>
              <a:rPr sz="1800" spc="9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"Data</a:t>
            </a:r>
            <a:r>
              <a:rPr sz="1800" spc="-8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Augmentation</a:t>
            </a:r>
            <a:r>
              <a:rPr sz="1800" spc="4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with</a:t>
            </a:r>
            <a:r>
              <a:rPr sz="1800" spc="-1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tf.data</a:t>
            </a:r>
            <a:r>
              <a:rPr sz="1800" spc="-9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and </a:t>
            </a:r>
            <a:r>
              <a:rPr sz="1800" spc="-12">
                <a:solidFill>
                  <a:srgbClr val="000000"/>
                </a:solidFill>
                <a:latin typeface="Times New Roman"/>
                <a:cs typeface="Times New Roman"/>
              </a:rPr>
              <a:t>TensorFlow"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81914" y="3672458"/>
            <a:ext cx="8472283" cy="5655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[7] IJAERD,</a:t>
            </a:r>
            <a:r>
              <a:rPr sz="1800" spc="-4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"Image Classification with</a:t>
            </a:r>
            <a:r>
              <a:rPr sz="1800" spc="-7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Deep</a:t>
            </a:r>
            <a:r>
              <a:rPr sz="1800" spc="-7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Learning</a:t>
            </a:r>
            <a:r>
              <a:rPr sz="1800" spc="3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sz="1800" spc="-3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Comparison</a:t>
            </a:r>
            <a:r>
              <a:rPr sz="1800" spc="-1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between</a:t>
            </a:r>
            <a:r>
              <a:rPr sz="1800" spc="-8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spc="-11">
                <a:solidFill>
                  <a:srgbClr val="000000"/>
                </a:solidFill>
                <a:latin typeface="Times New Roman"/>
                <a:cs typeface="Times New Roman"/>
              </a:rPr>
              <a:t>Different</a:t>
            </a:r>
          </a:p>
          <a:p>
            <a:pPr marL="0" marR="0">
              <a:lnSpc>
                <a:spcPts val="1993"/>
              </a:lnSpc>
              <a:spcBef>
                <a:spcPts val="166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Convolutional</a:t>
            </a:r>
            <a:r>
              <a:rPr sz="1800" spc="-3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Neural</a:t>
            </a:r>
            <a:r>
              <a:rPr sz="1800" spc="-8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Network</a:t>
            </a:r>
            <a:r>
              <a:rPr sz="1800" spc="-11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Structures</a:t>
            </a:r>
            <a:r>
              <a:rPr sz="1800" spc="-11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using</a:t>
            </a:r>
            <a:r>
              <a:rPr sz="1800" spc="6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Tensorflow</a:t>
            </a:r>
            <a:r>
              <a:rPr sz="1800" spc="1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sz="1800" spc="-2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spc="-12">
                <a:solidFill>
                  <a:srgbClr val="000000"/>
                </a:solidFill>
                <a:latin typeface="Times New Roman"/>
                <a:cs typeface="Times New Roman"/>
              </a:rPr>
              <a:t>Keras"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81914" y="4297298"/>
            <a:ext cx="7342928" cy="5655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ct val="0"/>
              </a:spcBef>
              <a:spcAft>
                <a:spcPct val="0"/>
              </a:spcAft>
            </a:pPr>
            <a:r>
              <a:rPr sz="1800" spc="-12">
                <a:solidFill>
                  <a:srgbClr val="000000"/>
                </a:solidFill>
                <a:latin typeface="Times New Roman"/>
                <a:cs typeface="Times New Roman"/>
              </a:rPr>
              <a:t>[8]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spc="-10">
                <a:solidFill>
                  <a:srgbClr val="000000"/>
                </a:solidFill>
                <a:latin typeface="Times New Roman"/>
                <a:cs typeface="Times New Roman"/>
              </a:rPr>
              <a:t>Lillesand,</a:t>
            </a:r>
            <a:r>
              <a:rPr sz="1800" spc="4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T.M.,</a:t>
            </a:r>
            <a:r>
              <a:rPr sz="1800" spc="-13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Kiefer,</a:t>
            </a:r>
            <a:r>
              <a:rPr sz="1800" spc="4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R.W.,</a:t>
            </a:r>
            <a:r>
              <a:rPr sz="1800" spc="-8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Chipman,</a:t>
            </a:r>
            <a:r>
              <a:rPr sz="1800" spc="5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J.W.,</a:t>
            </a:r>
            <a:r>
              <a:rPr sz="1800" spc="-9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"Remote</a:t>
            </a:r>
            <a:r>
              <a:rPr sz="1800" spc="-3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Sensing</a:t>
            </a:r>
            <a:r>
              <a:rPr sz="1800" spc="3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sz="1800" spc="-7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spc="-12">
                <a:solidFill>
                  <a:srgbClr val="000000"/>
                </a:solidFill>
                <a:latin typeface="Times New Roman"/>
                <a:cs typeface="Times New Roman"/>
              </a:rPr>
              <a:t>Image</a:t>
            </a:r>
          </a:p>
          <a:p>
            <a:pPr marL="0" marR="0">
              <a:lnSpc>
                <a:spcPts val="1993"/>
              </a:lnSpc>
              <a:spcBef>
                <a:spcPts val="166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Interpretation,"</a:t>
            </a:r>
            <a:r>
              <a:rPr sz="1800" spc="-13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5th</a:t>
            </a:r>
            <a:r>
              <a:rPr sz="1800" spc="-11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Edition,</a:t>
            </a:r>
            <a:r>
              <a:rPr sz="1800" spc="-1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Wiley,</a:t>
            </a:r>
            <a:r>
              <a:rPr sz="1800" spc="5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spc="-24">
                <a:solidFill>
                  <a:srgbClr val="000000"/>
                </a:solidFill>
                <a:latin typeface="Times New Roman"/>
                <a:cs typeface="Times New Roman"/>
              </a:rPr>
              <a:t>2004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81914" y="4922138"/>
            <a:ext cx="8257971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[9] Li</a:t>
            </a:r>
            <a:r>
              <a:rPr sz="1800" spc="-4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Deng,</a:t>
            </a:r>
            <a:r>
              <a:rPr sz="1800" spc="-3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Dong</a:t>
            </a:r>
            <a:r>
              <a:rPr sz="1800" spc="-4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Yu,</a:t>
            </a:r>
            <a:r>
              <a:rPr sz="1800" spc="-6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"Deep</a:t>
            </a:r>
            <a:r>
              <a:rPr sz="1800" spc="-4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Learning:</a:t>
            </a:r>
            <a:r>
              <a:rPr sz="1800" spc="6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Methods</a:t>
            </a:r>
            <a:r>
              <a:rPr sz="1800" spc="-5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sz="1800" spc="-2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spc="-11">
                <a:solidFill>
                  <a:srgbClr val="000000"/>
                </a:solidFill>
                <a:latin typeface="Times New Roman"/>
                <a:cs typeface="Times New Roman"/>
              </a:rPr>
              <a:t>Applications,"</a:t>
            </a:r>
            <a:r>
              <a:rPr sz="1800" spc="11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Microsoft</a:t>
            </a:r>
            <a:r>
              <a:rPr sz="1800" spc="-1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spc="-10">
                <a:solidFill>
                  <a:srgbClr val="000000"/>
                </a:solidFill>
                <a:latin typeface="Times New Roman"/>
                <a:cs typeface="Times New Roman"/>
              </a:rPr>
              <a:t>Research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81914" y="5272912"/>
            <a:ext cx="8190839" cy="5656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[10] Yann LeCun, Leon</a:t>
            </a:r>
            <a:r>
              <a:rPr sz="1800" spc="-5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Bottou,</a:t>
            </a:r>
            <a:r>
              <a:rPr sz="1800" spc="-12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Yodhua</a:t>
            </a:r>
            <a:r>
              <a:rPr sz="1800" spc="-2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Bengio,</a:t>
            </a:r>
            <a:r>
              <a:rPr sz="1800" spc="1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Patrick </a:t>
            </a:r>
            <a:r>
              <a:rPr sz="1800" spc="-11">
                <a:solidFill>
                  <a:srgbClr val="000000"/>
                </a:solidFill>
                <a:latin typeface="Times New Roman"/>
                <a:cs typeface="Times New Roman"/>
              </a:rPr>
              <a:t>Haffner,</a:t>
            </a:r>
            <a:r>
              <a:rPr sz="1800" spc="9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spc="-19">
                <a:solidFill>
                  <a:srgbClr val="000000"/>
                </a:solidFill>
                <a:latin typeface="Times New Roman"/>
                <a:cs typeface="Times New Roman"/>
              </a:rPr>
              <a:t>"Gradient-Based</a:t>
            </a:r>
          </a:p>
          <a:p>
            <a:pPr marL="0" marR="0">
              <a:lnSpc>
                <a:spcPts val="1993"/>
              </a:lnSpc>
              <a:spcBef>
                <a:spcPts val="166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Learning</a:t>
            </a:r>
            <a:r>
              <a:rPr sz="1800" spc="-2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Applied</a:t>
            </a:r>
            <a:r>
              <a:rPr sz="1800" spc="7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to</a:t>
            </a:r>
            <a:r>
              <a:rPr sz="1800" spc="-11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Document</a:t>
            </a:r>
            <a:r>
              <a:rPr sz="1800" spc="-1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Recognition,"</a:t>
            </a:r>
            <a:r>
              <a:rPr sz="1800" spc="-1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Proceedings</a:t>
            </a:r>
            <a:r>
              <a:rPr sz="1800" spc="-3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1800" spc="-11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1800" spc="-8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IEEE,</a:t>
            </a:r>
            <a:r>
              <a:rPr sz="1800" spc="-14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00000"/>
                </a:solidFill>
                <a:latin typeface="Times New Roman"/>
                <a:cs typeface="Times New Roman"/>
              </a:rPr>
              <a:t>November</a:t>
            </a:r>
            <a:r>
              <a:rPr sz="1800" spc="1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spc="-24">
                <a:solidFill>
                  <a:srgbClr val="000000"/>
                </a:solidFill>
                <a:latin typeface="Times New Roman"/>
                <a:cs typeface="Times New Roman"/>
              </a:rPr>
              <a:t>1998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79145" y="6472150"/>
            <a:ext cx="1281881" cy="193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2"/>
              </a:lnSpc>
              <a:spcBef>
                <a:spcPct val="0"/>
              </a:spcBef>
              <a:spcAft>
                <a:spcPct val="0"/>
              </a:spcAft>
            </a:pP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Dept</a:t>
            </a:r>
            <a:r>
              <a:rPr sz="1100" i="1" spc="-2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1100" i="1" spc="-3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CSE,</a:t>
            </a:r>
            <a:r>
              <a:rPr sz="1100" i="1" spc="-1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 spc="-30">
                <a:solidFill>
                  <a:srgbClr val="000000"/>
                </a:solidFill>
                <a:latin typeface="Times New Roman"/>
                <a:cs typeface="Times New Roman"/>
              </a:rPr>
              <a:t>EWCE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884162" y="6472150"/>
            <a:ext cx="1793581" cy="193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2"/>
              </a:lnSpc>
              <a:spcBef>
                <a:spcPct val="0"/>
              </a:spcBef>
              <a:spcAft>
                <a:spcPct val="0"/>
              </a:spcAft>
            </a:pP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Image Classification</a:t>
            </a:r>
            <a:r>
              <a:rPr sz="1100" i="1" spc="-6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using</a:t>
            </a:r>
            <a:r>
              <a:rPr sz="1100" i="1" spc="-10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 spc="-24">
                <a:solidFill>
                  <a:srgbClr val="000000"/>
                </a:solidFill>
                <a:latin typeface="Times New Roman"/>
                <a:cs typeface="Times New Roman"/>
              </a:rPr>
              <a:t>AI</a:t>
            </a: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022727" y="2418395"/>
            <a:ext cx="3271408" cy="1054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001"/>
              </a:lnSpc>
              <a:spcBef>
                <a:spcPct val="0"/>
              </a:spcBef>
              <a:spcAft>
                <a:spcPct val="0"/>
              </a:spcAft>
            </a:pPr>
            <a:r>
              <a:rPr sz="6600" spc="-268">
                <a:solidFill>
                  <a:srgbClr val="000000"/>
                </a:solidFill>
                <a:latin typeface="FWHPRA+Vladimir Script"/>
                <a:cs typeface="FWHPRA+Vladimir Script"/>
              </a:rPr>
              <a:t>Thank</a:t>
            </a:r>
            <a:r>
              <a:rPr sz="6600" spc="-34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600" spc="-706">
                <a:solidFill>
                  <a:srgbClr val="000000"/>
                </a:solidFill>
                <a:latin typeface="FWHPRA+Vladimir Script"/>
                <a:cs typeface="FWHPRA+Vladimir Script"/>
              </a:rPr>
              <a:t>You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9145" y="6472150"/>
            <a:ext cx="1281881" cy="193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2"/>
              </a:lnSpc>
              <a:spcBef>
                <a:spcPct val="0"/>
              </a:spcBef>
              <a:spcAft>
                <a:spcPct val="0"/>
              </a:spcAft>
            </a:pP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Dept</a:t>
            </a:r>
            <a:r>
              <a:rPr sz="1100" i="1" spc="-2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1100" i="1" spc="-3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CSE,</a:t>
            </a:r>
            <a:r>
              <a:rPr sz="1100" i="1" spc="-13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 spc="-30">
                <a:solidFill>
                  <a:srgbClr val="000000"/>
                </a:solidFill>
                <a:latin typeface="Times New Roman"/>
                <a:cs typeface="Times New Roman"/>
              </a:rPr>
              <a:t>EWCE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884162" y="6472150"/>
            <a:ext cx="1793581" cy="193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22"/>
              </a:lnSpc>
              <a:spcBef>
                <a:spcPct val="0"/>
              </a:spcBef>
              <a:spcAft>
                <a:spcPct val="0"/>
              </a:spcAft>
            </a:pP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Image Classification</a:t>
            </a:r>
            <a:r>
              <a:rPr sz="1100" i="1" spc="-68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>
                <a:solidFill>
                  <a:srgbClr val="000000"/>
                </a:solidFill>
                <a:latin typeface="Times New Roman"/>
                <a:cs typeface="Times New Roman"/>
              </a:rPr>
              <a:t>using</a:t>
            </a:r>
            <a:r>
              <a:rPr sz="1100" i="1" spc="-10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i="1" spc="-24">
                <a:solidFill>
                  <a:srgbClr val="000000"/>
                </a:solidFill>
                <a:latin typeface="Times New Roman"/>
                <a:cs typeface="Times New Roman"/>
              </a:rPr>
              <a:t>AI</a:t>
            </a: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23.05.14"/>
  <p:tag name="AS_TITLE" val="Aspose.Slides for .NET 4.0 Client Profile"/>
  <p:tag name="AS_VERSION" val="23.5"/>
</p:tagLst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2885</Words>
  <Application>Microsoft Office PowerPoint</Application>
  <PresentationFormat>On-screen Show (4:3)</PresentationFormat>
  <Paragraphs>558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Times New Roman</vt:lpstr>
      <vt:lpstr>Calibri</vt:lpstr>
      <vt:lpstr>Arial</vt:lpstr>
      <vt:lpstr>DUIRPG+Arial Rounded MT Bold</vt:lpstr>
      <vt:lpstr>FWHPRA+Vladimir Script</vt:lpstr>
      <vt:lpstr>Theme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SYSTEM</dc:creator>
  <cp:lastModifiedBy>1pu20sbb0152 TUSHAR V ARADHYAMATH</cp:lastModifiedBy>
  <cp:revision>2</cp:revision>
  <dcterms:modified xsi:type="dcterms:W3CDTF">2025-11-27T16:36:09Z</dcterms:modified>
</cp:coreProperties>
</file>